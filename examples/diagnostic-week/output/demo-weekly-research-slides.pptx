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naming the week's question. Do not re-explain the problem; the group knows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20-30 seconds. Keep it compressed because familiarity is high.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the delta matters here. Point at the two new pieces and move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Establish the three objects here. They keep exactly these positions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 permanence is deliberate. Z_s, Z~, and Z_d keep identical positions between slides 4 and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four bands in order. The measurement is not the observation; the observation is not the interpretation.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delta. Do not hide the weak feature-recovery column.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weakened claim is a result, not a failure. C2 is new this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D2 targets the alternative explanation for C1. Keep the probe limitation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Stop here. The mentor discussion happens after the deck; no thank-you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footer-slide-number"/>
          <p:cNvSpPr/>
          <p:nvPr/>
        </p:nvSpPr>
        <p:spPr>
          <a:xfrm>
            <a:off x="10076670" y="6419088"/>
            <a:ext cx="1548097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1000" dirty="0"/>
          </a:p>
        </p:txBody>
      </p:sp>
      <p:sp>
        <p:nvSpPr>
          <p:cNvPr id="4" name="title-accent"/>
          <p:cNvSpPr/>
          <p:nvPr/>
        </p:nvSpPr>
        <p:spPr>
          <a:xfrm>
            <a:off x="566928" y="2148840"/>
            <a:ext cx="82296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itle-project"/>
          <p:cNvSpPr/>
          <p:nvPr/>
        </p:nvSpPr>
        <p:spPr>
          <a:xfrm>
            <a:off x="566928" y="2286000"/>
            <a:ext cx="663470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Future-Feature Prediction</a:t>
            </a:r>
            <a:endParaRPr lang="en-US" sz="1500" dirty="0"/>
          </a:p>
        </p:txBody>
      </p:sp>
      <p:sp>
        <p:nvSpPr>
          <p:cNvPr id="6" name="title-main"/>
          <p:cNvSpPr/>
          <p:nvPr/>
        </p:nvSpPr>
        <p:spPr>
          <a:xfrm>
            <a:off x="566928" y="2697480"/>
            <a:ext cx="6413547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correction recover the future feature?</a:t>
            </a:r>
            <a:endParaRPr lang="en-US" sz="3800" dirty="0"/>
          </a:p>
        </p:txBody>
      </p:sp>
      <p:sp>
        <p:nvSpPr>
          <p:cNvPr id="7" name="title-question"/>
          <p:cNvSpPr/>
          <p:nvPr/>
        </p:nvSpPr>
        <p:spPr>
          <a:xfrm>
            <a:off x="566928" y="4343400"/>
            <a:ext cx="6081812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an oracle diagnostic splits feature recovery from output recovery, and claim C1 weakens.</a:t>
            </a:r>
            <a:endParaRPr lang="en-US" sz="1800" dirty="0"/>
          </a:p>
        </p:txBody>
      </p:sp>
      <p:sp>
        <p:nvSpPr>
          <p:cNvPr id="8" name="title-byline"/>
          <p:cNvSpPr/>
          <p:nvPr/>
        </p:nvSpPr>
        <p:spPr>
          <a:xfrm>
            <a:off x="566928" y="5440680"/>
            <a:ext cx="608181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research update · synthetic demo · version 0.1</a:t>
            </a:r>
            <a:endParaRPr lang="en-US" sz="1150" dirty="0"/>
          </a:p>
        </p:txBody>
      </p:sp>
      <p:sp>
        <p:nvSpPr>
          <p:cNvPr id="9" name="motif-zs"/>
          <p:cNvSpPr/>
          <p:nvPr/>
        </p:nvSpPr>
        <p:spPr>
          <a:xfrm>
            <a:off x="7452360" y="3840480"/>
            <a:ext cx="1051560" cy="105156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11827"/>
            </a:solidFill>
            <a:prstDash val="solid"/>
            <a:headEnd type="none"/>
            <a:tailEnd type="none"/>
          </a:ln>
        </p:spPr>
      </p:sp>
      <p:sp>
        <p:nvSpPr>
          <p:cNvPr id="10" name="motif-zs__label"/>
          <p:cNvSpPr/>
          <p:nvPr/>
        </p:nvSpPr>
        <p:spPr>
          <a:xfrm>
            <a:off x="7452360" y="3840480"/>
            <a:ext cx="105156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Z_s</a:t>
            </a:r>
            <a:endParaRPr lang="en-US" sz="1500" dirty="0"/>
          </a:p>
        </p:txBody>
      </p:sp>
      <p:sp>
        <p:nvSpPr>
          <p:cNvPr id="11" name="motif-ztilde"/>
          <p:cNvSpPr/>
          <p:nvPr/>
        </p:nvSpPr>
        <p:spPr>
          <a:xfrm>
            <a:off x="9418320" y="3840480"/>
            <a:ext cx="1051560" cy="105156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11827"/>
            </a:solidFill>
            <a:prstDash val="solid"/>
            <a:headEnd type="none"/>
            <a:tailEnd type="none"/>
          </a:ln>
        </p:spPr>
      </p:sp>
      <p:sp>
        <p:nvSpPr>
          <p:cNvPr id="12" name="motif-ztilde__label"/>
          <p:cNvSpPr/>
          <p:nvPr/>
        </p:nvSpPr>
        <p:spPr>
          <a:xfrm>
            <a:off x="9418320" y="3840480"/>
            <a:ext cx="105156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Z~</a:t>
            </a:r>
            <a:endParaRPr lang="en-US" sz="1500" dirty="0"/>
          </a:p>
        </p:txBody>
      </p:sp>
      <p:sp>
        <p:nvSpPr>
          <p:cNvPr id="13" name="motif-zd"/>
          <p:cNvSpPr/>
          <p:nvPr/>
        </p:nvSpPr>
        <p:spPr>
          <a:xfrm>
            <a:off x="8439912" y="2286000"/>
            <a:ext cx="1051560" cy="105156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11827"/>
            </a:solidFill>
            <a:prstDash val="solid"/>
            <a:headEnd type="none"/>
            <a:tailEnd type="none"/>
          </a:ln>
        </p:spPr>
      </p:sp>
      <p:sp>
        <p:nvSpPr>
          <p:cNvPr id="14" name="motif-zd__label"/>
          <p:cNvSpPr/>
          <p:nvPr/>
        </p:nvSpPr>
        <p:spPr>
          <a:xfrm>
            <a:off x="8439912" y="2286000"/>
            <a:ext cx="105156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Z_d</a:t>
            </a:r>
            <a:endParaRPr lang="en-US" sz="1500" dirty="0"/>
          </a:p>
        </p:txBody>
      </p:sp>
      <p:sp>
        <p:nvSpPr>
          <p:cNvPr id="15" name="motif-delta"/>
          <p:cNvSpPr/>
          <p:nvPr/>
        </p:nvSpPr>
        <p:spPr>
          <a:xfrm>
            <a:off x="8503920" y="4370832"/>
            <a:ext cx="914400" cy="0"/>
          </a:xfrm>
          <a:prstGeom prst="line">
            <a:avLst/>
          </a:prstGeom>
          <a:noFill/>
          <a:ln w="26670">
            <a:solidFill>
              <a:srgbClr val="B91C1C"/>
            </a:solidFill>
            <a:prstDash val="solid"/>
            <a:headEnd type="none"/>
            <a:tailEnd type="triangle"/>
          </a:ln>
        </p:spPr>
      </p:sp>
      <p:sp>
        <p:nvSpPr>
          <p:cNvPr id="16" name="motif-desired"/>
          <p:cNvSpPr/>
          <p:nvPr/>
        </p:nvSpPr>
        <p:spPr>
          <a:xfrm flipV="1">
            <a:off x="8272577" y="3337560"/>
            <a:ext cx="642823" cy="521208"/>
          </a:xfrm>
          <a:prstGeom prst="line">
            <a:avLst/>
          </a:prstGeom>
          <a:noFill/>
          <a:ln w="11430">
            <a:solidFill>
              <a:srgbClr val="9CA3AF"/>
            </a:solidFill>
            <a:prstDash val="dash"/>
            <a:headEnd type="none"/>
            <a:tailEnd type="none"/>
          </a:ln>
        </p:spPr>
      </p:sp>
      <p:sp>
        <p:nvSpPr>
          <p:cNvPr id="17" name="motif-residual"/>
          <p:cNvSpPr/>
          <p:nvPr/>
        </p:nvSpPr>
        <p:spPr>
          <a:xfrm flipH="1" flipV="1">
            <a:off x="9646920" y="3390138"/>
            <a:ext cx="822960" cy="523494"/>
          </a:xfrm>
          <a:prstGeom prst="line">
            <a:avLst/>
          </a:prstGeom>
          <a:noFill/>
          <a:ln w="11430">
            <a:solidFill>
              <a:srgbClr val="9CA3AF"/>
            </a:solidFill>
            <a:prstDash val="dash"/>
            <a:headEnd type="none"/>
            <a:tailEnd type="none"/>
          </a:ln>
        </p:spPr>
      </p:sp>
      <p:sp>
        <p:nvSpPr>
          <p:cNvPr id="18" name="motif-caption"/>
          <p:cNvSpPr/>
          <p:nvPr/>
        </p:nvSpPr>
        <p:spPr>
          <a:xfrm>
            <a:off x="7269480" y="5166360"/>
            <a:ext cx="35661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features drift; correction moves them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kicker"/>
          <p:cNvSpPr/>
          <p:nvPr/>
        </p:nvSpPr>
        <p:spPr>
          <a:xfrm>
            <a:off x="566928" y="365760"/>
            <a:ext cx="68558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4" name="header-meta"/>
          <p:cNvSpPr/>
          <p:nvPr/>
        </p:nvSpPr>
        <p:spPr>
          <a:xfrm>
            <a:off x="6648740" y="365760"/>
            <a:ext cx="497602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Future-Feature Prediction  ·  Week 6</a:t>
            </a:r>
            <a:endParaRPr lang="en-US" sz="1000" dirty="0"/>
          </a:p>
        </p:txBody>
      </p:sp>
      <p:sp>
        <p:nvSpPr>
          <p:cNvPr id="5" name="title-main"/>
          <p:cNvSpPr/>
          <p:nvPr/>
        </p:nvSpPr>
        <p:spPr>
          <a:xfrm>
            <a:off x="566928" y="621792"/>
            <a:ext cx="11057839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are, and what changed this week</a:t>
            </a:r>
            <a:endParaRPr lang="en-US" sz="2700" dirty="0"/>
          </a:p>
        </p:txBody>
      </p:sp>
      <p:sp>
        <p:nvSpPr>
          <p:cNvPr id="6" name="chrome-rule"/>
          <p:cNvSpPr/>
          <p:nvPr/>
        </p:nvSpPr>
        <p:spPr>
          <a:xfrm>
            <a:off x="566928" y="1243584"/>
            <a:ext cx="11057839" cy="20117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chrome-rule-accent"/>
          <p:cNvSpPr/>
          <p:nvPr/>
        </p:nvSpPr>
        <p:spPr>
          <a:xfrm>
            <a:off x="566928" y="1243584"/>
            <a:ext cx="1051560" cy="20117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footer-text"/>
          <p:cNvSpPr/>
          <p:nvPr/>
        </p:nvSpPr>
        <p:spPr>
          <a:xfrm>
            <a:off x="566928" y="6419088"/>
            <a:ext cx="8293379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Future-Feature Prediction · synthetic demo</a:t>
            </a:r>
            <a:endParaRPr lang="en-US" sz="1000" dirty="0"/>
          </a:p>
        </p:txBody>
      </p:sp>
      <p:sp>
        <p:nvSpPr>
          <p:cNvPr id="9" name="footer-slide-number"/>
          <p:cNvSpPr/>
          <p:nvPr/>
        </p:nvSpPr>
        <p:spPr>
          <a:xfrm>
            <a:off x="10076670" y="6419088"/>
            <a:ext cx="1548097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  <p:sp>
        <p:nvSpPr>
          <p:cNvPr id="10" name="recap-known"/>
          <p:cNvSpPr/>
          <p:nvPr/>
        </p:nvSpPr>
        <p:spPr>
          <a:xfrm>
            <a:off x="566928" y="1572768"/>
            <a:ext cx="5307763" cy="4297680"/>
          </a:xfrm>
          <a:prstGeom prst="roundRect">
            <a:avLst>
              <a:gd name="adj" fmla="val 2340"/>
            </a:avLst>
          </a:prstGeom>
          <a:solidFill>
            <a:srgbClr val="F9FAFB"/>
          </a:solidFill>
          <a:ln w="13970">
            <a:solidFill>
              <a:srgbClr val="E5E7EB"/>
            </a:solidFill>
            <a:prstDash val="solid"/>
            <a:headEnd type="none"/>
            <a:tailEnd type="none"/>
          </a:ln>
        </p:spPr>
      </p:sp>
      <p:sp>
        <p:nvSpPr>
          <p:cNvPr id="11" name="recap-known__title"/>
          <p:cNvSpPr/>
          <p:nvPr/>
        </p:nvSpPr>
        <p:spPr>
          <a:xfrm>
            <a:off x="768096" y="1719072"/>
            <a:ext cx="4905427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(unchanged)</a:t>
            </a:r>
            <a:endParaRPr lang="en-US" sz="1400" dirty="0"/>
          </a:p>
        </p:txBody>
      </p:sp>
      <p:sp>
        <p:nvSpPr>
          <p:cNvPr id="12" name="recap-0-label"/>
          <p:cNvSpPr/>
          <p:nvPr/>
        </p:nvSpPr>
        <p:spPr>
          <a:xfrm>
            <a:off x="786384" y="2212848"/>
            <a:ext cx="4850563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50" dirty="0"/>
          </a:p>
        </p:txBody>
      </p:sp>
      <p:sp>
        <p:nvSpPr>
          <p:cNvPr id="13" name="recap-0"/>
          <p:cNvSpPr/>
          <p:nvPr/>
        </p:nvSpPr>
        <p:spPr>
          <a:xfrm>
            <a:off x="786384" y="2468880"/>
            <a:ext cx="4850563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hidden features go stale; reusing them as future features drifts.</a:t>
            </a:r>
            <a:endParaRPr lang="en-US" sz="1400" dirty="0"/>
          </a:p>
        </p:txBody>
      </p:sp>
      <p:sp>
        <p:nvSpPr>
          <p:cNvPr id="14" name="recap-1-label"/>
          <p:cNvSpPr/>
          <p:nvPr/>
        </p:nvSpPr>
        <p:spPr>
          <a:xfrm>
            <a:off x="786384" y="3172968"/>
            <a:ext cx="4850563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50" dirty="0"/>
          </a:p>
        </p:txBody>
      </p:sp>
      <p:sp>
        <p:nvSpPr>
          <p:cNvPr id="15" name="recap-1"/>
          <p:cNvSpPr/>
          <p:nvPr/>
        </p:nvSpPr>
        <p:spPr>
          <a:xfrm>
            <a:off x="786384" y="3429000"/>
            <a:ext cx="4850563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reuse followed by a learned correction toward the future feature.</a:t>
            </a:r>
            <a:endParaRPr lang="en-US" sz="1400" dirty="0"/>
          </a:p>
        </p:txBody>
      </p:sp>
      <p:sp>
        <p:nvSpPr>
          <p:cNvPr id="16" name="recap-2-label"/>
          <p:cNvSpPr/>
          <p:nvPr/>
        </p:nvSpPr>
        <p:spPr>
          <a:xfrm>
            <a:off x="786384" y="4133088"/>
            <a:ext cx="4850563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50" dirty="0"/>
          </a:p>
        </p:txBody>
      </p:sp>
      <p:sp>
        <p:nvSpPr>
          <p:cNvPr id="17" name="recap-2"/>
          <p:cNvSpPr/>
          <p:nvPr/>
        </p:nvSpPr>
        <p:spPr>
          <a:xfrm>
            <a:off x="786384" y="4389120"/>
            <a:ext cx="4850563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only scores rollout cosine 0.42.</a:t>
            </a:r>
            <a:endParaRPr lang="en-US" sz="1400" dirty="0"/>
          </a:p>
        </p:txBody>
      </p:sp>
      <p:sp>
        <p:nvSpPr>
          <p:cNvPr id="18" name="recap-now"/>
          <p:cNvSpPr/>
          <p:nvPr/>
        </p:nvSpPr>
        <p:spPr>
          <a:xfrm>
            <a:off x="6206426" y="1572768"/>
            <a:ext cx="5418341" cy="4297680"/>
          </a:xfrm>
          <a:prstGeom prst="roundRect">
            <a:avLst>
              <a:gd name="adj" fmla="val 2340"/>
            </a:avLst>
          </a:prstGeom>
          <a:solidFill>
            <a:srgbClr val="F1F5F9"/>
          </a:solidFill>
          <a:ln w="13970">
            <a:solidFill>
              <a:srgbClr val="E5E7EB"/>
            </a:solidFill>
            <a:prstDash val="solid"/>
            <a:headEnd type="none"/>
            <a:tailEnd type="none"/>
          </a:ln>
        </p:spPr>
      </p:sp>
      <p:sp>
        <p:nvSpPr>
          <p:cNvPr id="19" name="recap-now-k"/>
          <p:cNvSpPr/>
          <p:nvPr/>
        </p:nvSpPr>
        <p:spPr>
          <a:xfrm>
            <a:off x="6462458" y="1783080"/>
            <a:ext cx="4906277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NOW</a:t>
            </a:r>
            <a:endParaRPr lang="en-US" sz="1000" dirty="0"/>
          </a:p>
        </p:txBody>
      </p:sp>
      <p:sp>
        <p:nvSpPr>
          <p:cNvPr id="20" name="recap-now-t"/>
          <p:cNvSpPr/>
          <p:nvPr/>
        </p:nvSpPr>
        <p:spPr>
          <a:xfrm>
            <a:off x="6462458" y="2240280"/>
            <a:ext cx="4906277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v4 adds a correction objective and an oracle diagnostic. The question this week is whether the correction moves toward the future feature, or whether a different downstream-valid direction is enough.</a:t>
            </a:r>
            <a:endParaRPr lang="en-US" sz="1600" dirty="0"/>
          </a:p>
        </p:txBody>
      </p:sp>
      <p:sp>
        <p:nvSpPr>
          <p:cNvPr id="21" name="recap-week-chip"/>
          <p:cNvSpPr/>
          <p:nvPr/>
        </p:nvSpPr>
        <p:spPr>
          <a:xfrm>
            <a:off x="6462458" y="539496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E5E7EB"/>
            </a:solidFill>
            <a:prstDash val="solid"/>
            <a:headEnd type="none"/>
            <a:tailEnd type="none"/>
          </a:ln>
        </p:spPr>
      </p:sp>
      <p:sp>
        <p:nvSpPr>
          <p:cNvPr id="22" name="recap-week-chip__label"/>
          <p:cNvSpPr/>
          <p:nvPr/>
        </p:nvSpPr>
        <p:spPr>
          <a:xfrm>
            <a:off x="6462458" y="5394960"/>
            <a:ext cx="14630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week: v3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kicker"/>
          <p:cNvSpPr/>
          <p:nvPr/>
        </p:nvSpPr>
        <p:spPr>
          <a:xfrm>
            <a:off x="566928" y="365760"/>
            <a:ext cx="68558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</a:t>
            </a:r>
            <a:endParaRPr lang="en-US" sz="1200" dirty="0"/>
          </a:p>
        </p:txBody>
      </p:sp>
      <p:sp>
        <p:nvSpPr>
          <p:cNvPr id="4" name="header-meta"/>
          <p:cNvSpPr/>
          <p:nvPr/>
        </p:nvSpPr>
        <p:spPr>
          <a:xfrm>
            <a:off x="6648740" y="365760"/>
            <a:ext cx="497602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Future-Feature Prediction  ·  Week 6</a:t>
            </a:r>
            <a:endParaRPr lang="en-US" sz="1000" dirty="0"/>
          </a:p>
        </p:txBody>
      </p:sp>
      <p:sp>
        <p:nvSpPr>
          <p:cNvPr id="5" name="title-main"/>
          <p:cNvSpPr/>
          <p:nvPr/>
        </p:nvSpPr>
        <p:spPr>
          <a:xfrm>
            <a:off x="566928" y="621792"/>
            <a:ext cx="11057839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in the method: v3 to v4</a:t>
            </a:r>
            <a:endParaRPr lang="en-US" sz="2700" dirty="0"/>
          </a:p>
        </p:txBody>
      </p:sp>
      <p:sp>
        <p:nvSpPr>
          <p:cNvPr id="6" name="chrome-rule"/>
          <p:cNvSpPr/>
          <p:nvPr/>
        </p:nvSpPr>
        <p:spPr>
          <a:xfrm>
            <a:off x="566928" y="1243584"/>
            <a:ext cx="11057839" cy="20117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chrome-rule-accent"/>
          <p:cNvSpPr/>
          <p:nvPr/>
        </p:nvSpPr>
        <p:spPr>
          <a:xfrm>
            <a:off x="566928" y="1243584"/>
            <a:ext cx="1051560" cy="20117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footer-text"/>
          <p:cNvSpPr/>
          <p:nvPr/>
        </p:nvSpPr>
        <p:spPr>
          <a:xfrm>
            <a:off x="566928" y="6419088"/>
            <a:ext cx="8293379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Future-Feature Prediction · synthetic demo</a:t>
            </a:r>
            <a:endParaRPr lang="en-US" sz="1000" dirty="0"/>
          </a:p>
        </p:txBody>
      </p:sp>
      <p:sp>
        <p:nvSpPr>
          <p:cNvPr id="9" name="footer-slide-number"/>
          <p:cNvSpPr/>
          <p:nvPr/>
        </p:nvSpPr>
        <p:spPr>
          <a:xfrm>
            <a:off x="10076670" y="6419088"/>
            <a:ext cx="1548097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  <p:sp>
        <p:nvSpPr>
          <p:cNvPr id="10" name="method-from"/>
          <p:cNvSpPr/>
          <p:nvPr/>
        </p:nvSpPr>
        <p:spPr>
          <a:xfrm>
            <a:off x="566928" y="1627632"/>
            <a:ext cx="1554480" cy="566928"/>
          </a:xfrm>
          <a:prstGeom prst="roundRect">
            <a:avLst>
              <a:gd name="adj" fmla="val 20968"/>
            </a:avLst>
          </a:prstGeom>
          <a:solidFill>
            <a:srgbClr val="F1F5F9"/>
          </a:solidFill>
          <a:ln w="13970">
            <a:solidFill>
              <a:srgbClr val="6B7280"/>
            </a:solidFill>
            <a:prstDash val="solid"/>
            <a:headEnd type="none"/>
            <a:tailEnd type="none"/>
          </a:ln>
        </p:spPr>
      </p:sp>
      <p:sp>
        <p:nvSpPr>
          <p:cNvPr id="11" name="method-from__label"/>
          <p:cNvSpPr/>
          <p:nvPr/>
        </p:nvSpPr>
        <p:spPr>
          <a:xfrm>
            <a:off x="566928" y="1627632"/>
            <a:ext cx="15544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1700" dirty="0"/>
          </a:p>
        </p:txBody>
      </p:sp>
      <p:sp>
        <p:nvSpPr>
          <p:cNvPr id="12" name="method-delta-arrow"/>
          <p:cNvSpPr/>
          <p:nvPr/>
        </p:nvSpPr>
        <p:spPr>
          <a:xfrm>
            <a:off x="2231136" y="1911096"/>
            <a:ext cx="1033272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3" name="method-to"/>
          <p:cNvSpPr/>
          <p:nvPr/>
        </p:nvSpPr>
        <p:spPr>
          <a:xfrm>
            <a:off x="3374136" y="1627632"/>
            <a:ext cx="1737360" cy="566928"/>
          </a:xfrm>
          <a:prstGeom prst="roundRect">
            <a:avLst>
              <a:gd name="adj" fmla="val 20968"/>
            </a:avLst>
          </a:prstGeom>
          <a:solidFill>
            <a:srgbClr val="EAF1FE"/>
          </a:solidFill>
          <a:ln w="1397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14" name="method-to__label"/>
          <p:cNvSpPr/>
          <p:nvPr/>
        </p:nvSpPr>
        <p:spPr>
          <a:xfrm>
            <a:off x="3374136" y="1627632"/>
            <a:ext cx="17373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</a:t>
            </a:r>
            <a:endParaRPr lang="en-US" sz="1700" dirty="0"/>
          </a:p>
        </p:txBody>
      </p:sp>
      <p:sp>
        <p:nvSpPr>
          <p:cNvPr id="15" name="method-delta-summary"/>
          <p:cNvSpPr/>
          <p:nvPr/>
        </p:nvSpPr>
        <p:spPr>
          <a:xfrm>
            <a:off x="5413248" y="1627632"/>
            <a:ext cx="6211519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 adds a correction objective and an oracle diagnostic, and scales down the correction.</a:t>
            </a:r>
            <a:endParaRPr lang="en-US" sz="1400" dirty="0"/>
          </a:p>
        </p:txBody>
      </p:sp>
      <p:sp>
        <p:nvSpPr>
          <p:cNvPr id="16" name="method-delta-k"/>
          <p:cNvSpPr/>
          <p:nvPr/>
        </p:nvSpPr>
        <p:spPr>
          <a:xfrm>
            <a:off x="566928" y="2487168"/>
            <a:ext cx="55289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THIS WEEK</a:t>
            </a:r>
            <a:endParaRPr lang="en-US" sz="1000" dirty="0"/>
          </a:p>
        </p:txBody>
      </p:sp>
      <p:sp>
        <p:nvSpPr>
          <p:cNvPr id="17" name="method-change-0-bar"/>
          <p:cNvSpPr/>
          <p:nvPr/>
        </p:nvSpPr>
        <p:spPr>
          <a:xfrm>
            <a:off x="566928" y="2843784"/>
            <a:ext cx="45720" cy="701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method-change-0"/>
          <p:cNvSpPr/>
          <p:nvPr/>
        </p:nvSpPr>
        <p:spPr>
          <a:xfrm>
            <a:off x="768096" y="2788920"/>
            <a:ext cx="508660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 correction objective</a:t>
            </a:r>
            <a:endParaRPr lang="en-US" sz="1500" dirty="0"/>
          </a:p>
        </p:txBody>
      </p:sp>
      <p:sp>
        <p:nvSpPr>
          <p:cNvPr id="19" name="method-change-0-why"/>
          <p:cNvSpPr/>
          <p:nvPr/>
        </p:nvSpPr>
        <p:spPr>
          <a:xfrm>
            <a:off x="768096" y="3154680"/>
            <a:ext cx="5086606" cy="426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Penalize deviation from the future feature so the correction is supervised directly.</a:t>
            </a:r>
            <a:endParaRPr lang="en-US" sz="1150" dirty="0"/>
          </a:p>
        </p:txBody>
      </p:sp>
      <p:sp>
        <p:nvSpPr>
          <p:cNvPr id="20" name="method-change-1-bar"/>
          <p:cNvSpPr/>
          <p:nvPr/>
        </p:nvSpPr>
        <p:spPr>
          <a:xfrm>
            <a:off x="566928" y="3727704"/>
            <a:ext cx="45720" cy="701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method-change-1"/>
          <p:cNvSpPr/>
          <p:nvPr/>
        </p:nvSpPr>
        <p:spPr>
          <a:xfrm>
            <a:off x="768096" y="3672840"/>
            <a:ext cx="508660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an oracle diagnostic</a:t>
            </a:r>
            <a:endParaRPr lang="en-US" sz="1500" dirty="0"/>
          </a:p>
        </p:txBody>
      </p:sp>
      <p:sp>
        <p:nvSpPr>
          <p:cNvPr id="22" name="method-change-1-why"/>
          <p:cNvSpPr/>
          <p:nvPr/>
        </p:nvSpPr>
        <p:spPr>
          <a:xfrm>
            <a:off x="768096" y="4038600"/>
            <a:ext cx="5086606" cy="426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feature recovery from output recovery to test C1 and C2.</a:t>
            </a:r>
            <a:endParaRPr lang="en-US" sz="1150" dirty="0"/>
          </a:p>
        </p:txBody>
      </p:sp>
      <p:sp>
        <p:nvSpPr>
          <p:cNvPr id="23" name="method-change-2-bar"/>
          <p:cNvSpPr/>
          <p:nvPr/>
        </p:nvSpPr>
        <p:spPr>
          <a:xfrm>
            <a:off x="566928" y="4611624"/>
            <a:ext cx="45720" cy="701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method-change-2"/>
          <p:cNvSpPr/>
          <p:nvPr/>
        </p:nvSpPr>
        <p:spPr>
          <a:xfrm>
            <a:off x="768096" y="4556760"/>
            <a:ext cx="508660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down the correction magnitude</a:t>
            </a:r>
            <a:endParaRPr lang="en-US" sz="1500" dirty="0"/>
          </a:p>
        </p:txBody>
      </p:sp>
      <p:sp>
        <p:nvSpPr>
          <p:cNvPr id="25" name="method-change-2-why"/>
          <p:cNvSpPr/>
          <p:nvPr/>
        </p:nvSpPr>
        <p:spPr>
          <a:xfrm>
            <a:off x="768096" y="4922520"/>
            <a:ext cx="5086606" cy="426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drift when the correction is applied over long rollouts.</a:t>
            </a:r>
            <a:endParaRPr lang="en-US" sz="1150" dirty="0"/>
          </a:p>
        </p:txBody>
      </p:sp>
      <p:sp>
        <p:nvSpPr>
          <p:cNvPr id="26" name="method-unchanged"/>
          <p:cNvSpPr/>
          <p:nvPr/>
        </p:nvSpPr>
        <p:spPr>
          <a:xfrm>
            <a:off x="6427583" y="2697480"/>
            <a:ext cx="5197184" cy="2926080"/>
          </a:xfrm>
          <a:prstGeom prst="roundRect">
            <a:avLst>
              <a:gd name="adj" fmla="val 3438"/>
            </a:avLst>
          </a:prstGeom>
          <a:solidFill>
            <a:srgbClr val="F9FAFB"/>
          </a:solidFill>
          <a:ln w="13970">
            <a:solidFill>
              <a:srgbClr val="E5E7EB"/>
            </a:solidFill>
            <a:prstDash val="solid"/>
            <a:headEnd type="none"/>
            <a:tailEnd type="none"/>
          </a:ln>
        </p:spPr>
      </p:sp>
      <p:sp>
        <p:nvSpPr>
          <p:cNvPr id="27" name="method-unchanged-k"/>
          <p:cNvSpPr/>
          <p:nvPr/>
        </p:nvSpPr>
        <p:spPr>
          <a:xfrm>
            <a:off x="6647039" y="2852928"/>
            <a:ext cx="475827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UNCHANGED</a:t>
            </a:r>
            <a:endParaRPr lang="en-US" sz="1000" dirty="0"/>
          </a:p>
        </p:txBody>
      </p:sp>
      <p:sp>
        <p:nvSpPr>
          <p:cNvPr id="28" name="method-unchanged-0"/>
          <p:cNvSpPr/>
          <p:nvPr/>
        </p:nvSpPr>
        <p:spPr>
          <a:xfrm>
            <a:off x="6647039" y="3246120"/>
            <a:ext cx="475827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layout and update schedule</a:t>
            </a:r>
            <a:endParaRPr lang="en-US" sz="1300" dirty="0"/>
          </a:p>
        </p:txBody>
      </p:sp>
      <p:sp>
        <p:nvSpPr>
          <p:cNvPr id="29" name="method-unchanged-1"/>
          <p:cNvSpPr/>
          <p:nvPr/>
        </p:nvSpPr>
        <p:spPr>
          <a:xfrm>
            <a:off x="6647039" y="3931920"/>
            <a:ext cx="475827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and dataset split</a:t>
            </a:r>
            <a:endParaRPr lang="en-US" sz="1300" dirty="0"/>
          </a:p>
        </p:txBody>
      </p:sp>
      <p:sp>
        <p:nvSpPr>
          <p:cNvPr id="30" name="method-unchanged-2"/>
          <p:cNvSpPr/>
          <p:nvPr/>
        </p:nvSpPr>
        <p:spPr>
          <a:xfrm>
            <a:off x="6647039" y="4617720"/>
            <a:ext cx="475827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evaluation protocol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kicker"/>
          <p:cNvSpPr/>
          <p:nvPr/>
        </p:nvSpPr>
        <p:spPr>
          <a:xfrm>
            <a:off x="566928" y="365760"/>
            <a:ext cx="68558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</a:t>
            </a:r>
            <a:endParaRPr lang="en-US" sz="1200" dirty="0"/>
          </a:p>
        </p:txBody>
      </p:sp>
      <p:sp>
        <p:nvSpPr>
          <p:cNvPr id="4" name="header-meta"/>
          <p:cNvSpPr/>
          <p:nvPr/>
        </p:nvSpPr>
        <p:spPr>
          <a:xfrm>
            <a:off x="6648740" y="365760"/>
            <a:ext cx="497602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Future-Feature Prediction  ·  Week 6</a:t>
            </a:r>
            <a:endParaRPr lang="en-US" sz="1000" dirty="0"/>
          </a:p>
        </p:txBody>
      </p:sp>
      <p:sp>
        <p:nvSpPr>
          <p:cNvPr id="5" name="title-main"/>
          <p:cNvSpPr/>
          <p:nvPr/>
        </p:nvSpPr>
        <p:spPr>
          <a:xfrm>
            <a:off x="566928" y="621792"/>
            <a:ext cx="11057839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stories for what the correction does</a:t>
            </a:r>
            <a:endParaRPr lang="en-US" sz="2700" dirty="0"/>
          </a:p>
        </p:txBody>
      </p:sp>
      <p:sp>
        <p:nvSpPr>
          <p:cNvPr id="6" name="chrome-rule"/>
          <p:cNvSpPr/>
          <p:nvPr/>
        </p:nvSpPr>
        <p:spPr>
          <a:xfrm>
            <a:off x="566928" y="1243584"/>
            <a:ext cx="11057839" cy="20117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chrome-rule-accent"/>
          <p:cNvSpPr/>
          <p:nvPr/>
        </p:nvSpPr>
        <p:spPr>
          <a:xfrm>
            <a:off x="566928" y="1243584"/>
            <a:ext cx="1051560" cy="20117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footer-text"/>
          <p:cNvSpPr/>
          <p:nvPr/>
        </p:nvSpPr>
        <p:spPr>
          <a:xfrm>
            <a:off x="566928" y="6419088"/>
            <a:ext cx="8293379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Future-Feature Prediction · synthetic demo</a:t>
            </a:r>
            <a:endParaRPr lang="en-US" sz="1000" dirty="0"/>
          </a:p>
        </p:txBody>
      </p:sp>
      <p:sp>
        <p:nvSpPr>
          <p:cNvPr id="9" name="footer-slide-number"/>
          <p:cNvSpPr/>
          <p:nvPr/>
        </p:nvSpPr>
        <p:spPr>
          <a:xfrm>
            <a:off x="10076670" y="6419088"/>
            <a:ext cx="1548097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  <p:sp>
        <p:nvSpPr>
          <p:cNvPr id="10" name="concept-zs"/>
          <p:cNvSpPr/>
          <p:nvPr/>
        </p:nvSpPr>
        <p:spPr>
          <a:xfrm>
            <a:off x="2194560" y="3657600"/>
            <a:ext cx="914400" cy="9144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11827"/>
            </a:solidFill>
            <a:prstDash val="solid"/>
            <a:headEnd type="none"/>
            <a:tailEnd type="none"/>
          </a:ln>
        </p:spPr>
      </p:sp>
      <p:sp>
        <p:nvSpPr>
          <p:cNvPr id="11" name="concept-zs__label"/>
          <p:cNvSpPr/>
          <p:nvPr/>
        </p:nvSpPr>
        <p:spPr>
          <a:xfrm>
            <a:off x="2194560" y="3657600"/>
            <a:ext cx="9144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Z_s</a:t>
            </a:r>
            <a:endParaRPr lang="en-US" sz="1500" dirty="0"/>
          </a:p>
        </p:txBody>
      </p:sp>
      <p:sp>
        <p:nvSpPr>
          <p:cNvPr id="12" name="concept-zs__sublabel"/>
          <p:cNvSpPr/>
          <p:nvPr/>
        </p:nvSpPr>
        <p:spPr>
          <a:xfrm>
            <a:off x="2194560" y="4608576"/>
            <a:ext cx="9144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source</a:t>
            </a:r>
            <a:endParaRPr lang="en-US" sz="1000" dirty="0"/>
          </a:p>
        </p:txBody>
      </p:sp>
      <p:sp>
        <p:nvSpPr>
          <p:cNvPr id="13" name="concept-ztilde"/>
          <p:cNvSpPr/>
          <p:nvPr/>
        </p:nvSpPr>
        <p:spPr>
          <a:xfrm>
            <a:off x="7498080" y="3657600"/>
            <a:ext cx="914400" cy="9144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11827"/>
            </a:solidFill>
            <a:prstDash val="solid"/>
            <a:headEnd type="none"/>
            <a:tailEnd type="none"/>
          </a:ln>
        </p:spPr>
      </p:sp>
      <p:sp>
        <p:nvSpPr>
          <p:cNvPr id="14" name="concept-ztilde__label"/>
          <p:cNvSpPr/>
          <p:nvPr/>
        </p:nvSpPr>
        <p:spPr>
          <a:xfrm>
            <a:off x="7498080" y="3657600"/>
            <a:ext cx="9144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Z~</a:t>
            </a:r>
            <a:endParaRPr lang="en-US" sz="1500" dirty="0"/>
          </a:p>
        </p:txBody>
      </p:sp>
      <p:sp>
        <p:nvSpPr>
          <p:cNvPr id="15" name="concept-ztilde__sublabel"/>
          <p:cNvSpPr/>
          <p:nvPr/>
        </p:nvSpPr>
        <p:spPr>
          <a:xfrm>
            <a:off x="7498080" y="4608576"/>
            <a:ext cx="9144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estimate</a:t>
            </a:r>
            <a:endParaRPr lang="en-US" sz="1000" dirty="0"/>
          </a:p>
        </p:txBody>
      </p:sp>
      <p:sp>
        <p:nvSpPr>
          <p:cNvPr id="16" name="concept-zd"/>
          <p:cNvSpPr/>
          <p:nvPr/>
        </p:nvSpPr>
        <p:spPr>
          <a:xfrm>
            <a:off x="2194560" y="1463040"/>
            <a:ext cx="914400" cy="9144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11827"/>
            </a:solidFill>
            <a:prstDash val="solid"/>
            <a:headEnd type="none"/>
            <a:tailEnd type="none"/>
          </a:ln>
        </p:spPr>
      </p:sp>
      <p:sp>
        <p:nvSpPr>
          <p:cNvPr id="17" name="concept-zd__label"/>
          <p:cNvSpPr/>
          <p:nvPr/>
        </p:nvSpPr>
        <p:spPr>
          <a:xfrm>
            <a:off x="2194560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Z_d</a:t>
            </a:r>
            <a:endParaRPr lang="en-US" sz="1500" dirty="0"/>
          </a:p>
        </p:txBody>
      </p:sp>
      <p:sp>
        <p:nvSpPr>
          <p:cNvPr id="18" name="concept-zd__sublabel"/>
          <p:cNvSpPr/>
          <p:nvPr/>
        </p:nvSpPr>
        <p:spPr>
          <a:xfrm>
            <a:off x="2194560" y="2414016"/>
            <a:ext cx="9144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desired future</a:t>
            </a:r>
            <a:endParaRPr lang="en-US" sz="1000" dirty="0"/>
          </a:p>
        </p:txBody>
      </p:sp>
      <p:sp>
        <p:nvSpPr>
          <p:cNvPr id="19" name="vec-delta"/>
          <p:cNvSpPr/>
          <p:nvPr/>
        </p:nvSpPr>
        <p:spPr>
          <a:xfrm>
            <a:off x="3127248" y="4114800"/>
            <a:ext cx="4352544" cy="0"/>
          </a:xfrm>
          <a:prstGeom prst="line">
            <a:avLst/>
          </a:prstGeom>
          <a:noFill/>
          <a:ln w="26670">
            <a:solidFill>
              <a:srgbClr val="B91C1C"/>
            </a:solidFill>
            <a:prstDash val="solid"/>
            <a:headEnd type="none"/>
            <a:tailEnd type="triangle"/>
          </a:ln>
        </p:spPr>
      </p:sp>
      <p:sp>
        <p:nvSpPr>
          <p:cNvPr id="20" name="vec-delta-label"/>
          <p:cNvSpPr/>
          <p:nvPr/>
        </p:nvSpPr>
        <p:spPr>
          <a:xfrm>
            <a:off x="4069080" y="3730752"/>
            <a:ext cx="24688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 correction</a:t>
            </a:r>
            <a:endParaRPr lang="en-US" sz="1150" dirty="0"/>
          </a:p>
        </p:txBody>
      </p:sp>
      <p:sp>
        <p:nvSpPr>
          <p:cNvPr id="21" name="vec-desired"/>
          <p:cNvSpPr/>
          <p:nvPr/>
        </p:nvSpPr>
        <p:spPr>
          <a:xfrm flipV="1">
            <a:off x="2651760" y="2395728"/>
            <a:ext cx="0" cy="1243584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  <a:headEnd type="none"/>
            <a:tailEnd type="none"/>
          </a:ln>
        </p:spPr>
      </p:sp>
      <p:sp>
        <p:nvSpPr>
          <p:cNvPr id="22" name="vec-desired-label"/>
          <p:cNvSpPr/>
          <p:nvPr/>
        </p:nvSpPr>
        <p:spPr>
          <a:xfrm>
            <a:off x="1417320" y="2633472"/>
            <a:ext cx="24688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desired</a:t>
            </a:r>
            <a:endParaRPr lang="en-US" sz="1150" dirty="0"/>
          </a:p>
        </p:txBody>
      </p:sp>
      <p:sp>
        <p:nvSpPr>
          <p:cNvPr id="23" name="vec-residual"/>
          <p:cNvSpPr/>
          <p:nvPr/>
        </p:nvSpPr>
        <p:spPr>
          <a:xfrm flipH="1" flipV="1">
            <a:off x="3091119" y="2102044"/>
            <a:ext cx="4424802" cy="1830953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  <a:headEnd type="none"/>
            <a:tailEnd type="none"/>
          </a:ln>
        </p:spPr>
      </p:sp>
      <p:sp>
        <p:nvSpPr>
          <p:cNvPr id="24" name="vec-residual-label"/>
          <p:cNvSpPr/>
          <p:nvPr/>
        </p:nvSpPr>
        <p:spPr>
          <a:xfrm>
            <a:off x="4069080" y="2633472"/>
            <a:ext cx="24688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</a:t>
            </a:r>
            <a:endParaRPr lang="en-US" sz="1150" dirty="0"/>
          </a:p>
        </p:txBody>
      </p:sp>
      <p:sp>
        <p:nvSpPr>
          <p:cNvPr id="25" name="fs-legend-0-line"/>
          <p:cNvSpPr/>
          <p:nvPr/>
        </p:nvSpPr>
        <p:spPr>
          <a:xfrm>
            <a:off x="566928" y="5897880"/>
            <a:ext cx="457200" cy="0"/>
          </a:xfrm>
          <a:prstGeom prst="line">
            <a:avLst/>
          </a:prstGeom>
          <a:noFill/>
          <a:ln w="26670">
            <a:solidFill>
              <a:srgbClr val="B91C1C"/>
            </a:solidFill>
            <a:prstDash val="solid"/>
            <a:headEnd type="none"/>
            <a:tailEnd type="triangle"/>
          </a:ln>
        </p:spPr>
      </p:sp>
      <p:sp>
        <p:nvSpPr>
          <p:cNvPr id="26" name="fs-legend-0"/>
          <p:cNvSpPr/>
          <p:nvPr/>
        </p:nvSpPr>
        <p:spPr>
          <a:xfrm>
            <a:off x="1133856" y="5742432"/>
            <a:ext cx="32918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ΔZ (what moved)</a:t>
            </a:r>
            <a:endParaRPr lang="en-US" sz="1000" dirty="0"/>
          </a:p>
        </p:txBody>
      </p:sp>
      <p:sp>
        <p:nvSpPr>
          <p:cNvPr id="27" name="fs-legend-1-line"/>
          <p:cNvSpPr/>
          <p:nvPr/>
        </p:nvSpPr>
        <p:spPr>
          <a:xfrm>
            <a:off x="4590288" y="5897880"/>
            <a:ext cx="457200" cy="0"/>
          </a:xfrm>
          <a:prstGeom prst="line">
            <a:avLst/>
          </a:prstGeom>
          <a:noFill/>
          <a:ln w="11430">
            <a:solidFill>
              <a:srgbClr val="9CA3AF"/>
            </a:solidFill>
            <a:prstDash val="dash"/>
            <a:headEnd type="none"/>
            <a:tailEnd type="none"/>
          </a:ln>
        </p:spPr>
      </p:sp>
      <p:sp>
        <p:nvSpPr>
          <p:cNvPr id="28" name="fs-legend-1"/>
          <p:cNvSpPr/>
          <p:nvPr/>
        </p:nvSpPr>
        <p:spPr>
          <a:xfrm>
            <a:off x="5157216" y="5742432"/>
            <a:ext cx="32918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desired direction Z_d − Z_s</a:t>
            </a:r>
            <a:endParaRPr lang="en-US" sz="1000" dirty="0"/>
          </a:p>
        </p:txBody>
      </p:sp>
      <p:sp>
        <p:nvSpPr>
          <p:cNvPr id="29" name="fs-note"/>
          <p:cNvSpPr/>
          <p:nvPr/>
        </p:nvSpPr>
        <p:spPr>
          <a:xfrm>
            <a:off x="566928" y="6199632"/>
            <a:ext cx="11057839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says dZ follows the desired direction; C2 says dZ can be orthogonal and still be useful.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kicker"/>
          <p:cNvSpPr/>
          <p:nvPr/>
        </p:nvSpPr>
        <p:spPr>
          <a:xfrm>
            <a:off x="566928" y="365760"/>
            <a:ext cx="68558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</a:t>
            </a:r>
            <a:endParaRPr lang="en-US" sz="1200" dirty="0"/>
          </a:p>
        </p:txBody>
      </p:sp>
      <p:sp>
        <p:nvSpPr>
          <p:cNvPr id="4" name="header-meta"/>
          <p:cNvSpPr/>
          <p:nvPr/>
        </p:nvSpPr>
        <p:spPr>
          <a:xfrm>
            <a:off x="6648740" y="365760"/>
            <a:ext cx="497602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Future-Feature Prediction  ·  Week 6</a:t>
            </a:r>
            <a:endParaRPr lang="en-US" sz="1000" dirty="0"/>
          </a:p>
        </p:txBody>
      </p:sp>
      <p:sp>
        <p:nvSpPr>
          <p:cNvPr id="5" name="title-main"/>
          <p:cNvSpPr/>
          <p:nvPr/>
        </p:nvSpPr>
        <p:spPr>
          <a:xfrm>
            <a:off x="566928" y="621792"/>
            <a:ext cx="11057839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is nearly orthogonal to the desired direction</a:t>
            </a:r>
            <a:endParaRPr lang="en-US" sz="2700" dirty="0"/>
          </a:p>
        </p:txBody>
      </p:sp>
      <p:sp>
        <p:nvSpPr>
          <p:cNvPr id="6" name="chrome-rule"/>
          <p:cNvSpPr/>
          <p:nvPr/>
        </p:nvSpPr>
        <p:spPr>
          <a:xfrm>
            <a:off x="566928" y="1243584"/>
            <a:ext cx="11057839" cy="20117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chrome-rule-accent"/>
          <p:cNvSpPr/>
          <p:nvPr/>
        </p:nvSpPr>
        <p:spPr>
          <a:xfrm>
            <a:off x="566928" y="1243584"/>
            <a:ext cx="1051560" cy="20117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footer-text"/>
          <p:cNvSpPr/>
          <p:nvPr/>
        </p:nvSpPr>
        <p:spPr>
          <a:xfrm>
            <a:off x="566928" y="6419088"/>
            <a:ext cx="8293379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Future-Feature Prediction · synthetic demo</a:t>
            </a:r>
            <a:endParaRPr lang="en-US" sz="1000" dirty="0"/>
          </a:p>
        </p:txBody>
      </p:sp>
      <p:sp>
        <p:nvSpPr>
          <p:cNvPr id="9" name="footer-slide-number"/>
          <p:cNvSpPr/>
          <p:nvPr/>
        </p:nvSpPr>
        <p:spPr>
          <a:xfrm>
            <a:off x="10076670" y="6419088"/>
            <a:ext cx="1548097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  <p:sp>
        <p:nvSpPr>
          <p:cNvPr id="10" name="concept-zs"/>
          <p:cNvSpPr/>
          <p:nvPr/>
        </p:nvSpPr>
        <p:spPr>
          <a:xfrm>
            <a:off x="2194560" y="3657600"/>
            <a:ext cx="914400" cy="9144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11827"/>
            </a:solidFill>
            <a:prstDash val="solid"/>
            <a:headEnd type="none"/>
            <a:tailEnd type="none"/>
          </a:ln>
        </p:spPr>
      </p:sp>
      <p:sp>
        <p:nvSpPr>
          <p:cNvPr id="11" name="concept-zs__label"/>
          <p:cNvSpPr/>
          <p:nvPr/>
        </p:nvSpPr>
        <p:spPr>
          <a:xfrm>
            <a:off x="2194560" y="3657600"/>
            <a:ext cx="9144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Z_s</a:t>
            </a:r>
            <a:endParaRPr lang="en-US" sz="1500" dirty="0"/>
          </a:p>
        </p:txBody>
      </p:sp>
      <p:sp>
        <p:nvSpPr>
          <p:cNvPr id="12" name="concept-zs__sublabel"/>
          <p:cNvSpPr/>
          <p:nvPr/>
        </p:nvSpPr>
        <p:spPr>
          <a:xfrm>
            <a:off x="2194560" y="4608576"/>
            <a:ext cx="9144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source</a:t>
            </a:r>
            <a:endParaRPr lang="en-US" sz="1000" dirty="0"/>
          </a:p>
        </p:txBody>
      </p:sp>
      <p:sp>
        <p:nvSpPr>
          <p:cNvPr id="13" name="concept-ztilde"/>
          <p:cNvSpPr/>
          <p:nvPr/>
        </p:nvSpPr>
        <p:spPr>
          <a:xfrm>
            <a:off x="7498080" y="3657600"/>
            <a:ext cx="914400" cy="9144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11827"/>
            </a:solidFill>
            <a:prstDash val="solid"/>
            <a:headEnd type="none"/>
            <a:tailEnd type="none"/>
          </a:ln>
        </p:spPr>
      </p:sp>
      <p:sp>
        <p:nvSpPr>
          <p:cNvPr id="14" name="concept-ztilde__label"/>
          <p:cNvSpPr/>
          <p:nvPr/>
        </p:nvSpPr>
        <p:spPr>
          <a:xfrm>
            <a:off x="7498080" y="3657600"/>
            <a:ext cx="9144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Z~</a:t>
            </a:r>
            <a:endParaRPr lang="en-US" sz="1500" dirty="0"/>
          </a:p>
        </p:txBody>
      </p:sp>
      <p:sp>
        <p:nvSpPr>
          <p:cNvPr id="15" name="concept-ztilde__sublabel"/>
          <p:cNvSpPr/>
          <p:nvPr/>
        </p:nvSpPr>
        <p:spPr>
          <a:xfrm>
            <a:off x="7498080" y="4608576"/>
            <a:ext cx="9144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estimate</a:t>
            </a:r>
            <a:endParaRPr lang="en-US" sz="1000" dirty="0"/>
          </a:p>
        </p:txBody>
      </p:sp>
      <p:sp>
        <p:nvSpPr>
          <p:cNvPr id="16" name="concept-zd"/>
          <p:cNvSpPr/>
          <p:nvPr/>
        </p:nvSpPr>
        <p:spPr>
          <a:xfrm>
            <a:off x="2194560" y="1463040"/>
            <a:ext cx="914400" cy="9144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11827"/>
            </a:solidFill>
            <a:prstDash val="solid"/>
            <a:headEnd type="none"/>
            <a:tailEnd type="none"/>
          </a:ln>
        </p:spPr>
      </p:sp>
      <p:sp>
        <p:nvSpPr>
          <p:cNvPr id="17" name="concept-zd__label"/>
          <p:cNvSpPr/>
          <p:nvPr/>
        </p:nvSpPr>
        <p:spPr>
          <a:xfrm>
            <a:off x="2194560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Z_d</a:t>
            </a:r>
            <a:endParaRPr lang="en-US" sz="1500" dirty="0"/>
          </a:p>
        </p:txBody>
      </p:sp>
      <p:sp>
        <p:nvSpPr>
          <p:cNvPr id="18" name="concept-zd__sublabel"/>
          <p:cNvSpPr/>
          <p:nvPr/>
        </p:nvSpPr>
        <p:spPr>
          <a:xfrm>
            <a:off x="2194560" y="2414016"/>
            <a:ext cx="9144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desired future</a:t>
            </a:r>
            <a:endParaRPr lang="en-US" sz="1000" dirty="0"/>
          </a:p>
        </p:txBody>
      </p:sp>
      <p:sp>
        <p:nvSpPr>
          <p:cNvPr id="19" name="vec-delta"/>
          <p:cNvSpPr/>
          <p:nvPr/>
        </p:nvSpPr>
        <p:spPr>
          <a:xfrm>
            <a:off x="3127248" y="4114800"/>
            <a:ext cx="4352544" cy="0"/>
          </a:xfrm>
          <a:prstGeom prst="line">
            <a:avLst/>
          </a:prstGeom>
          <a:noFill/>
          <a:ln w="26670">
            <a:solidFill>
              <a:srgbClr val="B91C1C"/>
            </a:solidFill>
            <a:prstDash val="solid"/>
            <a:headEnd type="none"/>
            <a:tailEnd type="triangle"/>
          </a:ln>
        </p:spPr>
      </p:sp>
      <p:sp>
        <p:nvSpPr>
          <p:cNvPr id="20" name="vec-delta-label"/>
          <p:cNvSpPr/>
          <p:nvPr/>
        </p:nvSpPr>
        <p:spPr>
          <a:xfrm>
            <a:off x="4069080" y="3730752"/>
            <a:ext cx="24688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 (cos 0.117 vs desired)</a:t>
            </a:r>
            <a:endParaRPr lang="en-US" sz="1150" dirty="0"/>
          </a:p>
        </p:txBody>
      </p:sp>
      <p:sp>
        <p:nvSpPr>
          <p:cNvPr id="21" name="vec-desired"/>
          <p:cNvSpPr/>
          <p:nvPr/>
        </p:nvSpPr>
        <p:spPr>
          <a:xfrm flipV="1">
            <a:off x="2651760" y="2395728"/>
            <a:ext cx="0" cy="1243584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  <a:headEnd type="none"/>
            <a:tailEnd type="none"/>
          </a:ln>
        </p:spPr>
      </p:sp>
      <p:sp>
        <p:nvSpPr>
          <p:cNvPr id="22" name="vec-desired-label"/>
          <p:cNvSpPr/>
          <p:nvPr/>
        </p:nvSpPr>
        <p:spPr>
          <a:xfrm>
            <a:off x="1417320" y="2633472"/>
            <a:ext cx="24688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desired</a:t>
            </a:r>
            <a:endParaRPr lang="en-US" sz="1150" dirty="0"/>
          </a:p>
        </p:txBody>
      </p:sp>
      <p:sp>
        <p:nvSpPr>
          <p:cNvPr id="23" name="fs-legend-0-line"/>
          <p:cNvSpPr/>
          <p:nvPr/>
        </p:nvSpPr>
        <p:spPr>
          <a:xfrm>
            <a:off x="566928" y="5897880"/>
            <a:ext cx="457200" cy="0"/>
          </a:xfrm>
          <a:prstGeom prst="line">
            <a:avLst/>
          </a:prstGeom>
          <a:noFill/>
          <a:ln w="26670">
            <a:solidFill>
              <a:srgbClr val="B91C1C"/>
            </a:solidFill>
            <a:prstDash val="solid"/>
            <a:headEnd type="none"/>
            <a:tailEnd type="triangle"/>
          </a:ln>
        </p:spPr>
      </p:sp>
      <p:sp>
        <p:nvSpPr>
          <p:cNvPr id="24" name="fs-legend-0"/>
          <p:cNvSpPr/>
          <p:nvPr/>
        </p:nvSpPr>
        <p:spPr>
          <a:xfrm>
            <a:off x="1133856" y="5742432"/>
            <a:ext cx="32918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ΔZ (what moved)</a:t>
            </a:r>
            <a:endParaRPr lang="en-US" sz="1000" dirty="0"/>
          </a:p>
        </p:txBody>
      </p:sp>
      <p:sp>
        <p:nvSpPr>
          <p:cNvPr id="25" name="fs-legend-1-line"/>
          <p:cNvSpPr/>
          <p:nvPr/>
        </p:nvSpPr>
        <p:spPr>
          <a:xfrm>
            <a:off x="4590288" y="5897880"/>
            <a:ext cx="457200" cy="0"/>
          </a:xfrm>
          <a:prstGeom prst="line">
            <a:avLst/>
          </a:prstGeom>
          <a:noFill/>
          <a:ln w="11430">
            <a:solidFill>
              <a:srgbClr val="9CA3AF"/>
            </a:solidFill>
            <a:prstDash val="dash"/>
            <a:headEnd type="none"/>
            <a:tailEnd type="none"/>
          </a:ln>
        </p:spPr>
      </p:sp>
      <p:sp>
        <p:nvSpPr>
          <p:cNvPr id="26" name="fs-legend-1"/>
          <p:cNvSpPr/>
          <p:nvPr/>
        </p:nvSpPr>
        <p:spPr>
          <a:xfrm>
            <a:off x="5157216" y="5742432"/>
            <a:ext cx="32918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desired direction Z_d − Z_s</a:t>
            </a:r>
            <a:endParaRPr lang="en-US" sz="1000" dirty="0"/>
          </a:p>
        </p:txBody>
      </p:sp>
      <p:sp>
        <p:nvSpPr>
          <p:cNvPr id="27" name="fs-note"/>
          <p:cNvSpPr/>
          <p:nvPr/>
        </p:nvSpPr>
        <p:spPr>
          <a:xfrm>
            <a:off x="566928" y="6199632"/>
            <a:ext cx="11057839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objects and positions as the previous slide; the measured dZ is ~90 degrees from desired.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kicker"/>
          <p:cNvSpPr/>
          <p:nvPr/>
        </p:nvSpPr>
        <p:spPr>
          <a:xfrm>
            <a:off x="566928" y="365760"/>
            <a:ext cx="68558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</a:t>
            </a:r>
            <a:endParaRPr lang="en-US" sz="1200" dirty="0"/>
          </a:p>
        </p:txBody>
      </p:sp>
      <p:sp>
        <p:nvSpPr>
          <p:cNvPr id="4" name="header-meta"/>
          <p:cNvSpPr/>
          <p:nvPr/>
        </p:nvSpPr>
        <p:spPr>
          <a:xfrm>
            <a:off x="6648740" y="365760"/>
            <a:ext cx="497602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Future-Feature Prediction  ·  Week 6</a:t>
            </a:r>
            <a:endParaRPr lang="en-US" sz="1000" dirty="0"/>
          </a:p>
        </p:txBody>
      </p:sp>
      <p:sp>
        <p:nvSpPr>
          <p:cNvPr id="5" name="title-main"/>
          <p:cNvSpPr/>
          <p:nvPr/>
        </p:nvSpPr>
        <p:spPr>
          <a:xfrm>
            <a:off x="566928" y="621792"/>
            <a:ext cx="11057839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D1: does the correction aim at the future feature?</a:t>
            </a:r>
            <a:endParaRPr lang="en-US" sz="2700" dirty="0"/>
          </a:p>
        </p:txBody>
      </p:sp>
      <p:sp>
        <p:nvSpPr>
          <p:cNvPr id="6" name="chrome-rule"/>
          <p:cNvSpPr/>
          <p:nvPr/>
        </p:nvSpPr>
        <p:spPr>
          <a:xfrm>
            <a:off x="566928" y="1243584"/>
            <a:ext cx="11057839" cy="20117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chrome-rule-accent"/>
          <p:cNvSpPr/>
          <p:nvPr/>
        </p:nvSpPr>
        <p:spPr>
          <a:xfrm>
            <a:off x="566928" y="1243584"/>
            <a:ext cx="1051560" cy="20117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footer-text"/>
          <p:cNvSpPr/>
          <p:nvPr/>
        </p:nvSpPr>
        <p:spPr>
          <a:xfrm>
            <a:off x="566928" y="6419088"/>
            <a:ext cx="8293379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Future-Feature Prediction · synthetic demo</a:t>
            </a:r>
            <a:endParaRPr lang="en-US" sz="1000" dirty="0"/>
          </a:p>
        </p:txBody>
      </p:sp>
      <p:sp>
        <p:nvSpPr>
          <p:cNvPr id="9" name="footer-slide-number"/>
          <p:cNvSpPr/>
          <p:nvPr/>
        </p:nvSpPr>
        <p:spPr>
          <a:xfrm>
            <a:off x="10076670" y="6419088"/>
            <a:ext cx="1548097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  <p:sp>
        <p:nvSpPr>
          <p:cNvPr id="10" name="diag-D1-q"/>
          <p:cNvSpPr/>
          <p:nvPr/>
        </p:nvSpPr>
        <p:spPr>
          <a:xfrm>
            <a:off x="566928" y="1536192"/>
            <a:ext cx="11057839" cy="786384"/>
          </a:xfrm>
          <a:prstGeom prst="roundRect">
            <a:avLst>
              <a:gd name="adj" fmla="val 12791"/>
            </a:avLst>
          </a:prstGeom>
          <a:solidFill>
            <a:srgbClr val="EAF1FE"/>
          </a:solidFill>
          <a:ln w="1397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11" name="diag-D1-q-k"/>
          <p:cNvSpPr/>
          <p:nvPr/>
        </p:nvSpPr>
        <p:spPr>
          <a:xfrm>
            <a:off x="804672" y="1627632"/>
            <a:ext cx="10972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1300" dirty="0"/>
          </a:p>
        </p:txBody>
      </p:sp>
      <p:sp>
        <p:nvSpPr>
          <p:cNvPr id="12" name="diag-D1-q-t"/>
          <p:cNvSpPr/>
          <p:nvPr/>
        </p:nvSpPr>
        <p:spPr>
          <a:xfrm>
            <a:off x="1801368" y="1627632"/>
            <a:ext cx="8040319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correction direction point toward the future feature?</a:t>
            </a:r>
            <a:endParaRPr lang="en-US" sz="1700" dirty="0"/>
          </a:p>
        </p:txBody>
      </p:sp>
      <p:sp>
        <p:nvSpPr>
          <p:cNvPr id="13" name="diag-D1-link-0"/>
          <p:cNvSpPr/>
          <p:nvPr/>
        </p:nvSpPr>
        <p:spPr>
          <a:xfrm>
            <a:off x="10024567" y="1773936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14" name="diag-D1-link-0__label"/>
          <p:cNvSpPr/>
          <p:nvPr/>
        </p:nvSpPr>
        <p:spPr>
          <a:xfrm>
            <a:off x="10024567" y="1773936"/>
            <a:ext cx="713232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C1</a:t>
            </a:r>
            <a:endParaRPr lang="en-US" sz="1000" dirty="0"/>
          </a:p>
        </p:txBody>
      </p:sp>
      <p:sp>
        <p:nvSpPr>
          <p:cNvPr id="15" name="diag-D1-measurement"/>
          <p:cNvSpPr/>
          <p:nvPr/>
        </p:nvSpPr>
        <p:spPr>
          <a:xfrm>
            <a:off x="566928" y="2505456"/>
            <a:ext cx="6302968" cy="1042416"/>
          </a:xfrm>
          <a:prstGeom prst="roundRect">
            <a:avLst>
              <a:gd name="adj" fmla="val 9649"/>
            </a:avLst>
          </a:prstGeom>
          <a:solidFill>
            <a:srgbClr val="F9FAFB"/>
          </a:solidFill>
          <a:ln w="13970">
            <a:solidFill>
              <a:srgbClr val="E5E7EB"/>
            </a:solidFill>
            <a:prstDash val="solid"/>
            <a:headEnd type="none"/>
            <a:tailEnd type="none"/>
          </a:ln>
        </p:spPr>
      </p:sp>
      <p:sp>
        <p:nvSpPr>
          <p:cNvPr id="16" name="diag-D1-measurement-k"/>
          <p:cNvSpPr/>
          <p:nvPr/>
        </p:nvSpPr>
        <p:spPr>
          <a:xfrm>
            <a:off x="768096" y="2596896"/>
            <a:ext cx="590063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1000" dirty="0"/>
          </a:p>
        </p:txBody>
      </p:sp>
      <p:sp>
        <p:nvSpPr>
          <p:cNvPr id="17" name="diag-D1-measurement-t"/>
          <p:cNvSpPr/>
          <p:nvPr/>
        </p:nvSpPr>
        <p:spPr>
          <a:xfrm>
            <a:off x="768096" y="2871216"/>
            <a:ext cx="5900632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cos(deltaZ, Z_d - Z_s) = 0.1168</a:t>
            </a:r>
            <a:endParaRPr lang="en-US" sz="1500" dirty="0"/>
          </a:p>
        </p:txBody>
      </p:sp>
      <p:sp>
        <p:nvSpPr>
          <p:cNvPr id="18" name="diag-D1-observation"/>
          <p:cNvSpPr/>
          <p:nvPr/>
        </p:nvSpPr>
        <p:spPr>
          <a:xfrm>
            <a:off x="566928" y="3639312"/>
            <a:ext cx="6302968" cy="1042416"/>
          </a:xfrm>
          <a:prstGeom prst="roundRect">
            <a:avLst>
              <a:gd name="adj" fmla="val 9649"/>
            </a:avLst>
          </a:prstGeom>
          <a:solidFill>
            <a:srgbClr val="FFFFFF"/>
          </a:solidFill>
          <a:ln w="13970">
            <a:solidFill>
              <a:srgbClr val="E5E7EB"/>
            </a:solidFill>
            <a:prstDash val="solid"/>
            <a:headEnd type="none"/>
            <a:tailEnd type="none"/>
          </a:ln>
        </p:spPr>
      </p:sp>
      <p:sp>
        <p:nvSpPr>
          <p:cNvPr id="19" name="diag-D1-observation-k"/>
          <p:cNvSpPr/>
          <p:nvPr/>
        </p:nvSpPr>
        <p:spPr>
          <a:xfrm>
            <a:off x="768096" y="3730752"/>
            <a:ext cx="590063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000" dirty="0"/>
          </a:p>
        </p:txBody>
      </p:sp>
      <p:sp>
        <p:nvSpPr>
          <p:cNvPr id="20" name="diag-D1-observation-t"/>
          <p:cNvSpPr/>
          <p:nvPr/>
        </p:nvSpPr>
        <p:spPr>
          <a:xfrm>
            <a:off x="768096" y="4005072"/>
            <a:ext cx="5900632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correction direction is nearly orthogonal to the direction from the cached feature to the future feature.</a:t>
            </a:r>
            <a:endParaRPr lang="en-US" sz="1400" dirty="0"/>
          </a:p>
        </p:txBody>
      </p:sp>
      <p:sp>
        <p:nvSpPr>
          <p:cNvPr id="21" name="diag-D1-interpretation"/>
          <p:cNvSpPr/>
          <p:nvPr/>
        </p:nvSpPr>
        <p:spPr>
          <a:xfrm>
            <a:off x="566928" y="4773168"/>
            <a:ext cx="6302968" cy="1042416"/>
          </a:xfrm>
          <a:prstGeom prst="roundRect">
            <a:avLst>
              <a:gd name="adj" fmla="val 9649"/>
            </a:avLst>
          </a:prstGeom>
          <a:solidFill>
            <a:srgbClr val="EAF1FE"/>
          </a:solidFill>
          <a:ln w="1397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22" name="diag-D1-interpretation-k"/>
          <p:cNvSpPr/>
          <p:nvPr/>
        </p:nvSpPr>
        <p:spPr>
          <a:xfrm>
            <a:off x="768096" y="4864608"/>
            <a:ext cx="590063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000" dirty="0"/>
          </a:p>
        </p:txBody>
      </p:sp>
      <p:sp>
        <p:nvSpPr>
          <p:cNvPr id="23" name="diag-D1-interpretation-t"/>
          <p:cNvSpPr/>
          <p:nvPr/>
        </p:nvSpPr>
        <p:spPr>
          <a:xfrm>
            <a:off x="768096" y="5138928"/>
            <a:ext cx="5900632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recovery may not require moving toward the exact future hidden state.</a:t>
            </a:r>
            <a:endParaRPr lang="en-US" sz="1400" dirty="0"/>
          </a:p>
        </p:txBody>
      </p:sp>
      <p:sp>
        <p:nvSpPr>
          <p:cNvPr id="24" name="diag-D1-can_conclude"/>
          <p:cNvSpPr/>
          <p:nvPr/>
        </p:nvSpPr>
        <p:spPr>
          <a:xfrm>
            <a:off x="7201632" y="2505456"/>
            <a:ext cx="4423136" cy="1042416"/>
          </a:xfrm>
          <a:prstGeom prst="roundRect">
            <a:avLst>
              <a:gd name="adj" fmla="val 9649"/>
            </a:avLst>
          </a:prstGeom>
          <a:solidFill>
            <a:srgbClr val="DCFCE7"/>
          </a:solidFill>
          <a:ln w="13970">
            <a:solidFill>
              <a:srgbClr val="047857"/>
            </a:solidFill>
            <a:prstDash val="solid"/>
            <a:headEnd type="none"/>
            <a:tailEnd type="none"/>
          </a:ln>
        </p:spPr>
      </p:sp>
      <p:sp>
        <p:nvSpPr>
          <p:cNvPr id="25" name="diag-D1-can_conclude-k"/>
          <p:cNvSpPr/>
          <p:nvPr/>
        </p:nvSpPr>
        <p:spPr>
          <a:xfrm>
            <a:off x="7402800" y="2596896"/>
            <a:ext cx="40208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CONCLUDE</a:t>
            </a:r>
            <a:endParaRPr lang="en-US" sz="1000" dirty="0"/>
          </a:p>
        </p:txBody>
      </p:sp>
      <p:sp>
        <p:nvSpPr>
          <p:cNvPr id="26" name="diag-D1-can_conclude-t"/>
          <p:cNvSpPr/>
          <p:nvPr/>
        </p:nvSpPr>
        <p:spPr>
          <a:xfrm>
            <a:off x="7402800" y="2871216"/>
            <a:ext cx="402080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as stated is not supported; the correction is not simply moving toward Z_d.</a:t>
            </a:r>
            <a:endParaRPr lang="en-US" sz="1200" dirty="0"/>
          </a:p>
        </p:txBody>
      </p:sp>
      <p:sp>
        <p:nvSpPr>
          <p:cNvPr id="27" name="diag-D1-cannot_conclude"/>
          <p:cNvSpPr/>
          <p:nvPr/>
        </p:nvSpPr>
        <p:spPr>
          <a:xfrm>
            <a:off x="7201632" y="3639312"/>
            <a:ext cx="4423136" cy="1042416"/>
          </a:xfrm>
          <a:prstGeom prst="roundRect">
            <a:avLst>
              <a:gd name="adj" fmla="val 9649"/>
            </a:avLst>
          </a:prstGeom>
          <a:solidFill>
            <a:srgbClr val="FEE2E2"/>
          </a:solidFill>
          <a:ln w="13970">
            <a:solidFill>
              <a:srgbClr val="B91C1C"/>
            </a:solidFill>
            <a:prstDash val="solid"/>
            <a:headEnd type="none"/>
            <a:tailEnd type="none"/>
          </a:ln>
        </p:spPr>
      </p:sp>
      <p:sp>
        <p:nvSpPr>
          <p:cNvPr id="28" name="diag-D1-cannot_conclude-k"/>
          <p:cNvSpPr/>
          <p:nvPr/>
        </p:nvSpPr>
        <p:spPr>
          <a:xfrm>
            <a:off x="7402800" y="3730752"/>
            <a:ext cx="40208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CONCLUDE</a:t>
            </a:r>
            <a:endParaRPr lang="en-US" sz="1000" dirty="0"/>
          </a:p>
        </p:txBody>
      </p:sp>
      <p:sp>
        <p:nvSpPr>
          <p:cNvPr id="29" name="diag-D1-cannot_conclude-t"/>
          <p:cNvSpPr/>
          <p:nvPr/>
        </p:nvSpPr>
        <p:spPr>
          <a:xfrm>
            <a:off x="7402800" y="4005072"/>
            <a:ext cx="402080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the correction is uninformative, or that the method fails.</a:t>
            </a:r>
            <a:endParaRPr lang="en-US" sz="1200" dirty="0"/>
          </a:p>
        </p:txBody>
      </p:sp>
      <p:sp>
        <p:nvSpPr>
          <p:cNvPr id="30" name="diag-D1-alternative_explanation"/>
          <p:cNvSpPr/>
          <p:nvPr/>
        </p:nvSpPr>
        <p:spPr>
          <a:xfrm>
            <a:off x="7201632" y="4773168"/>
            <a:ext cx="4423136" cy="1042416"/>
          </a:xfrm>
          <a:prstGeom prst="roundRect">
            <a:avLst>
              <a:gd name="adj" fmla="val 9649"/>
            </a:avLst>
          </a:prstGeom>
          <a:solidFill>
            <a:srgbClr val="F9FAFB"/>
          </a:solidFill>
          <a:ln w="13970">
            <a:solidFill>
              <a:srgbClr val="6B7280"/>
            </a:solidFill>
            <a:prstDash val="solid"/>
            <a:headEnd type="none"/>
            <a:tailEnd type="none"/>
          </a:ln>
        </p:spPr>
      </p:sp>
      <p:sp>
        <p:nvSpPr>
          <p:cNvPr id="31" name="diag-D1-alternative_explanation-k"/>
          <p:cNvSpPr/>
          <p:nvPr/>
        </p:nvSpPr>
        <p:spPr>
          <a:xfrm>
            <a:off x="7402800" y="4864608"/>
            <a:ext cx="40208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TARGETED</a:t>
            </a:r>
            <a:endParaRPr lang="en-US" sz="1000" dirty="0"/>
          </a:p>
        </p:txBody>
      </p:sp>
      <p:sp>
        <p:nvSpPr>
          <p:cNvPr id="32" name="diag-D1-alternative_explanation-t"/>
          <p:cNvSpPr/>
          <p:nvPr/>
        </p:nvSpPr>
        <p:spPr>
          <a:xfrm>
            <a:off x="7402800" y="5138928"/>
            <a:ext cx="402080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correction may exploit a downstream-valid direction that is not the future-feature direction.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kicker"/>
          <p:cNvSpPr/>
          <p:nvPr/>
        </p:nvSpPr>
        <p:spPr>
          <a:xfrm>
            <a:off x="566928" y="365760"/>
            <a:ext cx="68558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4" name="header-meta"/>
          <p:cNvSpPr/>
          <p:nvPr/>
        </p:nvSpPr>
        <p:spPr>
          <a:xfrm>
            <a:off x="6648740" y="365760"/>
            <a:ext cx="497602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Future-Feature Prediction  ·  Week 6</a:t>
            </a:r>
            <a:endParaRPr lang="en-US" sz="1000" dirty="0"/>
          </a:p>
        </p:txBody>
      </p:sp>
      <p:sp>
        <p:nvSpPr>
          <p:cNvPr id="5" name="title-main"/>
          <p:cNvSpPr/>
          <p:nvPr/>
        </p:nvSpPr>
        <p:spPr>
          <a:xfrm>
            <a:off x="566928" y="621792"/>
            <a:ext cx="11057839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Comparison: competitor, last week, this week</a:t>
            </a:r>
            <a:endParaRPr lang="en-US" sz="2700" dirty="0"/>
          </a:p>
        </p:txBody>
      </p:sp>
      <p:sp>
        <p:nvSpPr>
          <p:cNvPr id="6" name="chrome-rule"/>
          <p:cNvSpPr/>
          <p:nvPr/>
        </p:nvSpPr>
        <p:spPr>
          <a:xfrm>
            <a:off x="566928" y="1243584"/>
            <a:ext cx="11057839" cy="20117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chrome-rule-accent"/>
          <p:cNvSpPr/>
          <p:nvPr/>
        </p:nvSpPr>
        <p:spPr>
          <a:xfrm>
            <a:off x="566928" y="1243584"/>
            <a:ext cx="1051560" cy="20117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footer-text"/>
          <p:cNvSpPr/>
          <p:nvPr/>
        </p:nvSpPr>
        <p:spPr>
          <a:xfrm>
            <a:off x="566928" y="6419088"/>
            <a:ext cx="8293379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Future-Feature Prediction · synthetic demo</a:t>
            </a:r>
            <a:endParaRPr lang="en-US" sz="1000" dirty="0"/>
          </a:p>
        </p:txBody>
      </p:sp>
      <p:sp>
        <p:nvSpPr>
          <p:cNvPr id="9" name="footer-slide-number"/>
          <p:cNvSpPr/>
          <p:nvPr/>
        </p:nvSpPr>
        <p:spPr>
          <a:xfrm>
            <a:off x="10076670" y="6419088"/>
            <a:ext cx="1548097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  <p:sp>
        <p:nvSpPr>
          <p:cNvPr id="10" name="bench-corner"/>
          <p:cNvSpPr/>
          <p:nvPr/>
        </p:nvSpPr>
        <p:spPr>
          <a:xfrm>
            <a:off x="566928" y="1965960"/>
            <a:ext cx="27432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00" dirty="0"/>
          </a:p>
        </p:txBody>
      </p:sp>
      <p:sp>
        <p:nvSpPr>
          <p:cNvPr id="11" name="bench-metric-0"/>
          <p:cNvSpPr/>
          <p:nvPr/>
        </p:nvSpPr>
        <p:spPr>
          <a:xfrm>
            <a:off x="3310128" y="1965960"/>
            <a:ext cx="263438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cosine</a:t>
            </a:r>
            <a:endParaRPr lang="en-US" sz="1150" dirty="0"/>
          </a:p>
        </p:txBody>
      </p:sp>
      <p:sp>
        <p:nvSpPr>
          <p:cNvPr id="12" name="bench-metric-0-unit"/>
          <p:cNvSpPr/>
          <p:nvPr/>
        </p:nvSpPr>
        <p:spPr>
          <a:xfrm>
            <a:off x="3310128" y="2331720"/>
            <a:ext cx="263438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is better</a:t>
            </a:r>
            <a:endParaRPr lang="en-US" sz="1000" dirty="0"/>
          </a:p>
        </p:txBody>
      </p:sp>
      <p:sp>
        <p:nvSpPr>
          <p:cNvPr id="13" name="bench-metric-1"/>
          <p:cNvSpPr/>
          <p:nvPr/>
        </p:nvSpPr>
        <p:spPr>
          <a:xfrm>
            <a:off x="6081674" y="1965960"/>
            <a:ext cx="263438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acc.</a:t>
            </a:r>
            <a:endParaRPr lang="en-US" sz="1150" dirty="0"/>
          </a:p>
        </p:txBody>
      </p:sp>
      <p:sp>
        <p:nvSpPr>
          <p:cNvPr id="14" name="bench-metric-1-unit"/>
          <p:cNvSpPr/>
          <p:nvPr/>
        </p:nvSpPr>
        <p:spPr>
          <a:xfrm>
            <a:off x="6081674" y="2331720"/>
            <a:ext cx="263438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is better</a:t>
            </a:r>
            <a:endParaRPr lang="en-US" sz="1000" dirty="0"/>
          </a:p>
        </p:txBody>
      </p:sp>
      <p:sp>
        <p:nvSpPr>
          <p:cNvPr id="15" name="bench-vsep-1"/>
          <p:cNvSpPr/>
          <p:nvPr/>
        </p:nvSpPr>
        <p:spPr>
          <a:xfrm>
            <a:off x="6008522" y="1920240"/>
            <a:ext cx="10973" cy="29077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6" name="bench-metric-2"/>
          <p:cNvSpPr/>
          <p:nvPr/>
        </p:nvSpPr>
        <p:spPr>
          <a:xfrm>
            <a:off x="8853221" y="1965960"/>
            <a:ext cx="263438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recovery R2</a:t>
            </a:r>
            <a:endParaRPr lang="en-US" sz="1150" dirty="0"/>
          </a:p>
        </p:txBody>
      </p:sp>
      <p:sp>
        <p:nvSpPr>
          <p:cNvPr id="17" name="bench-metric-2-unit"/>
          <p:cNvSpPr/>
          <p:nvPr/>
        </p:nvSpPr>
        <p:spPr>
          <a:xfrm>
            <a:off x="8853221" y="2331720"/>
            <a:ext cx="263438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is better</a:t>
            </a:r>
            <a:endParaRPr lang="en-US" sz="1000" dirty="0"/>
          </a:p>
        </p:txBody>
      </p:sp>
      <p:sp>
        <p:nvSpPr>
          <p:cNvPr id="18" name="bench-vsep-2"/>
          <p:cNvSpPr/>
          <p:nvPr/>
        </p:nvSpPr>
        <p:spPr>
          <a:xfrm>
            <a:off x="8780069" y="1920240"/>
            <a:ext cx="10973" cy="29077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9" name="bench-row-0-name"/>
          <p:cNvSpPr/>
          <p:nvPr/>
        </p:nvSpPr>
        <p:spPr>
          <a:xfrm>
            <a:off x="566928" y="2468880"/>
            <a:ext cx="2560320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reuse only</a:t>
            </a:r>
            <a:endParaRPr lang="en-US" sz="1400" dirty="0"/>
          </a:p>
        </p:txBody>
      </p:sp>
      <p:sp>
        <p:nvSpPr>
          <p:cNvPr id="20" name="bench-row-0-role"/>
          <p:cNvSpPr/>
          <p:nvPr/>
        </p:nvSpPr>
        <p:spPr>
          <a:xfrm>
            <a:off x="566928" y="2999232"/>
            <a:ext cx="25603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</a:t>
            </a:r>
            <a:endParaRPr lang="en-US" sz="1000" dirty="0"/>
          </a:p>
        </p:txBody>
      </p:sp>
      <p:sp>
        <p:nvSpPr>
          <p:cNvPr id="21" name="bench-row-0-m0"/>
          <p:cNvSpPr/>
          <p:nvPr/>
        </p:nvSpPr>
        <p:spPr>
          <a:xfrm>
            <a:off x="3310128" y="2468880"/>
            <a:ext cx="2634386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0.42</a:t>
            </a:r>
            <a:endParaRPr lang="en-US" sz="1800" dirty="0"/>
          </a:p>
        </p:txBody>
      </p:sp>
      <p:sp>
        <p:nvSpPr>
          <p:cNvPr id="22" name="bench-row-0-m1"/>
          <p:cNvSpPr/>
          <p:nvPr/>
        </p:nvSpPr>
        <p:spPr>
          <a:xfrm>
            <a:off x="6081674" y="2468880"/>
            <a:ext cx="2634386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0.74</a:t>
            </a:r>
            <a:endParaRPr lang="en-US" sz="1800" dirty="0"/>
          </a:p>
        </p:txBody>
      </p:sp>
      <p:sp>
        <p:nvSpPr>
          <p:cNvPr id="23" name="bench-row-0-m2"/>
          <p:cNvSpPr/>
          <p:nvPr/>
        </p:nvSpPr>
        <p:spPr>
          <a:xfrm>
            <a:off x="8853221" y="2468880"/>
            <a:ext cx="2634386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0.28</a:t>
            </a:r>
            <a:endParaRPr lang="en-US" sz="1800" dirty="0"/>
          </a:p>
        </p:txBody>
      </p:sp>
      <p:sp>
        <p:nvSpPr>
          <p:cNvPr id="24" name="bench-row-1-name"/>
          <p:cNvSpPr/>
          <p:nvPr/>
        </p:nvSpPr>
        <p:spPr>
          <a:xfrm>
            <a:off x="566928" y="3255264"/>
            <a:ext cx="2560320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 (v3, last week)</a:t>
            </a:r>
            <a:endParaRPr lang="en-US" sz="1400" dirty="0"/>
          </a:p>
        </p:txBody>
      </p:sp>
      <p:sp>
        <p:nvSpPr>
          <p:cNvPr id="25" name="bench-row-1-role"/>
          <p:cNvSpPr/>
          <p:nvPr/>
        </p:nvSpPr>
        <p:spPr>
          <a:xfrm>
            <a:off x="566928" y="3785616"/>
            <a:ext cx="25603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 · LAST WEEK</a:t>
            </a:r>
            <a:endParaRPr lang="en-US" sz="1000" dirty="0"/>
          </a:p>
        </p:txBody>
      </p:sp>
      <p:sp>
        <p:nvSpPr>
          <p:cNvPr id="26" name="bench-row-1-m0"/>
          <p:cNvSpPr/>
          <p:nvPr/>
        </p:nvSpPr>
        <p:spPr>
          <a:xfrm>
            <a:off x="3310128" y="3255264"/>
            <a:ext cx="2634386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0.51</a:t>
            </a:r>
            <a:endParaRPr lang="en-US" sz="1800" dirty="0"/>
          </a:p>
        </p:txBody>
      </p:sp>
      <p:sp>
        <p:nvSpPr>
          <p:cNvPr id="27" name="bench-row-1-m1"/>
          <p:cNvSpPr/>
          <p:nvPr/>
        </p:nvSpPr>
        <p:spPr>
          <a:xfrm>
            <a:off x="6081674" y="3255264"/>
            <a:ext cx="2634386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0.83</a:t>
            </a:r>
            <a:endParaRPr lang="en-US" sz="1800" dirty="0"/>
          </a:p>
        </p:txBody>
      </p:sp>
      <p:sp>
        <p:nvSpPr>
          <p:cNvPr id="28" name="bench-row-1-m2"/>
          <p:cNvSpPr/>
          <p:nvPr/>
        </p:nvSpPr>
        <p:spPr>
          <a:xfrm>
            <a:off x="8853221" y="3255264"/>
            <a:ext cx="2634386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0.30</a:t>
            </a:r>
            <a:endParaRPr lang="en-US" sz="1800" dirty="0"/>
          </a:p>
        </p:txBody>
      </p:sp>
      <p:sp>
        <p:nvSpPr>
          <p:cNvPr id="29" name="bench-row-current"/>
          <p:cNvSpPr/>
          <p:nvPr/>
        </p:nvSpPr>
        <p:spPr>
          <a:xfrm>
            <a:off x="457200" y="3986784"/>
            <a:ext cx="11277295" cy="749808"/>
          </a:xfrm>
          <a:prstGeom prst="roundRect">
            <a:avLst>
              <a:gd name="adj" fmla="val 12195"/>
            </a:avLst>
          </a:prstGeom>
          <a:solidFill>
            <a:srgbClr val="EAF1FE"/>
          </a:solidFill>
          <a:ln w="1397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30" name="bench-row-2-name"/>
          <p:cNvSpPr/>
          <p:nvPr/>
        </p:nvSpPr>
        <p:spPr>
          <a:xfrm>
            <a:off x="566928" y="4041648"/>
            <a:ext cx="2560320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 (v4, this week)</a:t>
            </a:r>
            <a:endParaRPr lang="en-US" sz="1400" dirty="0"/>
          </a:p>
        </p:txBody>
      </p:sp>
      <p:sp>
        <p:nvSpPr>
          <p:cNvPr id="31" name="bench-row-2-role"/>
          <p:cNvSpPr/>
          <p:nvPr/>
        </p:nvSpPr>
        <p:spPr>
          <a:xfrm>
            <a:off x="566928" y="4572000"/>
            <a:ext cx="25603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 · THIS WEEK</a:t>
            </a:r>
            <a:endParaRPr lang="en-US" sz="1000" dirty="0"/>
          </a:p>
        </p:txBody>
      </p:sp>
      <p:sp>
        <p:nvSpPr>
          <p:cNvPr id="32" name="bench-row-2-m0"/>
          <p:cNvSpPr/>
          <p:nvPr/>
        </p:nvSpPr>
        <p:spPr>
          <a:xfrm>
            <a:off x="3310128" y="4041648"/>
            <a:ext cx="2634386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0.58</a:t>
            </a:r>
            <a:endParaRPr lang="en-US" sz="2100" dirty="0"/>
          </a:p>
        </p:txBody>
      </p:sp>
      <p:sp>
        <p:nvSpPr>
          <p:cNvPr id="33" name="bench-row-2-m0-delta"/>
          <p:cNvSpPr/>
          <p:nvPr/>
        </p:nvSpPr>
        <p:spPr>
          <a:xfrm>
            <a:off x="3310128" y="4535424"/>
            <a:ext cx="263438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+0.07</a:t>
            </a:r>
            <a:endParaRPr lang="en-US" sz="1000" dirty="0"/>
          </a:p>
        </p:txBody>
      </p:sp>
      <p:sp>
        <p:nvSpPr>
          <p:cNvPr id="34" name="bench-row-2-m1"/>
          <p:cNvSpPr/>
          <p:nvPr/>
        </p:nvSpPr>
        <p:spPr>
          <a:xfrm>
            <a:off x="6081674" y="4041648"/>
            <a:ext cx="2634386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0.91</a:t>
            </a:r>
            <a:endParaRPr lang="en-US" sz="2100" dirty="0"/>
          </a:p>
        </p:txBody>
      </p:sp>
      <p:sp>
        <p:nvSpPr>
          <p:cNvPr id="35" name="bench-row-2-m1-delta"/>
          <p:cNvSpPr/>
          <p:nvPr/>
        </p:nvSpPr>
        <p:spPr>
          <a:xfrm>
            <a:off x="6081674" y="4535424"/>
            <a:ext cx="263438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+0.08</a:t>
            </a:r>
            <a:endParaRPr lang="en-US" sz="1000" dirty="0"/>
          </a:p>
        </p:txBody>
      </p:sp>
      <p:sp>
        <p:nvSpPr>
          <p:cNvPr id="36" name="bench-row-2-m2"/>
          <p:cNvSpPr/>
          <p:nvPr/>
        </p:nvSpPr>
        <p:spPr>
          <a:xfrm>
            <a:off x="8853221" y="4041648"/>
            <a:ext cx="2634386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0.34</a:t>
            </a:r>
            <a:endParaRPr lang="en-US" sz="2100" dirty="0"/>
          </a:p>
        </p:txBody>
      </p:sp>
      <p:sp>
        <p:nvSpPr>
          <p:cNvPr id="37" name="bench-row-2-m2-delta"/>
          <p:cNvSpPr/>
          <p:nvPr/>
        </p:nvSpPr>
        <p:spPr>
          <a:xfrm>
            <a:off x="8853221" y="4535424"/>
            <a:ext cx="263438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+0.04</a:t>
            </a:r>
            <a:endParaRPr lang="en-US" sz="1000" dirty="0"/>
          </a:p>
        </p:txBody>
      </p:sp>
      <p:sp>
        <p:nvSpPr>
          <p:cNvPr id="38" name="bench-caption"/>
          <p:cNvSpPr/>
          <p:nvPr/>
        </p:nvSpPr>
        <p:spPr>
          <a:xfrm>
            <a:off x="566928" y="5084064"/>
            <a:ext cx="11057839" cy="868680"/>
          </a:xfrm>
          <a:prstGeom prst="roundRect">
            <a:avLst>
              <a:gd name="adj" fmla="val 11579"/>
            </a:avLst>
          </a:prstGeom>
          <a:solidFill>
            <a:srgbClr val="F9FAFB"/>
          </a:solidFill>
          <a:ln w="13970">
            <a:solidFill>
              <a:srgbClr val="E5E7EB"/>
            </a:solidFill>
            <a:prstDash val="solid"/>
            <a:headEnd type="none"/>
            <a:tailEnd type="none"/>
          </a:ln>
        </p:spPr>
      </p:sp>
      <p:sp>
        <p:nvSpPr>
          <p:cNvPr id="39" name="bench-caption-t"/>
          <p:cNvSpPr/>
          <p:nvPr/>
        </p:nvSpPr>
        <p:spPr>
          <a:xfrm>
            <a:off x="822960" y="5212080"/>
            <a:ext cx="10545775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 improves both downstream metrics over v3. Feature recovery stays low; that is the evidence behind the weakened C1 and the emerging C2, not a hidden weakness.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kicker"/>
          <p:cNvSpPr/>
          <p:nvPr/>
        </p:nvSpPr>
        <p:spPr>
          <a:xfrm>
            <a:off x="566928" y="365760"/>
            <a:ext cx="68558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UPDATE</a:t>
            </a:r>
            <a:endParaRPr lang="en-US" sz="1200" dirty="0"/>
          </a:p>
        </p:txBody>
      </p:sp>
      <p:sp>
        <p:nvSpPr>
          <p:cNvPr id="4" name="header-meta"/>
          <p:cNvSpPr/>
          <p:nvPr/>
        </p:nvSpPr>
        <p:spPr>
          <a:xfrm>
            <a:off x="6648740" y="365760"/>
            <a:ext cx="497602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Future-Feature Prediction  ·  Week 6</a:t>
            </a:r>
            <a:endParaRPr lang="en-US" sz="1000" dirty="0"/>
          </a:p>
        </p:txBody>
      </p:sp>
      <p:sp>
        <p:nvSpPr>
          <p:cNvPr id="5" name="title-main"/>
          <p:cNvSpPr/>
          <p:nvPr/>
        </p:nvSpPr>
        <p:spPr>
          <a:xfrm>
            <a:off x="566928" y="621792"/>
            <a:ext cx="11057839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week does to our claims</a:t>
            </a:r>
            <a:endParaRPr lang="en-US" sz="2700" dirty="0"/>
          </a:p>
        </p:txBody>
      </p:sp>
      <p:sp>
        <p:nvSpPr>
          <p:cNvPr id="6" name="chrome-rule"/>
          <p:cNvSpPr/>
          <p:nvPr/>
        </p:nvSpPr>
        <p:spPr>
          <a:xfrm>
            <a:off x="566928" y="1243584"/>
            <a:ext cx="11057839" cy="20117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chrome-rule-accent"/>
          <p:cNvSpPr/>
          <p:nvPr/>
        </p:nvSpPr>
        <p:spPr>
          <a:xfrm>
            <a:off x="566928" y="1243584"/>
            <a:ext cx="1051560" cy="20117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footer-text"/>
          <p:cNvSpPr/>
          <p:nvPr/>
        </p:nvSpPr>
        <p:spPr>
          <a:xfrm>
            <a:off x="566928" y="6419088"/>
            <a:ext cx="8293379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Future-Feature Prediction · synthetic demo</a:t>
            </a:r>
            <a:endParaRPr lang="en-US" sz="1000" dirty="0"/>
          </a:p>
        </p:txBody>
      </p:sp>
      <p:sp>
        <p:nvSpPr>
          <p:cNvPr id="9" name="footer-slide-number"/>
          <p:cNvSpPr/>
          <p:nvPr/>
        </p:nvSpPr>
        <p:spPr>
          <a:xfrm>
            <a:off x="10076670" y="6419088"/>
            <a:ext cx="1548097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  <p:sp>
        <p:nvSpPr>
          <p:cNvPr id="10" name="claimdelta-C1"/>
          <p:cNvSpPr/>
          <p:nvPr/>
        </p:nvSpPr>
        <p:spPr>
          <a:xfrm>
            <a:off x="566928" y="1627632"/>
            <a:ext cx="11057839" cy="1417320"/>
          </a:xfrm>
          <a:prstGeom prst="roundRect">
            <a:avLst>
              <a:gd name="adj" fmla="val 7097"/>
            </a:avLst>
          </a:prstGeom>
          <a:solidFill>
            <a:srgbClr val="F9FAFB"/>
          </a:solidFill>
          <a:ln w="13970">
            <a:solidFill>
              <a:srgbClr val="E5E7EB"/>
            </a:solidFill>
            <a:prstDash val="solid"/>
            <a:headEnd type="none"/>
            <a:tailEnd type="none"/>
          </a:ln>
        </p:spPr>
      </p:sp>
      <p:sp>
        <p:nvSpPr>
          <p:cNvPr id="11" name="claimdelta-C1-id"/>
          <p:cNvSpPr/>
          <p:nvPr/>
        </p:nvSpPr>
        <p:spPr>
          <a:xfrm>
            <a:off x="786384" y="1755648"/>
            <a:ext cx="10972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600" dirty="0"/>
          </a:p>
        </p:txBody>
      </p:sp>
      <p:sp>
        <p:nvSpPr>
          <p:cNvPr id="12" name="claimdelta-C1-stmt"/>
          <p:cNvSpPr/>
          <p:nvPr/>
        </p:nvSpPr>
        <p:spPr>
          <a:xfrm>
            <a:off x="786384" y="2084832"/>
            <a:ext cx="685586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learned correction approximates the true future feature.</a:t>
            </a:r>
            <a:endParaRPr lang="en-US" sz="1400" dirty="0"/>
          </a:p>
        </p:txBody>
      </p:sp>
      <p:sp>
        <p:nvSpPr>
          <p:cNvPr id="13" name="claimdelta-C1-prev"/>
          <p:cNvSpPr/>
          <p:nvPr/>
        </p:nvSpPr>
        <p:spPr>
          <a:xfrm>
            <a:off x="7921447" y="2180844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14" name="claimdelta-C1-prev__label"/>
          <p:cNvSpPr/>
          <p:nvPr/>
        </p:nvSpPr>
        <p:spPr>
          <a:xfrm>
            <a:off x="7921447" y="2180844"/>
            <a:ext cx="15087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plausible</a:t>
            </a:r>
            <a:endParaRPr lang="en-US" sz="1000" dirty="0"/>
          </a:p>
        </p:txBody>
      </p:sp>
      <p:sp>
        <p:nvSpPr>
          <p:cNvPr id="15" name="claimdelta-C1-arr"/>
          <p:cNvSpPr/>
          <p:nvPr/>
        </p:nvSpPr>
        <p:spPr>
          <a:xfrm>
            <a:off x="9475927" y="2336292"/>
            <a:ext cx="502920" cy="0"/>
          </a:xfrm>
          <a:prstGeom prst="line">
            <a:avLst/>
          </a:prstGeom>
          <a:noFill/>
          <a:ln w="13970">
            <a:solidFill>
              <a:srgbClr val="374151"/>
            </a:solidFill>
            <a:prstDash val="solid"/>
            <a:headEnd type="none"/>
            <a:tailEnd type="triangle"/>
          </a:ln>
        </p:spPr>
      </p:sp>
      <p:sp>
        <p:nvSpPr>
          <p:cNvPr id="16" name="claimdelta-C1-curr"/>
          <p:cNvSpPr/>
          <p:nvPr/>
        </p:nvSpPr>
        <p:spPr>
          <a:xfrm>
            <a:off x="10088575" y="2180844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B91C1C"/>
            </a:solidFill>
            <a:prstDash val="solid"/>
            <a:headEnd type="none"/>
            <a:tailEnd type="none"/>
          </a:ln>
        </p:spPr>
      </p:sp>
      <p:sp>
        <p:nvSpPr>
          <p:cNvPr id="17" name="claimdelta-C1-curr__label"/>
          <p:cNvSpPr/>
          <p:nvPr/>
        </p:nvSpPr>
        <p:spPr>
          <a:xfrm>
            <a:off x="10088575" y="2180844"/>
            <a:ext cx="15087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weakened</a:t>
            </a:r>
            <a:endParaRPr lang="en-US" sz="1000" dirty="0"/>
          </a:p>
        </p:txBody>
      </p:sp>
      <p:sp>
        <p:nvSpPr>
          <p:cNvPr id="18" name="claimdelta-C1-note"/>
          <p:cNvSpPr/>
          <p:nvPr/>
        </p:nvSpPr>
        <p:spPr>
          <a:xfrm>
            <a:off x="7643945" y="2642616"/>
            <a:ext cx="331735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D1: cos 0.117</a:t>
            </a:r>
            <a:endParaRPr lang="en-US" sz="1000" dirty="0"/>
          </a:p>
        </p:txBody>
      </p:sp>
      <p:sp>
        <p:nvSpPr>
          <p:cNvPr id="19" name="claimdelta-C2"/>
          <p:cNvSpPr/>
          <p:nvPr/>
        </p:nvSpPr>
        <p:spPr>
          <a:xfrm>
            <a:off x="566928" y="3154680"/>
            <a:ext cx="11057839" cy="1417320"/>
          </a:xfrm>
          <a:prstGeom prst="roundRect">
            <a:avLst>
              <a:gd name="adj" fmla="val 7097"/>
            </a:avLst>
          </a:prstGeom>
          <a:solidFill>
            <a:srgbClr val="F9FAFB"/>
          </a:solidFill>
          <a:ln w="13970">
            <a:solidFill>
              <a:srgbClr val="E5E7EB"/>
            </a:solidFill>
            <a:prstDash val="solid"/>
            <a:headEnd type="none"/>
            <a:tailEnd type="none"/>
          </a:ln>
        </p:spPr>
      </p:sp>
      <p:sp>
        <p:nvSpPr>
          <p:cNvPr id="20" name="claimdelta-C2-id"/>
          <p:cNvSpPr/>
          <p:nvPr/>
        </p:nvSpPr>
        <p:spPr>
          <a:xfrm>
            <a:off x="786384" y="3282696"/>
            <a:ext cx="10972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600" dirty="0"/>
          </a:p>
        </p:txBody>
      </p:sp>
      <p:sp>
        <p:nvSpPr>
          <p:cNvPr id="21" name="claimdelta-C2-stmt"/>
          <p:cNvSpPr/>
          <p:nvPr/>
        </p:nvSpPr>
        <p:spPr>
          <a:xfrm>
            <a:off x="786384" y="3611880"/>
            <a:ext cx="685586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alternative downstream-valid pre-image may be sufficient; output recovery does not require feature recovery.</a:t>
            </a:r>
            <a:endParaRPr lang="en-US" sz="1400" dirty="0"/>
          </a:p>
        </p:txBody>
      </p:sp>
      <p:sp>
        <p:nvSpPr>
          <p:cNvPr id="22" name="claimdelta-C2-prev"/>
          <p:cNvSpPr/>
          <p:nvPr/>
        </p:nvSpPr>
        <p:spPr>
          <a:xfrm>
            <a:off x="7921447" y="3707892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9CA3AF"/>
            </a:solidFill>
            <a:prstDash val="solid"/>
            <a:headEnd type="none"/>
            <a:tailEnd type="none"/>
          </a:ln>
        </p:spPr>
      </p:sp>
      <p:sp>
        <p:nvSpPr>
          <p:cNvPr id="23" name="claimdelta-C2-prev__label"/>
          <p:cNvSpPr/>
          <p:nvPr/>
        </p:nvSpPr>
        <p:spPr>
          <a:xfrm>
            <a:off x="7921447" y="3707892"/>
            <a:ext cx="15087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</a:t>
            </a:r>
            <a:endParaRPr lang="en-US" sz="1000" dirty="0"/>
          </a:p>
        </p:txBody>
      </p:sp>
      <p:sp>
        <p:nvSpPr>
          <p:cNvPr id="24" name="claimdelta-C2-arr"/>
          <p:cNvSpPr/>
          <p:nvPr/>
        </p:nvSpPr>
        <p:spPr>
          <a:xfrm>
            <a:off x="9475927" y="3863340"/>
            <a:ext cx="502920" cy="0"/>
          </a:xfrm>
          <a:prstGeom prst="line">
            <a:avLst/>
          </a:prstGeom>
          <a:noFill/>
          <a:ln w="13970">
            <a:solidFill>
              <a:srgbClr val="374151"/>
            </a:solidFill>
            <a:prstDash val="solid"/>
            <a:headEnd type="none"/>
            <a:tailEnd type="triangle"/>
          </a:ln>
        </p:spPr>
      </p:sp>
      <p:sp>
        <p:nvSpPr>
          <p:cNvPr id="25" name="claimdelta-C2-curr"/>
          <p:cNvSpPr/>
          <p:nvPr/>
        </p:nvSpPr>
        <p:spPr>
          <a:xfrm>
            <a:off x="10088575" y="3707892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26" name="claimdelta-C2-curr__label"/>
          <p:cNvSpPr/>
          <p:nvPr/>
        </p:nvSpPr>
        <p:spPr>
          <a:xfrm>
            <a:off x="10088575" y="3707892"/>
            <a:ext cx="15087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</a:t>
            </a:r>
            <a:endParaRPr lang="en-US" sz="1000" dirty="0"/>
          </a:p>
        </p:txBody>
      </p:sp>
      <p:sp>
        <p:nvSpPr>
          <p:cNvPr id="27" name="claimdelta-C2-note"/>
          <p:cNvSpPr/>
          <p:nvPr/>
        </p:nvSpPr>
        <p:spPr>
          <a:xfrm>
            <a:off x="7643945" y="4169664"/>
            <a:ext cx="331735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D2: high output, low feature recovery</a:t>
            </a:r>
            <a:endParaRPr lang="en-US" sz="1000" dirty="0"/>
          </a:p>
        </p:txBody>
      </p:sp>
      <p:sp>
        <p:nvSpPr>
          <p:cNvPr id="28" name="claimdelta-note"/>
          <p:cNvSpPr/>
          <p:nvPr/>
        </p:nvSpPr>
        <p:spPr>
          <a:xfrm>
            <a:off x="566928" y="4727448"/>
            <a:ext cx="11057839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claim is refuted or confirmed; both remain under test.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kicker"/>
          <p:cNvSpPr/>
          <p:nvPr/>
        </p:nvSpPr>
        <p:spPr>
          <a:xfrm>
            <a:off x="566928" y="365760"/>
            <a:ext cx="68558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</a:t>
            </a:r>
            <a:endParaRPr lang="en-US" sz="1200" dirty="0"/>
          </a:p>
        </p:txBody>
      </p:sp>
      <p:sp>
        <p:nvSpPr>
          <p:cNvPr id="4" name="header-meta"/>
          <p:cNvSpPr/>
          <p:nvPr/>
        </p:nvSpPr>
        <p:spPr>
          <a:xfrm>
            <a:off x="6648740" y="365760"/>
            <a:ext cx="497602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Future-Feature Prediction  ·  Week 6</a:t>
            </a:r>
            <a:endParaRPr lang="en-US" sz="1000" dirty="0"/>
          </a:p>
        </p:txBody>
      </p:sp>
      <p:sp>
        <p:nvSpPr>
          <p:cNvPr id="5" name="title-main"/>
          <p:cNvSpPr/>
          <p:nvPr/>
        </p:nvSpPr>
        <p:spPr>
          <a:xfrm>
            <a:off x="566928" y="621792"/>
            <a:ext cx="11057839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D2: does output recovery require feature recovery?</a:t>
            </a:r>
            <a:endParaRPr lang="en-US" sz="2700" dirty="0"/>
          </a:p>
        </p:txBody>
      </p:sp>
      <p:sp>
        <p:nvSpPr>
          <p:cNvPr id="6" name="chrome-rule"/>
          <p:cNvSpPr/>
          <p:nvPr/>
        </p:nvSpPr>
        <p:spPr>
          <a:xfrm>
            <a:off x="566928" y="1243584"/>
            <a:ext cx="11057839" cy="20117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chrome-rule-accent"/>
          <p:cNvSpPr/>
          <p:nvPr/>
        </p:nvSpPr>
        <p:spPr>
          <a:xfrm>
            <a:off x="566928" y="1243584"/>
            <a:ext cx="1051560" cy="20117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footer-text"/>
          <p:cNvSpPr/>
          <p:nvPr/>
        </p:nvSpPr>
        <p:spPr>
          <a:xfrm>
            <a:off x="566928" y="6419088"/>
            <a:ext cx="8293379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Future-Feature Prediction · synthetic demo</a:t>
            </a:r>
            <a:endParaRPr lang="en-US" sz="1000" dirty="0"/>
          </a:p>
        </p:txBody>
      </p:sp>
      <p:sp>
        <p:nvSpPr>
          <p:cNvPr id="9" name="footer-slide-number"/>
          <p:cNvSpPr/>
          <p:nvPr/>
        </p:nvSpPr>
        <p:spPr>
          <a:xfrm>
            <a:off x="10076670" y="6419088"/>
            <a:ext cx="1548097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  <p:sp>
        <p:nvSpPr>
          <p:cNvPr id="10" name="diag-D2-q"/>
          <p:cNvSpPr/>
          <p:nvPr/>
        </p:nvSpPr>
        <p:spPr>
          <a:xfrm>
            <a:off x="566928" y="1536192"/>
            <a:ext cx="11057839" cy="786384"/>
          </a:xfrm>
          <a:prstGeom prst="roundRect">
            <a:avLst>
              <a:gd name="adj" fmla="val 12791"/>
            </a:avLst>
          </a:prstGeom>
          <a:solidFill>
            <a:srgbClr val="EAF1FE"/>
          </a:solidFill>
          <a:ln w="1397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11" name="diag-D2-q-k"/>
          <p:cNvSpPr/>
          <p:nvPr/>
        </p:nvSpPr>
        <p:spPr>
          <a:xfrm>
            <a:off x="804672" y="1627632"/>
            <a:ext cx="10972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1300" dirty="0"/>
          </a:p>
        </p:txBody>
      </p:sp>
      <p:sp>
        <p:nvSpPr>
          <p:cNvPr id="12" name="diag-D2-q-t"/>
          <p:cNvSpPr/>
          <p:nvPr/>
        </p:nvSpPr>
        <p:spPr>
          <a:xfrm>
            <a:off x="1801368" y="1627632"/>
            <a:ext cx="8040319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output recovery require feature recovery?</a:t>
            </a:r>
            <a:endParaRPr lang="en-US" sz="1700" dirty="0"/>
          </a:p>
        </p:txBody>
      </p:sp>
      <p:sp>
        <p:nvSpPr>
          <p:cNvPr id="13" name="diag-D2-link-0"/>
          <p:cNvSpPr/>
          <p:nvPr/>
        </p:nvSpPr>
        <p:spPr>
          <a:xfrm>
            <a:off x="10024567" y="1773936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14" name="diag-D2-link-0__label"/>
          <p:cNvSpPr/>
          <p:nvPr/>
        </p:nvSpPr>
        <p:spPr>
          <a:xfrm>
            <a:off x="10024567" y="1773936"/>
            <a:ext cx="713232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C2</a:t>
            </a:r>
            <a:endParaRPr lang="en-US" sz="1000" dirty="0"/>
          </a:p>
        </p:txBody>
      </p:sp>
      <p:sp>
        <p:nvSpPr>
          <p:cNvPr id="15" name="diag-D2-measurement"/>
          <p:cNvSpPr/>
          <p:nvPr/>
        </p:nvSpPr>
        <p:spPr>
          <a:xfrm>
            <a:off x="566928" y="2505456"/>
            <a:ext cx="6302968" cy="1042416"/>
          </a:xfrm>
          <a:prstGeom prst="roundRect">
            <a:avLst>
              <a:gd name="adj" fmla="val 9649"/>
            </a:avLst>
          </a:prstGeom>
          <a:solidFill>
            <a:srgbClr val="F9FAFB"/>
          </a:solidFill>
          <a:ln w="13970">
            <a:solidFill>
              <a:srgbClr val="E5E7EB"/>
            </a:solidFill>
            <a:prstDash val="solid"/>
            <a:headEnd type="none"/>
            <a:tailEnd type="none"/>
          </a:ln>
        </p:spPr>
      </p:sp>
      <p:sp>
        <p:nvSpPr>
          <p:cNvPr id="16" name="diag-D2-measurement-k"/>
          <p:cNvSpPr/>
          <p:nvPr/>
        </p:nvSpPr>
        <p:spPr>
          <a:xfrm>
            <a:off x="768096" y="2596896"/>
            <a:ext cx="590063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1000" dirty="0"/>
          </a:p>
        </p:txBody>
      </p:sp>
      <p:sp>
        <p:nvSpPr>
          <p:cNvPr id="17" name="diag-D2-measurement-t"/>
          <p:cNvSpPr/>
          <p:nvPr/>
        </p:nvSpPr>
        <p:spPr>
          <a:xfrm>
            <a:off x="768096" y="2871216"/>
            <a:ext cx="5900632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 probe R^2 for recovering Z_d from the corrected feature = 0.34; downstream accuracy = 0.91</a:t>
            </a:r>
            <a:endParaRPr lang="en-US" sz="1500" dirty="0"/>
          </a:p>
        </p:txBody>
      </p:sp>
      <p:sp>
        <p:nvSpPr>
          <p:cNvPr id="18" name="diag-D2-observation"/>
          <p:cNvSpPr/>
          <p:nvPr/>
        </p:nvSpPr>
        <p:spPr>
          <a:xfrm>
            <a:off x="566928" y="3639312"/>
            <a:ext cx="6302968" cy="1042416"/>
          </a:xfrm>
          <a:prstGeom prst="roundRect">
            <a:avLst>
              <a:gd name="adj" fmla="val 9649"/>
            </a:avLst>
          </a:prstGeom>
          <a:solidFill>
            <a:srgbClr val="FFFFFF"/>
          </a:solidFill>
          <a:ln w="13970">
            <a:solidFill>
              <a:srgbClr val="E5E7EB"/>
            </a:solidFill>
            <a:prstDash val="solid"/>
            <a:headEnd type="none"/>
            <a:tailEnd type="none"/>
          </a:ln>
        </p:spPr>
      </p:sp>
      <p:sp>
        <p:nvSpPr>
          <p:cNvPr id="19" name="diag-D2-observation-k"/>
          <p:cNvSpPr/>
          <p:nvPr/>
        </p:nvSpPr>
        <p:spPr>
          <a:xfrm>
            <a:off x="768096" y="3730752"/>
            <a:ext cx="590063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000" dirty="0"/>
          </a:p>
        </p:txBody>
      </p:sp>
      <p:sp>
        <p:nvSpPr>
          <p:cNvPr id="20" name="diag-D2-observation-t"/>
          <p:cNvSpPr/>
          <p:nvPr/>
        </p:nvSpPr>
        <p:spPr>
          <a:xfrm>
            <a:off x="768096" y="4005072"/>
            <a:ext cx="5900632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accuracy is high while feature recovery remains low.</a:t>
            </a:r>
            <a:endParaRPr lang="en-US" sz="1400" dirty="0"/>
          </a:p>
        </p:txBody>
      </p:sp>
      <p:sp>
        <p:nvSpPr>
          <p:cNvPr id="21" name="diag-D2-interpretation"/>
          <p:cNvSpPr/>
          <p:nvPr/>
        </p:nvSpPr>
        <p:spPr>
          <a:xfrm>
            <a:off x="566928" y="4773168"/>
            <a:ext cx="6302968" cy="1042416"/>
          </a:xfrm>
          <a:prstGeom prst="roundRect">
            <a:avLst>
              <a:gd name="adj" fmla="val 9649"/>
            </a:avLst>
          </a:prstGeom>
          <a:solidFill>
            <a:srgbClr val="EAF1FE"/>
          </a:solidFill>
          <a:ln w="1397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22" name="diag-D2-interpretation-k"/>
          <p:cNvSpPr/>
          <p:nvPr/>
        </p:nvSpPr>
        <p:spPr>
          <a:xfrm>
            <a:off x="768096" y="4864608"/>
            <a:ext cx="590063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000" dirty="0"/>
          </a:p>
        </p:txBody>
      </p:sp>
      <p:sp>
        <p:nvSpPr>
          <p:cNvPr id="23" name="diag-D2-interpretation-t"/>
          <p:cNvSpPr/>
          <p:nvPr/>
        </p:nvSpPr>
        <p:spPr>
          <a:xfrm>
            <a:off x="768096" y="5138928"/>
            <a:ext cx="5900632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downstream-valid pre-image that is not the true future feature may be sufficient.</a:t>
            </a:r>
            <a:endParaRPr lang="en-US" sz="1400" dirty="0"/>
          </a:p>
        </p:txBody>
      </p:sp>
      <p:sp>
        <p:nvSpPr>
          <p:cNvPr id="24" name="diag-D2-can_conclude"/>
          <p:cNvSpPr/>
          <p:nvPr/>
        </p:nvSpPr>
        <p:spPr>
          <a:xfrm>
            <a:off x="7201632" y="2505456"/>
            <a:ext cx="4423136" cy="1042416"/>
          </a:xfrm>
          <a:prstGeom prst="roundRect">
            <a:avLst>
              <a:gd name="adj" fmla="val 9649"/>
            </a:avLst>
          </a:prstGeom>
          <a:solidFill>
            <a:srgbClr val="DCFCE7"/>
          </a:solidFill>
          <a:ln w="13970">
            <a:solidFill>
              <a:srgbClr val="047857"/>
            </a:solidFill>
            <a:prstDash val="solid"/>
            <a:headEnd type="none"/>
            <a:tailEnd type="none"/>
          </a:ln>
        </p:spPr>
      </p:sp>
      <p:sp>
        <p:nvSpPr>
          <p:cNvPr id="25" name="diag-D2-can_conclude-k"/>
          <p:cNvSpPr/>
          <p:nvPr/>
        </p:nvSpPr>
        <p:spPr>
          <a:xfrm>
            <a:off x="7402800" y="2596896"/>
            <a:ext cx="40208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CONCLUDE</a:t>
            </a:r>
            <a:endParaRPr lang="en-US" sz="1000" dirty="0"/>
          </a:p>
        </p:txBody>
      </p:sp>
      <p:sp>
        <p:nvSpPr>
          <p:cNvPr id="26" name="diag-D2-can_conclude-t"/>
          <p:cNvSpPr/>
          <p:nvPr/>
        </p:nvSpPr>
        <p:spPr>
          <a:xfrm>
            <a:off x="7402800" y="2871216"/>
            <a:ext cx="402080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recovery can occur without strong feature recovery in this setup.</a:t>
            </a:r>
            <a:endParaRPr lang="en-US" sz="1200" dirty="0"/>
          </a:p>
        </p:txBody>
      </p:sp>
      <p:sp>
        <p:nvSpPr>
          <p:cNvPr id="27" name="diag-D2-cannot_conclude"/>
          <p:cNvSpPr/>
          <p:nvPr/>
        </p:nvSpPr>
        <p:spPr>
          <a:xfrm>
            <a:off x="7201632" y="3639312"/>
            <a:ext cx="4423136" cy="1042416"/>
          </a:xfrm>
          <a:prstGeom prst="roundRect">
            <a:avLst>
              <a:gd name="adj" fmla="val 9649"/>
            </a:avLst>
          </a:prstGeom>
          <a:solidFill>
            <a:srgbClr val="FEE2E2"/>
          </a:solidFill>
          <a:ln w="13970">
            <a:solidFill>
              <a:srgbClr val="B91C1C"/>
            </a:solidFill>
            <a:prstDash val="solid"/>
            <a:headEnd type="none"/>
            <a:tailEnd type="none"/>
          </a:ln>
        </p:spPr>
      </p:sp>
      <p:sp>
        <p:nvSpPr>
          <p:cNvPr id="28" name="diag-D2-cannot_conclude-k"/>
          <p:cNvSpPr/>
          <p:nvPr/>
        </p:nvSpPr>
        <p:spPr>
          <a:xfrm>
            <a:off x="7402800" y="3730752"/>
            <a:ext cx="40208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CONCLUDE</a:t>
            </a:r>
            <a:endParaRPr lang="en-US" sz="1000" dirty="0"/>
          </a:p>
        </p:txBody>
      </p:sp>
      <p:sp>
        <p:nvSpPr>
          <p:cNvPr id="29" name="diag-D2-cannot_conclude-t"/>
          <p:cNvSpPr/>
          <p:nvPr/>
        </p:nvSpPr>
        <p:spPr>
          <a:xfrm>
            <a:off x="7402800" y="4005072"/>
            <a:ext cx="402080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no valid feature recovery exists, or that the probe is a complete measurement.</a:t>
            </a:r>
            <a:endParaRPr lang="en-US" sz="1200" dirty="0"/>
          </a:p>
        </p:txBody>
      </p:sp>
      <p:sp>
        <p:nvSpPr>
          <p:cNvPr id="30" name="diag-D2-alternative_explanation"/>
          <p:cNvSpPr/>
          <p:nvPr/>
        </p:nvSpPr>
        <p:spPr>
          <a:xfrm>
            <a:off x="7201632" y="4773168"/>
            <a:ext cx="4423136" cy="1042416"/>
          </a:xfrm>
          <a:prstGeom prst="roundRect">
            <a:avLst>
              <a:gd name="adj" fmla="val 9649"/>
            </a:avLst>
          </a:prstGeom>
          <a:solidFill>
            <a:srgbClr val="F9FAFB"/>
          </a:solidFill>
          <a:ln w="13970">
            <a:solidFill>
              <a:srgbClr val="6B7280"/>
            </a:solidFill>
            <a:prstDash val="solid"/>
            <a:headEnd type="none"/>
            <a:tailEnd type="none"/>
          </a:ln>
        </p:spPr>
      </p:sp>
      <p:sp>
        <p:nvSpPr>
          <p:cNvPr id="31" name="diag-D2-alternative_explanation-k"/>
          <p:cNvSpPr/>
          <p:nvPr/>
        </p:nvSpPr>
        <p:spPr>
          <a:xfrm>
            <a:off x="7402800" y="4864608"/>
            <a:ext cx="40208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TARGETED</a:t>
            </a:r>
            <a:endParaRPr lang="en-US" sz="1000" dirty="0"/>
          </a:p>
        </p:txBody>
      </p:sp>
      <p:sp>
        <p:nvSpPr>
          <p:cNvPr id="32" name="diag-D2-alternative_explanation-t"/>
          <p:cNvSpPr/>
          <p:nvPr/>
        </p:nvSpPr>
        <p:spPr>
          <a:xfrm>
            <a:off x="7402800" y="5138928"/>
            <a:ext cx="402080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probe may fail to decode information that is present in the feature.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kicker"/>
          <p:cNvSpPr/>
          <p:nvPr/>
        </p:nvSpPr>
        <p:spPr>
          <a:xfrm>
            <a:off x="566928" y="365760"/>
            <a:ext cx="68558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4" name="header-meta"/>
          <p:cNvSpPr/>
          <p:nvPr/>
        </p:nvSpPr>
        <p:spPr>
          <a:xfrm>
            <a:off x="6648740" y="365760"/>
            <a:ext cx="497602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Future-Feature Prediction  ·  Week 6</a:t>
            </a:r>
            <a:endParaRPr lang="en-US" sz="1000" dirty="0"/>
          </a:p>
        </p:txBody>
      </p:sp>
      <p:sp>
        <p:nvSpPr>
          <p:cNvPr id="5" name="title-main"/>
          <p:cNvSpPr/>
          <p:nvPr/>
        </p:nvSpPr>
        <p:spPr>
          <a:xfrm>
            <a:off x="566928" y="621792"/>
            <a:ext cx="11057839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open questions</a:t>
            </a:r>
            <a:endParaRPr lang="en-US" sz="2700" dirty="0"/>
          </a:p>
        </p:txBody>
      </p:sp>
      <p:sp>
        <p:nvSpPr>
          <p:cNvPr id="6" name="chrome-rule"/>
          <p:cNvSpPr/>
          <p:nvPr/>
        </p:nvSpPr>
        <p:spPr>
          <a:xfrm>
            <a:off x="566928" y="1243584"/>
            <a:ext cx="11057839" cy="20117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chrome-rule-accent"/>
          <p:cNvSpPr/>
          <p:nvPr/>
        </p:nvSpPr>
        <p:spPr>
          <a:xfrm>
            <a:off x="566928" y="1243584"/>
            <a:ext cx="1051560" cy="20117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footer-text"/>
          <p:cNvSpPr/>
          <p:nvPr/>
        </p:nvSpPr>
        <p:spPr>
          <a:xfrm>
            <a:off x="566928" y="6419088"/>
            <a:ext cx="8293379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Future-Feature Prediction · synthetic demo</a:t>
            </a:r>
            <a:endParaRPr lang="en-US" sz="1000" dirty="0"/>
          </a:p>
        </p:txBody>
      </p:sp>
      <p:sp>
        <p:nvSpPr>
          <p:cNvPr id="9" name="footer-slide-number"/>
          <p:cNvSpPr/>
          <p:nvPr/>
        </p:nvSpPr>
        <p:spPr>
          <a:xfrm>
            <a:off x="10076670" y="6419088"/>
            <a:ext cx="1548097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000" dirty="0"/>
          </a:p>
        </p:txBody>
      </p:sp>
      <p:sp>
        <p:nvSpPr>
          <p:cNvPr id="10" name="lim-panel"/>
          <p:cNvSpPr/>
          <p:nvPr/>
        </p:nvSpPr>
        <p:spPr>
          <a:xfrm>
            <a:off x="566928" y="1572768"/>
            <a:ext cx="5750076" cy="4297680"/>
          </a:xfrm>
          <a:prstGeom prst="roundRect">
            <a:avLst>
              <a:gd name="adj" fmla="val 2340"/>
            </a:avLst>
          </a:prstGeom>
          <a:solidFill>
            <a:srgbClr val="F9FAFB"/>
          </a:solidFill>
          <a:ln w="13970">
            <a:solidFill>
              <a:srgbClr val="E5E7EB"/>
            </a:solidFill>
            <a:prstDash val="solid"/>
            <a:headEnd type="none"/>
            <a:tailEnd type="none"/>
          </a:ln>
        </p:spPr>
      </p:sp>
      <p:sp>
        <p:nvSpPr>
          <p:cNvPr id="11" name="lim-panel__title"/>
          <p:cNvSpPr/>
          <p:nvPr/>
        </p:nvSpPr>
        <p:spPr>
          <a:xfrm>
            <a:off x="768096" y="1719072"/>
            <a:ext cx="53477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400" dirty="0"/>
          </a:p>
        </p:txBody>
      </p:sp>
      <p:sp>
        <p:nvSpPr>
          <p:cNvPr id="12" name="lim-0-n"/>
          <p:cNvSpPr/>
          <p:nvPr/>
        </p:nvSpPr>
        <p:spPr>
          <a:xfrm>
            <a:off x="804672" y="2231136"/>
            <a:ext cx="3657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lim-0"/>
          <p:cNvSpPr/>
          <p:nvPr/>
        </p:nvSpPr>
        <p:spPr>
          <a:xfrm>
            <a:off x="1188720" y="2231136"/>
            <a:ext cx="4872252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valid pre-images have not been directly characterized.</a:t>
            </a:r>
            <a:endParaRPr lang="en-US" sz="1400" dirty="0"/>
          </a:p>
        </p:txBody>
      </p:sp>
      <p:sp>
        <p:nvSpPr>
          <p:cNvPr id="14" name="lim-1-n"/>
          <p:cNvSpPr/>
          <p:nvPr/>
        </p:nvSpPr>
        <p:spPr>
          <a:xfrm>
            <a:off x="804672" y="3127248"/>
            <a:ext cx="3657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lim-1"/>
          <p:cNvSpPr/>
          <p:nvPr/>
        </p:nvSpPr>
        <p:spPr>
          <a:xfrm>
            <a:off x="1188720" y="3127248"/>
            <a:ext cx="4872252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oracle diagnostic uses the future feature as an upper bound and is unavailable at inference.</a:t>
            </a:r>
            <a:endParaRPr lang="en-US" sz="1400" dirty="0"/>
          </a:p>
        </p:txBody>
      </p:sp>
      <p:sp>
        <p:nvSpPr>
          <p:cNvPr id="16" name="lim-2-n"/>
          <p:cNvSpPr/>
          <p:nvPr/>
        </p:nvSpPr>
        <p:spPr>
          <a:xfrm>
            <a:off x="804672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lim-2"/>
          <p:cNvSpPr/>
          <p:nvPr/>
        </p:nvSpPr>
        <p:spPr>
          <a:xfrm>
            <a:off x="1188720" y="4023360"/>
            <a:ext cx="4872252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recovery is measured with a single linear probe.</a:t>
            </a:r>
            <a:endParaRPr lang="en-US" sz="1400" dirty="0"/>
          </a:p>
        </p:txBody>
      </p:sp>
      <p:sp>
        <p:nvSpPr>
          <p:cNvPr id="18" name="lim-open"/>
          <p:cNvSpPr/>
          <p:nvPr/>
        </p:nvSpPr>
        <p:spPr>
          <a:xfrm>
            <a:off x="6648740" y="1572768"/>
            <a:ext cx="4976028" cy="4297680"/>
          </a:xfrm>
          <a:prstGeom prst="roundRect">
            <a:avLst>
              <a:gd name="adj" fmla="val 2340"/>
            </a:avLst>
          </a:prstGeom>
          <a:solidFill>
            <a:srgbClr val="F9FAFB"/>
          </a:solidFill>
          <a:ln w="13970">
            <a:solidFill>
              <a:srgbClr val="E5E7EB"/>
            </a:solidFill>
            <a:prstDash val="solid"/>
            <a:headEnd type="none"/>
            <a:tailEnd type="none"/>
          </a:ln>
        </p:spPr>
      </p:sp>
      <p:sp>
        <p:nvSpPr>
          <p:cNvPr id="19" name="lim-open__title"/>
          <p:cNvSpPr/>
          <p:nvPr/>
        </p:nvSpPr>
        <p:spPr>
          <a:xfrm>
            <a:off x="6849908" y="1719072"/>
            <a:ext cx="457369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</a:t>
            </a:r>
            <a:endParaRPr lang="en-US" sz="1400" dirty="0"/>
          </a:p>
        </p:txBody>
      </p:sp>
      <p:sp>
        <p:nvSpPr>
          <p:cNvPr id="20" name="lim-open-0-q"/>
          <p:cNvSpPr/>
          <p:nvPr/>
        </p:nvSpPr>
        <p:spPr>
          <a:xfrm>
            <a:off x="6886484" y="2231136"/>
            <a:ext cx="3657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sp>
        <p:nvSpPr>
          <p:cNvPr id="21" name="lim-open-0"/>
          <p:cNvSpPr/>
          <p:nvPr/>
        </p:nvSpPr>
        <p:spPr>
          <a:xfrm>
            <a:off x="7270532" y="2231136"/>
            <a:ext cx="4098204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characterize downstream-valid pre-images without the oracle?</a:t>
            </a:r>
            <a:endParaRPr lang="en-US" sz="1400" dirty="0"/>
          </a:p>
        </p:txBody>
      </p:sp>
      <p:sp>
        <p:nvSpPr>
          <p:cNvPr id="22" name="lim-open-1-q"/>
          <p:cNvSpPr/>
          <p:nvPr/>
        </p:nvSpPr>
        <p:spPr>
          <a:xfrm>
            <a:off x="6886484" y="3127248"/>
            <a:ext cx="3657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sp>
        <p:nvSpPr>
          <p:cNvPr id="23" name="lim-open-1"/>
          <p:cNvSpPr/>
          <p:nvPr/>
        </p:nvSpPr>
        <p:spPr>
          <a:xfrm>
            <a:off x="7270532" y="3127248"/>
            <a:ext cx="4098204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correction generalize to horizons beyond the training horizon?</a:t>
            </a:r>
            <a:endParaRPr lang="en-US" sz="1400" dirty="0"/>
          </a:p>
        </p:txBody>
      </p:sp>
      <p:sp>
        <p:nvSpPr>
          <p:cNvPr id="24" name="lim-open-2-q"/>
          <p:cNvSpPr/>
          <p:nvPr/>
        </p:nvSpPr>
        <p:spPr>
          <a:xfrm>
            <a:off x="6886484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sp>
        <p:nvSpPr>
          <p:cNvPr id="25" name="lim-open-2"/>
          <p:cNvSpPr/>
          <p:nvPr/>
        </p:nvSpPr>
        <p:spPr>
          <a:xfrm>
            <a:off x="7270532" y="4023360"/>
            <a:ext cx="4098204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the same orthogonality appear for other cached-feature tasks?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weekly-research-slides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Cached Future-Feature Prediction</dc:title>
  <dc:subject/>
  <dc:creator>Cached Future-Feature Prediction</dc:creator>
  <cp:lastModifiedBy>Cached Future-Feature Prediction</cp:lastModifiedBy>
  <cp:revision>1</cp:revision>
  <dcterms:created xsi:type="dcterms:W3CDTF">2026-09-19T17:18:09Z</dcterms:created>
  <dcterms:modified xsi:type="dcterms:W3CDTF">2026-09-19T17:18:09Z</dcterms:modified>
</cp:coreProperties>
</file>