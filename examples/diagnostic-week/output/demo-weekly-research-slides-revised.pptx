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week's question. Do not re-explain the problem; the group knows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20-30 seconds. Keep it compressed because familiarity is high.
and the question this week is whether the correction actually moves toward the future feature, or whether a different downstream-valid direction is enough, and we will look at both diagnostics today.
which means that reusing them as a proxy for future features drifts, and this is the core problem that motivates everything in this deck.
and this is what we have been building over the last few weeks.
which is the number that we compare against in all of our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delta matters here. Point at the two new pieces and move on.
Version four adds a correction objective and an oracle diagnostic, and it also scales down the correction magnitude, and these three changes are what we will walk through on this slide.
We penalize deviation from the future feature so that the correction is supervised directly, because otherwise the correction is only indirectly supervised through the rollout metric.
We separate feature recovery from output recovery in order to test C1 and C2, because these two claims require different kinds of evidence to be distinguished.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Establish the three objects here. They keep exactly these positions on the next slide.
The first claim predicts that the correction vector aligns with the desired direction, so the residual between the corrected estimate and the desired future feature would shrink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 permanence is deliberate. Z_s, Z~, and Z_d keep identical positions between slides 4 and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bands in order. The measurement is not the observation; the observation is not the interpretation.
and this is what we measured with the cosine similarity above.
and the correction is not simply moving toward the desired future feature, and this is an important negative result for the claim.
which suggests that an alternative representation could be sufficient for the downstream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delta. Do not hide the weak feature-recovery column.
Version four improves both downstream metrics over version three, and feature recovery stays low, and that is the evidence behind the weakened C1 and the emerging C2, and it is not a hidden weakness that we are trying to conceal.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weakened claim is a result, not a failure. C2 is new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D2 targets the alternative explanation for C1. Keep the probe limitation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here. The mentor discussion happens after the deck; no thank-you slide.
The oracle diagnostic uses the future feature as an upper bound and is unavailable at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rgbClr val="FFFFFF"/>
          </a:solidFill>
          <a:ln/>
        </p:spPr>
      </p:sp>
      <p:sp>
        <p:nvSpPr>
          <p:cNvPr id="3" name="footer-slide-number"/>
          <p:cNvSpPr/>
          <p:nvPr/>
        </p:nvSpPr>
        <p:spPr>
          <a:xfrm>
            <a:off x="10076670" y="6419088"/>
            <a:ext cx="1548097" cy="237744"/>
          </a:xfrm>
          <a:prstGeom prst="rect">
            <a:avLst/>
          </a:prstGeom>
          <a:noFill/>
          <a:ln/>
        </p:spPr>
        <p:txBody>
          <a:bodyPr wrap="square" lIns="254" tIns="254" rIns="254" bIns="254" rtlCol="0" anchor="ctr"/>
          <a:lstStyle/>
          <a:p>
            <a:pPr algn="r" indent="0" marL="0">
              <a:lnSpc>
                <a:spcPts val="1200"/>
              </a:lnSpc>
              <a:buNone/>
            </a:pPr>
            <a:r>
              <a:rPr lang="en-US" sz="1000" dirty="0">
                <a:solidFill>
                  <a:srgbClr val="9CA3AF"/>
                </a:solidFill>
                <a:latin typeface="Calibri" pitchFamily="34" charset="0"/>
                <a:ea typeface="Calibri" pitchFamily="34" charset="-122"/>
                <a:cs typeface="Calibri" pitchFamily="34" charset="-120"/>
              </a:rPr>
              <a:t>1 / 10</a:t>
            </a:r>
            <a:endParaRPr lang="en-US" sz="1000" dirty="0"/>
          </a:p>
        </p:txBody>
      </p:sp>
      <p:sp>
        <p:nvSpPr>
          <p:cNvPr id="4" name="title-accent"/>
          <p:cNvSpPr/>
          <p:nvPr/>
        </p:nvSpPr>
        <p:spPr>
          <a:xfrm>
            <a:off x="566928" y="2148840"/>
            <a:ext cx="822960" cy="45720"/>
          </a:xfrm>
          <a:prstGeom prst="rect">
            <a:avLst/>
          </a:prstGeom>
          <a:solidFill>
            <a:srgbClr val="2563EB"/>
          </a:solidFill>
          <a:ln/>
        </p:spPr>
      </p:sp>
      <p:sp>
        <p:nvSpPr>
          <p:cNvPr id="5" name="title-project"/>
          <p:cNvSpPr/>
          <p:nvPr/>
        </p:nvSpPr>
        <p:spPr>
          <a:xfrm>
            <a:off x="566928" y="2286000"/>
            <a:ext cx="6634704" cy="292608"/>
          </a:xfrm>
          <a:prstGeom prst="rect">
            <a:avLst/>
          </a:prstGeom>
          <a:noFill/>
          <a:ln/>
        </p:spPr>
        <p:txBody>
          <a:bodyPr wrap="square" lIns="254" tIns="254" rIns="254" bIns="254" rtlCol="0" anchor="ctr"/>
          <a:lstStyle/>
          <a:p>
            <a:pPr algn="l" indent="0" marL="0">
              <a:lnSpc>
                <a:spcPts val="1800"/>
              </a:lnSpc>
              <a:buNone/>
            </a:pPr>
            <a:r>
              <a:rPr lang="en-US" sz="1500" b="1" dirty="0">
                <a:solidFill>
                  <a:srgbClr val="2563EB"/>
                </a:solidFill>
                <a:latin typeface="Calibri" pitchFamily="34" charset="0"/>
                <a:ea typeface="Calibri" pitchFamily="34" charset="-122"/>
                <a:cs typeface="Calibri" pitchFamily="34" charset="-120"/>
              </a:rPr>
              <a:t>Cached Future-Feature Prediction</a:t>
            </a:r>
            <a:endParaRPr lang="en-US" sz="1500" dirty="0"/>
          </a:p>
        </p:txBody>
      </p:sp>
      <p:sp>
        <p:nvSpPr>
          <p:cNvPr id="6" name="title-main"/>
          <p:cNvSpPr/>
          <p:nvPr/>
        </p:nvSpPr>
        <p:spPr>
          <a:xfrm>
            <a:off x="566928" y="2697480"/>
            <a:ext cx="6413547" cy="1554480"/>
          </a:xfrm>
          <a:prstGeom prst="rect">
            <a:avLst/>
          </a:prstGeom>
          <a:noFill/>
          <a:ln/>
        </p:spPr>
        <p:txBody>
          <a:bodyPr wrap="square" lIns="254" tIns="254" rIns="254" bIns="254" rtlCol="0" anchor="t"/>
          <a:lstStyle/>
          <a:p>
            <a:pPr algn="l" indent="0" marL="0">
              <a:lnSpc>
                <a:spcPts val="4200"/>
              </a:lnSpc>
              <a:buNone/>
            </a:pPr>
            <a:r>
              <a:rPr lang="en-US" sz="3800" b="1" dirty="0">
                <a:solidFill>
                  <a:srgbClr val="111827"/>
                </a:solidFill>
                <a:latin typeface="Calibri" pitchFamily="34" charset="0"/>
                <a:ea typeface="Calibri" pitchFamily="34" charset="-122"/>
                <a:cs typeface="Calibri" pitchFamily="34" charset="-120"/>
              </a:rPr>
              <a:t>Does correction recover the future feature?</a:t>
            </a:r>
            <a:endParaRPr lang="en-US" sz="3800" dirty="0"/>
          </a:p>
        </p:txBody>
      </p:sp>
      <p:sp>
        <p:nvSpPr>
          <p:cNvPr id="7" name="title-question"/>
          <p:cNvSpPr/>
          <p:nvPr/>
        </p:nvSpPr>
        <p:spPr>
          <a:xfrm>
            <a:off x="566928" y="4343400"/>
            <a:ext cx="6081812" cy="914400"/>
          </a:xfrm>
          <a:prstGeom prst="rect">
            <a:avLst/>
          </a:prstGeom>
          <a:noFill/>
          <a:ln/>
        </p:spPr>
        <p:txBody>
          <a:bodyPr wrap="square" lIns="254" tIns="254" rIns="254" bIns="254" rtlCol="0" anchor="t"/>
          <a:lstStyle/>
          <a:p>
            <a:pPr algn="l" indent="0" marL="0">
              <a:lnSpc>
                <a:spcPts val="2400"/>
              </a:lnSpc>
              <a:buNone/>
            </a:pPr>
            <a:r>
              <a:rPr lang="en-US" sz="1800" dirty="0">
                <a:solidFill>
                  <a:srgbClr val="374151"/>
                </a:solidFill>
                <a:latin typeface="Calibri" pitchFamily="34" charset="0"/>
                <a:ea typeface="Calibri" pitchFamily="34" charset="-122"/>
                <a:cs typeface="Calibri" pitchFamily="34" charset="-120"/>
              </a:rPr>
              <a:t>Week 6 · an oracle diagnostic splits feature recovery from output recovery, and claim C1 weakens.</a:t>
            </a:r>
            <a:endParaRPr lang="en-US" sz="1800" dirty="0"/>
          </a:p>
        </p:txBody>
      </p:sp>
      <p:sp>
        <p:nvSpPr>
          <p:cNvPr id="8" name="title-byline"/>
          <p:cNvSpPr/>
          <p:nvPr/>
        </p:nvSpPr>
        <p:spPr>
          <a:xfrm>
            <a:off x="566928" y="5440680"/>
            <a:ext cx="6081812" cy="274320"/>
          </a:xfrm>
          <a:prstGeom prst="rect">
            <a:avLst/>
          </a:prstGeom>
          <a:noFill/>
          <a:ln/>
        </p:spPr>
        <p:txBody>
          <a:bodyPr wrap="square" lIns="254" tIns="254" rIns="254" bIns="254" rtlCol="0" anchor="ctr"/>
          <a:lstStyle/>
          <a:p>
            <a:pPr algn="l" indent="0" marL="0">
              <a:lnSpc>
                <a:spcPts val="1400"/>
              </a:lnSpc>
              <a:buNone/>
            </a:pPr>
            <a:r>
              <a:rPr lang="en-US" sz="1150" dirty="0">
                <a:solidFill>
                  <a:srgbClr val="6B7280"/>
                </a:solidFill>
                <a:latin typeface="Calibri" pitchFamily="34" charset="0"/>
                <a:ea typeface="Calibri" pitchFamily="34" charset="-122"/>
                <a:cs typeface="Calibri" pitchFamily="34" charset="-120"/>
              </a:rPr>
              <a:t>Weekly research update · synthetic demo · version 0.1</a:t>
            </a:r>
            <a:endParaRPr lang="en-US" sz="1150" dirty="0"/>
          </a:p>
        </p:txBody>
      </p:sp>
      <p:sp>
        <p:nvSpPr>
          <p:cNvPr id="9" name="motif-zs"/>
          <p:cNvSpPr/>
          <p:nvPr/>
        </p:nvSpPr>
        <p:spPr>
          <a:xfrm>
            <a:off x="7452360" y="3840480"/>
            <a:ext cx="1051560" cy="1051560"/>
          </a:xfrm>
          <a:prstGeom prst="ellipse">
            <a:avLst/>
          </a:prstGeom>
          <a:solidFill>
            <a:srgbClr val="FFFFFF"/>
          </a:solidFill>
          <a:ln w="16510">
            <a:solidFill>
              <a:srgbClr val="111827"/>
            </a:solidFill>
            <a:prstDash val="solid"/>
            <a:headEnd type="none"/>
            <a:tailEnd type="none"/>
          </a:ln>
        </p:spPr>
      </p:sp>
      <p:sp>
        <p:nvSpPr>
          <p:cNvPr id="10" name="motif-zs__label"/>
          <p:cNvSpPr/>
          <p:nvPr/>
        </p:nvSpPr>
        <p:spPr>
          <a:xfrm>
            <a:off x="7452360" y="3840480"/>
            <a:ext cx="1051560" cy="1051560"/>
          </a:xfrm>
          <a:prstGeom prst="rect">
            <a:avLst/>
          </a:prstGeom>
          <a:noFill/>
          <a:ln/>
        </p:spPr>
        <p:txBody>
          <a:bodyPr wrap="square" lIns="254" tIns="254" rIns="254" bIns="254" rtlCol="0" anchor="ctr"/>
          <a:lstStyle/>
          <a:p>
            <a:pPr algn="ctr" indent="0" marL="0">
              <a:lnSpc>
                <a:spcPts val="1800"/>
              </a:lnSpc>
              <a:buNone/>
            </a:pPr>
            <a:r>
              <a:rPr lang="en-US" sz="1500" b="1" dirty="0">
                <a:solidFill>
                  <a:srgbClr val="111827"/>
                </a:solidFill>
                <a:latin typeface="Calibri" pitchFamily="34" charset="0"/>
                <a:ea typeface="Calibri" pitchFamily="34" charset="-122"/>
                <a:cs typeface="Calibri" pitchFamily="34" charset="-120"/>
              </a:rPr>
              <a:t>Z_s</a:t>
            </a:r>
            <a:endParaRPr lang="en-US" sz="1500" dirty="0"/>
          </a:p>
        </p:txBody>
      </p:sp>
      <p:sp>
        <p:nvSpPr>
          <p:cNvPr id="11" name="motif-ztilde"/>
          <p:cNvSpPr/>
          <p:nvPr/>
        </p:nvSpPr>
        <p:spPr>
          <a:xfrm>
            <a:off x="9418320" y="3840480"/>
            <a:ext cx="1051560" cy="1051560"/>
          </a:xfrm>
          <a:prstGeom prst="ellipse">
            <a:avLst/>
          </a:prstGeom>
          <a:solidFill>
            <a:srgbClr val="FFFFFF"/>
          </a:solidFill>
          <a:ln w="16510">
            <a:solidFill>
              <a:srgbClr val="111827"/>
            </a:solidFill>
            <a:prstDash val="solid"/>
            <a:headEnd type="none"/>
            <a:tailEnd type="none"/>
          </a:ln>
        </p:spPr>
      </p:sp>
      <p:sp>
        <p:nvSpPr>
          <p:cNvPr id="12" name="motif-ztilde__label"/>
          <p:cNvSpPr/>
          <p:nvPr/>
        </p:nvSpPr>
        <p:spPr>
          <a:xfrm>
            <a:off x="9418320" y="3840480"/>
            <a:ext cx="1051560" cy="1051560"/>
          </a:xfrm>
          <a:prstGeom prst="rect">
            <a:avLst/>
          </a:prstGeom>
          <a:noFill/>
          <a:ln/>
        </p:spPr>
        <p:txBody>
          <a:bodyPr wrap="square" lIns="254" tIns="254" rIns="254" bIns="254" rtlCol="0" anchor="ctr"/>
          <a:lstStyle/>
          <a:p>
            <a:pPr algn="ctr" indent="0" marL="0">
              <a:lnSpc>
                <a:spcPts val="1800"/>
              </a:lnSpc>
              <a:buNone/>
            </a:pPr>
            <a:r>
              <a:rPr lang="en-US" sz="1500" b="1" dirty="0">
                <a:solidFill>
                  <a:srgbClr val="111827"/>
                </a:solidFill>
                <a:latin typeface="Calibri" pitchFamily="34" charset="0"/>
                <a:ea typeface="Calibri" pitchFamily="34" charset="-122"/>
                <a:cs typeface="Calibri" pitchFamily="34" charset="-120"/>
              </a:rPr>
              <a:t>Z~</a:t>
            </a:r>
            <a:endParaRPr lang="en-US" sz="1500" dirty="0"/>
          </a:p>
        </p:txBody>
      </p:sp>
      <p:sp>
        <p:nvSpPr>
          <p:cNvPr id="13" name="motif-zd"/>
          <p:cNvSpPr/>
          <p:nvPr/>
        </p:nvSpPr>
        <p:spPr>
          <a:xfrm>
            <a:off x="8439912" y="2286000"/>
            <a:ext cx="1051560" cy="1051560"/>
          </a:xfrm>
          <a:prstGeom prst="ellipse">
            <a:avLst/>
          </a:prstGeom>
          <a:solidFill>
            <a:srgbClr val="FFFFFF"/>
          </a:solidFill>
          <a:ln w="16510">
            <a:solidFill>
              <a:srgbClr val="111827"/>
            </a:solidFill>
            <a:prstDash val="solid"/>
            <a:headEnd type="none"/>
            <a:tailEnd type="none"/>
          </a:ln>
        </p:spPr>
      </p:sp>
      <p:sp>
        <p:nvSpPr>
          <p:cNvPr id="14" name="motif-zd__label"/>
          <p:cNvSpPr/>
          <p:nvPr/>
        </p:nvSpPr>
        <p:spPr>
          <a:xfrm>
            <a:off x="8439912" y="2286000"/>
            <a:ext cx="1051560" cy="1051560"/>
          </a:xfrm>
          <a:prstGeom prst="rect">
            <a:avLst/>
          </a:prstGeom>
          <a:noFill/>
          <a:ln/>
        </p:spPr>
        <p:txBody>
          <a:bodyPr wrap="square" lIns="254" tIns="254" rIns="254" bIns="254" rtlCol="0" anchor="ctr"/>
          <a:lstStyle/>
          <a:p>
            <a:pPr algn="ctr" indent="0" marL="0">
              <a:lnSpc>
                <a:spcPts val="1800"/>
              </a:lnSpc>
              <a:buNone/>
            </a:pPr>
            <a:r>
              <a:rPr lang="en-US" sz="1500" b="1" dirty="0">
                <a:solidFill>
                  <a:srgbClr val="111827"/>
                </a:solidFill>
                <a:latin typeface="Calibri" pitchFamily="34" charset="0"/>
                <a:ea typeface="Calibri" pitchFamily="34" charset="-122"/>
                <a:cs typeface="Calibri" pitchFamily="34" charset="-120"/>
              </a:rPr>
              <a:t>Z_d</a:t>
            </a:r>
            <a:endParaRPr lang="en-US" sz="1500" dirty="0"/>
          </a:p>
        </p:txBody>
      </p:sp>
      <p:sp>
        <p:nvSpPr>
          <p:cNvPr id="15" name="motif-delta"/>
          <p:cNvSpPr/>
          <p:nvPr/>
        </p:nvSpPr>
        <p:spPr>
          <a:xfrm>
            <a:off x="8503920" y="4370832"/>
            <a:ext cx="914400" cy="0"/>
          </a:xfrm>
          <a:prstGeom prst="line">
            <a:avLst/>
          </a:prstGeom>
          <a:noFill/>
          <a:ln w="26670">
            <a:solidFill>
              <a:srgbClr val="B91C1C"/>
            </a:solidFill>
            <a:prstDash val="solid"/>
            <a:headEnd type="none"/>
            <a:tailEnd type="triangle"/>
          </a:ln>
        </p:spPr>
      </p:sp>
      <p:sp>
        <p:nvSpPr>
          <p:cNvPr id="16" name="motif-desired"/>
          <p:cNvSpPr/>
          <p:nvPr/>
        </p:nvSpPr>
        <p:spPr>
          <a:xfrm flipV="1">
            <a:off x="8272577" y="3337560"/>
            <a:ext cx="642823" cy="521208"/>
          </a:xfrm>
          <a:prstGeom prst="line">
            <a:avLst/>
          </a:prstGeom>
          <a:noFill/>
          <a:ln w="11430">
            <a:solidFill>
              <a:srgbClr val="9CA3AF"/>
            </a:solidFill>
            <a:prstDash val="dash"/>
            <a:headEnd type="none"/>
            <a:tailEnd type="none"/>
          </a:ln>
        </p:spPr>
      </p:sp>
      <p:sp>
        <p:nvSpPr>
          <p:cNvPr id="17" name="motif-residual"/>
          <p:cNvSpPr/>
          <p:nvPr/>
        </p:nvSpPr>
        <p:spPr>
          <a:xfrm flipH="1" flipV="1">
            <a:off x="9646920" y="3390138"/>
            <a:ext cx="822960" cy="523494"/>
          </a:xfrm>
          <a:prstGeom prst="line">
            <a:avLst/>
          </a:prstGeom>
          <a:noFill/>
          <a:ln w="11430">
            <a:solidFill>
              <a:srgbClr val="9CA3AF"/>
            </a:solidFill>
            <a:prstDash val="dash"/>
            <a:headEnd type="none"/>
            <a:tailEnd type="none"/>
          </a:ln>
        </p:spPr>
      </p:sp>
      <p:sp>
        <p:nvSpPr>
          <p:cNvPr id="18" name="motif-caption"/>
          <p:cNvSpPr/>
          <p:nvPr/>
        </p:nvSpPr>
        <p:spPr>
          <a:xfrm>
            <a:off x="7269480" y="5166360"/>
            <a:ext cx="3566160" cy="274320"/>
          </a:xfrm>
          <a:prstGeom prst="rect">
            <a:avLst/>
          </a:prstGeom>
          <a:noFill/>
          <a:ln/>
        </p:spPr>
        <p:txBody>
          <a:bodyPr wrap="square" lIns="254" tIns="254" rIns="254" bIns="254" rtlCol="0" anchor="ctr"/>
          <a:lstStyle/>
          <a:p>
            <a:pPr algn="ctr" indent="0" marL="0">
              <a:lnSpc>
                <a:spcPts val="1200"/>
              </a:lnSpc>
              <a:buNone/>
            </a:pPr>
            <a:r>
              <a:rPr lang="en-US" sz="1000" dirty="0">
                <a:solidFill>
                  <a:srgbClr val="6B7280"/>
                </a:solidFill>
                <a:latin typeface="Calibri" pitchFamily="34" charset="0"/>
                <a:ea typeface="Calibri" pitchFamily="34" charset="-122"/>
                <a:cs typeface="Calibri" pitchFamily="34" charset="-120"/>
              </a:rPr>
              <a:t>cached features drift; correction moves them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rgbClr val="FFFFFF"/>
          </a:solidFill>
          <a:ln/>
        </p:spPr>
      </p:sp>
      <p:sp>
        <p:nvSpPr>
          <p:cNvPr id="3" name="kicker"/>
          <p:cNvSpPr/>
          <p:nvPr/>
        </p:nvSpPr>
        <p:spPr>
          <a:xfrm>
            <a:off x="566928" y="365760"/>
            <a:ext cx="6855860" cy="237744"/>
          </a:xfrm>
          <a:prstGeom prst="rect">
            <a:avLst/>
          </a:prstGeom>
          <a:noFill/>
          <a:ln/>
        </p:spPr>
        <p:txBody>
          <a:bodyPr wrap="square" lIns="254" tIns="254" rIns="254" bIns="254" rtlCol="0" anchor="ctr"/>
          <a:lstStyle/>
          <a:p>
            <a:pPr algn="l" indent="0" marL="0">
              <a:lnSpc>
                <a:spcPts val="1400"/>
              </a:lnSpc>
              <a:buNone/>
            </a:pPr>
            <a:r>
              <a:rPr lang="en-US" sz="1200" b="1" dirty="0">
                <a:solidFill>
                  <a:srgbClr val="2563EB"/>
                </a:solidFill>
                <a:latin typeface="Calibri" pitchFamily="34" charset="0"/>
                <a:ea typeface="Calibri" pitchFamily="34" charset="-122"/>
                <a:cs typeface="Calibri" pitchFamily="34" charset="-120"/>
              </a:rPr>
              <a:t>RECAP</a:t>
            </a:r>
            <a:endParaRPr lang="en-US" sz="1200" dirty="0"/>
          </a:p>
        </p:txBody>
      </p:sp>
      <p:sp>
        <p:nvSpPr>
          <p:cNvPr id="4" name="header-meta"/>
          <p:cNvSpPr/>
          <p:nvPr/>
        </p:nvSpPr>
        <p:spPr>
          <a:xfrm>
            <a:off x="6648740" y="365760"/>
            <a:ext cx="4976028" cy="237744"/>
          </a:xfrm>
          <a:prstGeom prst="rect">
            <a:avLst/>
          </a:prstGeom>
          <a:noFill/>
          <a:ln/>
        </p:spPr>
        <p:txBody>
          <a:bodyPr wrap="square" lIns="254" tIns="254" rIns="254" bIns="254" rtlCol="0" anchor="ctr"/>
          <a:lstStyle/>
          <a:p>
            <a:pPr algn="r" indent="0" marL="0">
              <a:lnSpc>
                <a:spcPts val="1200"/>
              </a:lnSpc>
              <a:buNone/>
            </a:pPr>
            <a:r>
              <a:rPr lang="en-US" sz="1000" dirty="0">
                <a:solidFill>
                  <a:srgbClr val="6B7280"/>
                </a:solidFill>
                <a:latin typeface="Calibri" pitchFamily="34" charset="0"/>
                <a:ea typeface="Calibri" pitchFamily="34" charset="-122"/>
                <a:cs typeface="Calibri" pitchFamily="34" charset="-120"/>
              </a:rPr>
              <a:t>Cached Future-Feature Prediction  ·  Week 6</a:t>
            </a:r>
            <a:endParaRPr lang="en-US" sz="1000" dirty="0"/>
          </a:p>
        </p:txBody>
      </p:sp>
      <p:sp>
        <p:nvSpPr>
          <p:cNvPr id="5" name="title-main"/>
          <p:cNvSpPr/>
          <p:nvPr/>
        </p:nvSpPr>
        <p:spPr>
          <a:xfrm>
            <a:off x="566928" y="621792"/>
            <a:ext cx="11057839" cy="548640"/>
          </a:xfrm>
          <a:prstGeom prst="rect">
            <a:avLst/>
          </a:prstGeom>
          <a:noFill/>
          <a:ln/>
        </p:spPr>
        <p:txBody>
          <a:bodyPr wrap="square" lIns="254" tIns="254" rIns="254" bIns="254" rtlCol="0" anchor="ctr"/>
          <a:lstStyle/>
          <a:p>
            <a:pPr algn="l" indent="0" marL="0">
              <a:lnSpc>
                <a:spcPts val="3000"/>
              </a:lnSpc>
              <a:buNone/>
            </a:pPr>
            <a:r>
              <a:rPr lang="en-US" sz="2700" b="1" dirty="0">
                <a:solidFill>
                  <a:srgbClr val="111827"/>
                </a:solidFill>
                <a:latin typeface="Calibri" pitchFamily="34" charset="0"/>
                <a:ea typeface="Calibri" pitchFamily="34" charset="-122"/>
                <a:cs typeface="Calibri" pitchFamily="34" charset="-120"/>
              </a:rPr>
              <a:t>Where we are, and what changed this week</a:t>
            </a:r>
            <a:endParaRPr lang="en-US" sz="2700" dirty="0"/>
          </a:p>
        </p:txBody>
      </p:sp>
      <p:sp>
        <p:nvSpPr>
          <p:cNvPr id="6" name="chrome-rule"/>
          <p:cNvSpPr/>
          <p:nvPr/>
        </p:nvSpPr>
        <p:spPr>
          <a:xfrm>
            <a:off x="566928" y="1243584"/>
            <a:ext cx="11057839" cy="20117"/>
          </a:xfrm>
          <a:prstGeom prst="rect">
            <a:avLst/>
          </a:prstGeom>
          <a:solidFill>
            <a:srgbClr val="E5E7EB"/>
          </a:solidFill>
          <a:ln/>
        </p:spPr>
      </p:sp>
      <p:sp>
        <p:nvSpPr>
          <p:cNvPr id="7" name="chrome-rule-accent"/>
          <p:cNvSpPr/>
          <p:nvPr/>
        </p:nvSpPr>
        <p:spPr>
          <a:xfrm>
            <a:off x="566928" y="1243584"/>
            <a:ext cx="1051560" cy="20117"/>
          </a:xfrm>
          <a:prstGeom prst="rect">
            <a:avLst/>
          </a:prstGeom>
          <a:solidFill>
            <a:srgbClr val="2563EB"/>
          </a:solidFill>
          <a:ln/>
        </p:spPr>
      </p:sp>
      <p:sp>
        <p:nvSpPr>
          <p:cNvPr id="8" name="footer-text"/>
          <p:cNvSpPr/>
          <p:nvPr/>
        </p:nvSpPr>
        <p:spPr>
          <a:xfrm>
            <a:off x="566928" y="6419088"/>
            <a:ext cx="8293379" cy="237744"/>
          </a:xfrm>
          <a:prstGeom prst="rect">
            <a:avLst/>
          </a:prstGeom>
          <a:noFill/>
          <a:ln/>
        </p:spPr>
        <p:txBody>
          <a:bodyPr wrap="square" lIns="254" tIns="254" rIns="254" bIns="254" rtlCol="0" anchor="ctr"/>
          <a:lstStyle/>
          <a:p>
            <a:pPr algn="l" indent="0" marL="0">
              <a:lnSpc>
                <a:spcPts val="1200"/>
              </a:lnSpc>
              <a:buNone/>
            </a:pPr>
            <a:r>
              <a:rPr lang="en-US" sz="1000" dirty="0">
                <a:solidFill>
                  <a:srgbClr val="9CA3AF"/>
                </a:solidFill>
                <a:latin typeface="Calibri" pitchFamily="34" charset="0"/>
                <a:ea typeface="Calibri" pitchFamily="34" charset="-122"/>
                <a:cs typeface="Calibri" pitchFamily="34" charset="-120"/>
              </a:rPr>
              <a:t>Cached Future-Feature Prediction · synthetic demo</a:t>
            </a:r>
            <a:endParaRPr lang="en-US" sz="1000" dirty="0"/>
          </a:p>
        </p:txBody>
      </p:sp>
      <p:sp>
        <p:nvSpPr>
          <p:cNvPr id="9" name="footer-slide-number"/>
          <p:cNvSpPr/>
          <p:nvPr/>
        </p:nvSpPr>
        <p:spPr>
          <a:xfrm>
            <a:off x="10076670" y="6419088"/>
            <a:ext cx="1548097" cy="237744"/>
          </a:xfrm>
          <a:prstGeom prst="rect">
            <a:avLst/>
          </a:prstGeom>
          <a:noFill/>
          <a:ln/>
        </p:spPr>
        <p:txBody>
          <a:bodyPr wrap="square" lIns="254" tIns="254" rIns="254" bIns="254" rtlCol="0" anchor="ctr"/>
          <a:lstStyle/>
          <a:p>
            <a:pPr algn="r" indent="0" marL="0">
              <a:lnSpc>
                <a:spcPts val="1200"/>
              </a:lnSpc>
              <a:buNone/>
            </a:pPr>
            <a:r>
              <a:rPr lang="en-US" sz="1000" dirty="0">
                <a:solidFill>
                  <a:srgbClr val="9CA3AF"/>
                </a:solidFill>
                <a:latin typeface="Calibri" pitchFamily="34" charset="0"/>
                <a:ea typeface="Calibri" pitchFamily="34" charset="-122"/>
                <a:cs typeface="Calibri" pitchFamily="34" charset="-120"/>
              </a:rPr>
              <a:t>2 / 10</a:t>
            </a:r>
            <a:endParaRPr lang="en-US" sz="1000" dirty="0"/>
          </a:p>
        </p:txBody>
      </p:sp>
      <p:sp>
        <p:nvSpPr>
          <p:cNvPr id="10" name="recap-known"/>
          <p:cNvSpPr/>
          <p:nvPr/>
        </p:nvSpPr>
        <p:spPr>
          <a:xfrm>
            <a:off x="566928" y="1572768"/>
            <a:ext cx="5307763" cy="4297680"/>
          </a:xfrm>
          <a:prstGeom prst="roundRect">
            <a:avLst>
              <a:gd name="adj" fmla="val 2340"/>
            </a:avLst>
          </a:prstGeom>
          <a:solidFill>
            <a:srgbClr val="F9FAFB"/>
          </a:solidFill>
          <a:ln w="13970">
            <a:solidFill>
              <a:srgbClr val="E5E7EB"/>
            </a:solidFill>
            <a:prstDash val="solid"/>
            <a:headEnd type="none"/>
            <a:tailEnd type="none"/>
          </a:ln>
        </p:spPr>
      </p:sp>
      <p:sp>
        <p:nvSpPr>
          <p:cNvPr id="11" name="recap-known__title"/>
          <p:cNvSpPr/>
          <p:nvPr/>
        </p:nvSpPr>
        <p:spPr>
          <a:xfrm>
            <a:off x="768096" y="1719072"/>
            <a:ext cx="4905427" cy="274320"/>
          </a:xfrm>
          <a:prstGeom prst="rect">
            <a:avLst/>
          </a:prstGeom>
          <a:noFill/>
          <a:ln/>
        </p:spPr>
        <p:txBody>
          <a:bodyPr wrap="square" lIns="254" tIns="254" rIns="254" bIns="254" rtlCol="0" anchor="ctr"/>
          <a:lstStyle/>
          <a:p>
            <a:pPr algn="l" indent="0" marL="0">
              <a:lnSpc>
                <a:spcPts val="1700"/>
              </a:lnSpc>
              <a:buNone/>
            </a:pPr>
            <a:r>
              <a:rPr lang="en-US" sz="1400" b="1" dirty="0">
                <a:solidFill>
                  <a:srgbClr val="111827"/>
                </a:solidFill>
                <a:latin typeface="Calibri" pitchFamily="34" charset="0"/>
                <a:ea typeface="Calibri" pitchFamily="34" charset="-122"/>
                <a:cs typeface="Calibri" pitchFamily="34" charset="-120"/>
              </a:rPr>
              <a:t>Established (unchanged)</a:t>
            </a:r>
            <a:endParaRPr lang="en-US" sz="1400" dirty="0"/>
          </a:p>
        </p:txBody>
      </p:sp>
      <p:sp>
        <p:nvSpPr>
          <p:cNvPr id="12" name="recap-0-label"/>
          <p:cNvSpPr/>
          <p:nvPr/>
        </p:nvSpPr>
        <p:spPr>
          <a:xfrm>
            <a:off x="786384" y="2212848"/>
            <a:ext cx="4850563" cy="256032"/>
          </a:xfrm>
          <a:prstGeom prst="rect">
            <a:avLst/>
          </a:prstGeom>
          <a:noFill/>
          <a:ln/>
        </p:spPr>
        <p:txBody>
          <a:bodyPr wrap="square" lIns="254" tIns="254" rIns="254" bIns="254" rtlCol="0" anchor="ctr"/>
          <a:lstStyle/>
          <a:p>
            <a:pPr algn="l" indent="0" marL="0">
              <a:lnSpc>
                <a:spcPts val="1400"/>
              </a:lnSpc>
              <a:buNone/>
            </a:pPr>
            <a:r>
              <a:rPr lang="en-US" sz="1150" b="1" dirty="0">
                <a:solidFill>
                  <a:srgbClr val="2563EB"/>
                </a:solidFill>
                <a:latin typeface="Calibri" pitchFamily="34" charset="0"/>
                <a:ea typeface="Calibri" pitchFamily="34" charset="-122"/>
                <a:cs typeface="Calibri" pitchFamily="34" charset="-120"/>
              </a:rPr>
              <a:t>P1</a:t>
            </a:r>
            <a:endParaRPr lang="en-US" sz="1150" dirty="0"/>
          </a:p>
        </p:txBody>
      </p:sp>
      <p:sp>
        <p:nvSpPr>
          <p:cNvPr id="13" name="recap-0"/>
          <p:cNvSpPr/>
          <p:nvPr/>
        </p:nvSpPr>
        <p:spPr>
          <a:xfrm>
            <a:off x="786384" y="2468880"/>
            <a:ext cx="4850563" cy="685800"/>
          </a:xfrm>
          <a:prstGeom prst="rect">
            <a:avLst/>
          </a:prstGeom>
          <a:noFill/>
          <a:ln/>
        </p:spPr>
        <p:txBody>
          <a:bodyPr wrap="square" lIns="254" tIns="254" rIns="254" bIns="254" rtlCol="0" anchor="t"/>
          <a:lstStyle/>
          <a:p>
            <a:pPr algn="l" indent="0" marL="0">
              <a:lnSpc>
                <a:spcPts val="1700"/>
              </a:lnSpc>
              <a:buNone/>
            </a:pPr>
            <a:r>
              <a:rPr lang="en-US" sz="1400" dirty="0">
                <a:solidFill>
                  <a:srgbClr val="374151"/>
                </a:solidFill>
                <a:latin typeface="Calibri" pitchFamily="34" charset="0"/>
                <a:ea typeface="Calibri" pitchFamily="34" charset="-122"/>
                <a:cs typeface="Calibri" pitchFamily="34" charset="-120"/>
              </a:rPr>
              <a:t>Cached hidden features go stale over time</a:t>
            </a:r>
            <a:endParaRPr lang="en-US" sz="1400" dirty="0"/>
          </a:p>
        </p:txBody>
      </p:sp>
      <p:sp>
        <p:nvSpPr>
          <p:cNvPr id="14" name="recap-1-label"/>
          <p:cNvSpPr/>
          <p:nvPr/>
        </p:nvSpPr>
        <p:spPr>
          <a:xfrm>
            <a:off x="786384" y="3172968"/>
            <a:ext cx="4850563" cy="256032"/>
          </a:xfrm>
          <a:prstGeom prst="rect">
            <a:avLst/>
          </a:prstGeom>
          <a:noFill/>
          <a:ln/>
        </p:spPr>
        <p:txBody>
          <a:bodyPr wrap="square" lIns="254" tIns="254" rIns="254" bIns="254" rtlCol="0" anchor="ctr"/>
          <a:lstStyle/>
          <a:p>
            <a:pPr algn="l" indent="0" marL="0">
              <a:lnSpc>
                <a:spcPts val="1400"/>
              </a:lnSpc>
              <a:buNone/>
            </a:pPr>
            <a:r>
              <a:rPr lang="en-US" sz="1150" b="1" dirty="0">
                <a:solidFill>
                  <a:srgbClr val="2563EB"/>
                </a:solidFill>
                <a:latin typeface="Calibri" pitchFamily="34" charset="0"/>
                <a:ea typeface="Calibri" pitchFamily="34" charset="-122"/>
                <a:cs typeface="Calibri" pitchFamily="34" charset="-120"/>
              </a:rPr>
              <a:t>Method</a:t>
            </a:r>
            <a:endParaRPr lang="en-US" sz="1150" dirty="0"/>
          </a:p>
        </p:txBody>
      </p:sp>
      <p:sp>
        <p:nvSpPr>
          <p:cNvPr id="15" name="recap-1"/>
          <p:cNvSpPr/>
          <p:nvPr/>
        </p:nvSpPr>
        <p:spPr>
          <a:xfrm>
            <a:off x="786384" y="3429000"/>
            <a:ext cx="4850563" cy="685800"/>
          </a:xfrm>
          <a:prstGeom prst="rect">
            <a:avLst/>
          </a:prstGeom>
          <a:noFill/>
          <a:ln/>
        </p:spPr>
        <p:txBody>
          <a:bodyPr wrap="square" lIns="254" tIns="254" rIns="254" bIns="254" rtlCol="0" anchor="t"/>
          <a:lstStyle/>
          <a:p>
            <a:pPr algn="l" indent="0" marL="0">
              <a:lnSpc>
                <a:spcPts val="1700"/>
              </a:lnSpc>
              <a:buNone/>
            </a:pPr>
            <a:r>
              <a:rPr lang="en-US" sz="1400" dirty="0">
                <a:solidFill>
                  <a:srgbClr val="374151"/>
                </a:solidFill>
                <a:latin typeface="Calibri" pitchFamily="34" charset="0"/>
                <a:ea typeface="Calibri" pitchFamily="34" charset="-122"/>
                <a:cs typeface="Calibri" pitchFamily="34" charset="-120"/>
              </a:rPr>
              <a:t>Our method reuses a cached feature and then applies a learned correction toward the future feature</a:t>
            </a:r>
            <a:endParaRPr lang="en-US" sz="1400" dirty="0"/>
          </a:p>
        </p:txBody>
      </p:sp>
      <p:sp>
        <p:nvSpPr>
          <p:cNvPr id="16" name="recap-2-label"/>
          <p:cNvSpPr/>
          <p:nvPr/>
        </p:nvSpPr>
        <p:spPr>
          <a:xfrm>
            <a:off x="786384" y="4133088"/>
            <a:ext cx="4850563" cy="256032"/>
          </a:xfrm>
          <a:prstGeom prst="rect">
            <a:avLst/>
          </a:prstGeom>
          <a:noFill/>
          <a:ln/>
        </p:spPr>
        <p:txBody>
          <a:bodyPr wrap="square" lIns="254" tIns="254" rIns="254" bIns="254" rtlCol="0" anchor="ctr"/>
          <a:lstStyle/>
          <a:p>
            <a:pPr algn="l" indent="0" marL="0">
              <a:lnSpc>
                <a:spcPts val="1400"/>
              </a:lnSpc>
              <a:buNone/>
            </a:pPr>
            <a:r>
              <a:rPr lang="en-US" sz="1150" b="1" dirty="0">
                <a:solidFill>
                  <a:srgbClr val="2563EB"/>
                </a:solidFill>
                <a:latin typeface="Calibri" pitchFamily="34" charset="0"/>
                <a:ea typeface="Calibri" pitchFamily="34" charset="-122"/>
                <a:cs typeface="Calibri" pitchFamily="34" charset="-120"/>
              </a:rPr>
              <a:t>Baseline</a:t>
            </a:r>
            <a:endParaRPr lang="en-US" sz="1150" dirty="0"/>
          </a:p>
        </p:txBody>
      </p:sp>
      <p:sp>
        <p:nvSpPr>
          <p:cNvPr id="17" name="recap-2"/>
          <p:cNvSpPr/>
          <p:nvPr/>
        </p:nvSpPr>
        <p:spPr>
          <a:xfrm>
            <a:off x="786384" y="4389120"/>
            <a:ext cx="4850563" cy="685800"/>
          </a:xfrm>
          <a:prstGeom prst="rect">
            <a:avLst/>
          </a:prstGeom>
          <a:noFill/>
          <a:ln/>
        </p:spPr>
        <p:txBody>
          <a:bodyPr wrap="square" lIns="254" tIns="254" rIns="254" bIns="254" rtlCol="0" anchor="t"/>
          <a:lstStyle/>
          <a:p>
            <a:pPr algn="l" indent="0" marL="0">
              <a:lnSpc>
                <a:spcPts val="1700"/>
              </a:lnSpc>
              <a:buNone/>
            </a:pPr>
            <a:r>
              <a:rPr lang="en-US" sz="1400" dirty="0">
                <a:solidFill>
                  <a:srgbClr val="374151"/>
                </a:solidFill>
                <a:latin typeface="Calibri" pitchFamily="34" charset="0"/>
                <a:ea typeface="Calibri" pitchFamily="34" charset="-122"/>
                <a:cs typeface="Calibri" pitchFamily="34" charset="-120"/>
              </a:rPr>
              <a:t>The reuse-only baseline achieves a rollout cosine of 0.42</a:t>
            </a:r>
            <a:endParaRPr lang="en-US" sz="1400" dirty="0"/>
          </a:p>
        </p:txBody>
      </p:sp>
      <p:sp>
        <p:nvSpPr>
          <p:cNvPr id="18" name="recap-now"/>
          <p:cNvSpPr/>
          <p:nvPr/>
        </p:nvSpPr>
        <p:spPr>
          <a:xfrm>
            <a:off x="6206426" y="1572768"/>
            <a:ext cx="5418341" cy="4297680"/>
          </a:xfrm>
          <a:prstGeom prst="roundRect">
            <a:avLst>
              <a:gd name="adj" fmla="val 2340"/>
            </a:avLst>
          </a:prstGeom>
          <a:solidFill>
            <a:srgbClr val="F1F5F9"/>
          </a:solidFill>
          <a:ln w="13970">
            <a:solidFill>
              <a:srgbClr val="E5E7EB"/>
            </a:solidFill>
            <a:prstDash val="solid"/>
            <a:headEnd type="none"/>
            <a:tailEnd type="none"/>
          </a:ln>
        </p:spPr>
      </p:sp>
      <p:sp>
        <p:nvSpPr>
          <p:cNvPr id="19" name="recap-now-k"/>
          <p:cNvSpPr/>
          <p:nvPr/>
        </p:nvSpPr>
        <p:spPr>
          <a:xfrm>
            <a:off x="6462458" y="1783080"/>
            <a:ext cx="4906277" cy="274320"/>
          </a:xfrm>
          <a:prstGeom prst="rect">
            <a:avLst/>
          </a:prstGeom>
          <a:noFill/>
          <a:ln/>
        </p:spPr>
        <p:txBody>
          <a:bodyPr wrap="square" lIns="254" tIns="254" rIns="254" bIns="254" rtlCol="0" anchor="ctr"/>
          <a:lstStyle/>
          <a:p>
            <a:pPr algn="l" indent="0" marL="0">
              <a:lnSpc>
                <a:spcPts val="1200"/>
              </a:lnSpc>
              <a:buNone/>
            </a:pPr>
            <a:r>
              <a:rPr lang="en-US" sz="1000" b="1" dirty="0">
                <a:solidFill>
                  <a:srgbClr val="111827"/>
                </a:solidFill>
                <a:latin typeface="Calibri" pitchFamily="34" charset="0"/>
                <a:ea typeface="Calibri" pitchFamily="34" charset="-122"/>
                <a:cs typeface="Calibri" pitchFamily="34" charset="-120"/>
              </a:rPr>
              <a:t>WHERE WE ARE NOW</a:t>
            </a:r>
            <a:endParaRPr lang="en-US" sz="1000" dirty="0"/>
          </a:p>
        </p:txBody>
      </p:sp>
      <p:sp>
        <p:nvSpPr>
          <p:cNvPr id="20" name="recap-now-t"/>
          <p:cNvSpPr/>
          <p:nvPr/>
        </p:nvSpPr>
        <p:spPr>
          <a:xfrm>
            <a:off x="6462458" y="2240280"/>
            <a:ext cx="4906277" cy="3383280"/>
          </a:xfrm>
          <a:prstGeom prst="rect">
            <a:avLst/>
          </a:prstGeom>
          <a:noFill/>
          <a:ln/>
        </p:spPr>
        <p:txBody>
          <a:bodyPr wrap="square" lIns="254" tIns="254" rIns="254" bIns="254" rtlCol="0" anchor="t"/>
          <a:lstStyle/>
          <a:p>
            <a:pPr algn="l" indent="0" marL="0">
              <a:lnSpc>
                <a:spcPts val="2400"/>
              </a:lnSpc>
              <a:buNone/>
            </a:pPr>
            <a:r>
              <a:rPr lang="en-US" sz="1600" dirty="0">
                <a:solidFill>
                  <a:srgbClr val="111827"/>
                </a:solidFill>
                <a:latin typeface="Calibri" pitchFamily="34" charset="0"/>
                <a:ea typeface="Calibri" pitchFamily="34" charset="-122"/>
                <a:cs typeface="Calibri" pitchFamily="34" charset="-120"/>
              </a:rPr>
              <a:t>Method v4 adds a correction objective and an oracle diagnostic</a:t>
            </a:r>
            <a:endParaRPr lang="en-US" sz="1600" dirty="0"/>
          </a:p>
        </p:txBody>
      </p:sp>
      <p:sp>
        <p:nvSpPr>
          <p:cNvPr id="21" name="recap-week-chip"/>
          <p:cNvSpPr/>
          <p:nvPr/>
        </p:nvSpPr>
        <p:spPr>
          <a:xfrm>
            <a:off x="6462458" y="5394960"/>
            <a:ext cx="1463040" cy="292608"/>
          </a:xfrm>
          <a:prstGeom prst="roundRect">
            <a:avLst>
              <a:gd name="adj" fmla="val 50000"/>
            </a:avLst>
          </a:prstGeom>
          <a:solidFill>
            <a:srgbClr val="FFFFFF"/>
          </a:solidFill>
          <a:ln w="13970">
            <a:solidFill>
              <a:srgbClr val="E5E7EB"/>
            </a:solidFill>
            <a:prstDash val="solid"/>
            <a:headEnd type="none"/>
            <a:tailEnd type="none"/>
          </a:ln>
        </p:spPr>
      </p:sp>
      <p:sp>
        <p:nvSpPr>
          <p:cNvPr id="22" name="recap-week-chip__label"/>
          <p:cNvSpPr/>
          <p:nvPr/>
        </p:nvSpPr>
        <p:spPr>
          <a:xfrm>
            <a:off x="6462458" y="5394960"/>
            <a:ext cx="1463040" cy="292608"/>
          </a:xfrm>
          <a:prstGeom prst="rect">
            <a:avLst/>
          </a:prstGeom>
          <a:noFill/>
          <a:ln/>
        </p:spPr>
        <p:txBody>
          <a:bodyPr wrap="square" lIns="254" tIns="254" rIns="254" bIns="254" rtlCol="0" anchor="ctr"/>
          <a:lstStyle/>
          <a:p>
            <a:pPr algn="ctr" indent="0" marL="0">
              <a:lnSpc>
                <a:spcPts val="1200"/>
              </a:lnSpc>
              <a:buNone/>
            </a:pPr>
            <a:r>
              <a:rPr lang="en-US" sz="1000" b="1" dirty="0">
                <a:solidFill>
                  <a:srgbClr val="374151"/>
                </a:solidFill>
                <a:latin typeface="Calibri" pitchFamily="34" charset="0"/>
                <a:ea typeface="Calibri" pitchFamily="34" charset="-122"/>
                <a:cs typeface="Calibri" pitchFamily="34" charset="-120"/>
              </a:rPr>
              <a:t>Last week: v3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rgbClr val="FFFFFF"/>
          </a:solidFill>
          <a:ln/>
        </p:spPr>
      </p:sp>
      <p:sp>
        <p:nvSpPr>
          <p:cNvPr id="3" name="kicker"/>
          <p:cNvSpPr/>
          <p:nvPr/>
        </p:nvSpPr>
        <p:spPr>
          <a:xfrm>
            <a:off x="566928" y="365760"/>
            <a:ext cx="6855860" cy="237744"/>
          </a:xfrm>
          <a:prstGeom prst="rect">
            <a:avLst/>
          </a:prstGeom>
          <a:noFill/>
          <a:ln/>
        </p:spPr>
        <p:txBody>
          <a:bodyPr wrap="square" lIns="254" tIns="254" rIns="254" bIns="254" rtlCol="0" anchor="ctr"/>
          <a:lstStyle/>
          <a:p>
            <a:pPr algn="l" indent="0" marL="0">
              <a:lnSpc>
                <a:spcPts val="1400"/>
              </a:lnSpc>
              <a:buNone/>
            </a:pPr>
            <a:r>
              <a:rPr lang="en-US" sz="1200" b="1" dirty="0">
                <a:solidFill>
                  <a:srgbClr val="2563EB"/>
                </a:solidFill>
                <a:latin typeface="Calibri" pitchFamily="34" charset="0"/>
                <a:ea typeface="Calibri" pitchFamily="34" charset="-122"/>
                <a:cs typeface="Calibri" pitchFamily="34" charset="-120"/>
              </a:rPr>
              <a:t>WHAT CHANGED</a:t>
            </a:r>
            <a:endParaRPr lang="en-US" sz="1200" dirty="0"/>
          </a:p>
        </p:txBody>
      </p:sp>
      <p:sp>
        <p:nvSpPr>
          <p:cNvPr id="4" name="header-meta"/>
          <p:cNvSpPr/>
          <p:nvPr/>
        </p:nvSpPr>
        <p:spPr>
          <a:xfrm>
            <a:off x="6648740" y="365760"/>
            <a:ext cx="4976028" cy="237744"/>
          </a:xfrm>
          <a:prstGeom prst="rect">
            <a:avLst/>
          </a:prstGeom>
          <a:noFill/>
          <a:ln/>
        </p:spPr>
        <p:txBody>
          <a:bodyPr wrap="square" lIns="254" tIns="254" rIns="254" bIns="254" rtlCol="0" anchor="ctr"/>
          <a:lstStyle/>
          <a:p>
            <a:pPr algn="r" indent="0" marL="0">
              <a:lnSpc>
                <a:spcPts val="1200"/>
              </a:lnSpc>
              <a:buNone/>
            </a:pPr>
            <a:r>
              <a:rPr lang="en-US" sz="1000" dirty="0">
                <a:solidFill>
                  <a:srgbClr val="6B7280"/>
                </a:solidFill>
                <a:latin typeface="Calibri" pitchFamily="34" charset="0"/>
                <a:ea typeface="Calibri" pitchFamily="34" charset="-122"/>
                <a:cs typeface="Calibri" pitchFamily="34" charset="-120"/>
              </a:rPr>
              <a:t>Cached Future-Feature Prediction  ·  Week 6</a:t>
            </a:r>
            <a:endParaRPr lang="en-US" sz="1000" dirty="0"/>
          </a:p>
        </p:txBody>
      </p:sp>
      <p:sp>
        <p:nvSpPr>
          <p:cNvPr id="5" name="title-main"/>
          <p:cNvSpPr/>
          <p:nvPr/>
        </p:nvSpPr>
        <p:spPr>
          <a:xfrm>
            <a:off x="566928" y="621792"/>
            <a:ext cx="11057839" cy="548640"/>
          </a:xfrm>
          <a:prstGeom prst="rect">
            <a:avLst/>
          </a:prstGeom>
          <a:noFill/>
          <a:ln/>
        </p:spPr>
        <p:txBody>
          <a:bodyPr wrap="square" lIns="254" tIns="254" rIns="254" bIns="254" rtlCol="0" anchor="ctr"/>
          <a:lstStyle/>
          <a:p>
            <a:pPr algn="l" indent="0" marL="0">
              <a:lnSpc>
                <a:spcPts val="3000"/>
              </a:lnSpc>
              <a:buNone/>
            </a:pPr>
            <a:r>
              <a:rPr lang="en-US" sz="2700" b="1" dirty="0">
                <a:solidFill>
                  <a:srgbClr val="111827"/>
                </a:solidFill>
                <a:latin typeface="Calibri" pitchFamily="34" charset="0"/>
                <a:ea typeface="Calibri" pitchFamily="34" charset="-122"/>
                <a:cs typeface="Calibri" pitchFamily="34" charset="-120"/>
              </a:rPr>
              <a:t>What changed in the method: v3 to v4</a:t>
            </a:r>
            <a:endParaRPr lang="en-US" sz="2700" dirty="0"/>
          </a:p>
        </p:txBody>
      </p:sp>
      <p:sp>
        <p:nvSpPr>
          <p:cNvPr id="6" name="chrome-rule"/>
          <p:cNvSpPr/>
          <p:nvPr/>
        </p:nvSpPr>
        <p:spPr>
          <a:xfrm>
            <a:off x="566928" y="1243584"/>
            <a:ext cx="11057839" cy="20117"/>
          </a:xfrm>
          <a:prstGeom prst="rect">
            <a:avLst/>
          </a:prstGeom>
          <a:solidFill>
            <a:srgbClr val="E5E7EB"/>
          </a:solidFill>
          <a:ln/>
        </p:spPr>
      </p:sp>
      <p:sp>
        <p:nvSpPr>
          <p:cNvPr id="7" name="chrome-rule-accent"/>
          <p:cNvSpPr/>
          <p:nvPr/>
        </p:nvSpPr>
        <p:spPr>
          <a:xfrm>
            <a:off x="566928" y="1243584"/>
            <a:ext cx="1051560" cy="20117"/>
          </a:xfrm>
          <a:prstGeom prst="rect">
            <a:avLst/>
          </a:prstGeom>
          <a:solidFill>
            <a:srgbClr val="2563EB"/>
          </a:solidFill>
          <a:ln/>
        </p:spPr>
      </p:sp>
      <p:sp>
        <p:nvSpPr>
          <p:cNvPr id="8" name="footer-text"/>
          <p:cNvSpPr/>
          <p:nvPr/>
        </p:nvSpPr>
        <p:spPr>
          <a:xfrm>
            <a:off x="566928" y="6419088"/>
            <a:ext cx="8293379" cy="237744"/>
          </a:xfrm>
          <a:prstGeom prst="rect">
            <a:avLst/>
          </a:prstGeom>
          <a:noFill/>
          <a:ln/>
        </p:spPr>
        <p:txBody>
          <a:bodyPr wrap="square" lIns="254" tIns="254" rIns="254" bIns="254" rtlCol="0" anchor="ctr"/>
          <a:lstStyle/>
          <a:p>
            <a:pPr algn="l" indent="0" marL="0">
              <a:lnSpc>
                <a:spcPts val="1200"/>
              </a:lnSpc>
              <a:buNone/>
            </a:pPr>
            <a:r>
              <a:rPr lang="en-US" sz="1000" dirty="0">
                <a:solidFill>
                  <a:srgbClr val="9CA3AF"/>
                </a:solidFill>
                <a:latin typeface="Calibri" pitchFamily="34" charset="0"/>
                <a:ea typeface="Calibri" pitchFamily="34" charset="-122"/>
                <a:cs typeface="Calibri" pitchFamily="34" charset="-120"/>
              </a:rPr>
              <a:t>Cached Future-Feature Prediction · synthetic demo</a:t>
            </a:r>
            <a:endParaRPr lang="en-US" sz="1000" dirty="0"/>
          </a:p>
        </p:txBody>
      </p:sp>
      <p:sp>
        <p:nvSpPr>
          <p:cNvPr id="9" name="footer-slide-number"/>
          <p:cNvSpPr/>
          <p:nvPr/>
        </p:nvSpPr>
        <p:spPr>
          <a:xfrm>
            <a:off x="10076670" y="6419088"/>
            <a:ext cx="1548097" cy="237744"/>
          </a:xfrm>
          <a:prstGeom prst="rect">
            <a:avLst/>
          </a:prstGeom>
          <a:noFill/>
          <a:ln/>
        </p:spPr>
        <p:txBody>
          <a:bodyPr wrap="square" lIns="254" tIns="254" rIns="254" bIns="254" rtlCol="0" anchor="ctr"/>
          <a:lstStyle/>
          <a:p>
            <a:pPr algn="r" indent="0" marL="0">
              <a:lnSpc>
                <a:spcPts val="1200"/>
              </a:lnSpc>
              <a:buNone/>
            </a:pPr>
            <a:r>
              <a:rPr lang="en-US" sz="1000" dirty="0">
                <a:solidFill>
                  <a:srgbClr val="9CA3AF"/>
                </a:solidFill>
                <a:latin typeface="Calibri" pitchFamily="34" charset="0"/>
                <a:ea typeface="Calibri" pitchFamily="34" charset="-122"/>
                <a:cs typeface="Calibri" pitchFamily="34" charset="-120"/>
              </a:rPr>
              <a:t>3 / 10</a:t>
            </a:r>
            <a:endParaRPr lang="en-US" sz="1000" dirty="0"/>
          </a:p>
        </p:txBody>
      </p:sp>
      <p:sp>
        <p:nvSpPr>
          <p:cNvPr id="10" name="method-from"/>
          <p:cNvSpPr/>
          <p:nvPr/>
        </p:nvSpPr>
        <p:spPr>
          <a:xfrm>
            <a:off x="566928" y="1627632"/>
            <a:ext cx="1554480" cy="566928"/>
          </a:xfrm>
          <a:prstGeom prst="roundRect">
            <a:avLst>
              <a:gd name="adj" fmla="val 20968"/>
            </a:avLst>
          </a:prstGeom>
          <a:solidFill>
            <a:srgbClr val="F1F5F9"/>
          </a:solidFill>
          <a:ln w="13970">
            <a:solidFill>
              <a:srgbClr val="6B7280"/>
            </a:solidFill>
            <a:prstDash val="solid"/>
            <a:headEnd type="none"/>
            <a:tailEnd type="none"/>
          </a:ln>
        </p:spPr>
      </p:sp>
      <p:sp>
        <p:nvSpPr>
          <p:cNvPr id="11" name="method-from__label"/>
          <p:cNvSpPr/>
          <p:nvPr/>
        </p:nvSpPr>
        <p:spPr>
          <a:xfrm>
            <a:off x="566928" y="1627632"/>
            <a:ext cx="1554480" cy="566928"/>
          </a:xfrm>
          <a:prstGeom prst="rect">
            <a:avLst/>
          </a:prstGeom>
          <a:noFill/>
          <a:ln/>
        </p:spPr>
        <p:txBody>
          <a:bodyPr wrap="square" lIns="254" tIns="254" rIns="254" bIns="254" rtlCol="0" anchor="ctr"/>
          <a:lstStyle/>
          <a:p>
            <a:pPr algn="ctr" indent="0" marL="0">
              <a:lnSpc>
                <a:spcPts val="2000"/>
              </a:lnSpc>
              <a:buNone/>
            </a:pPr>
            <a:r>
              <a:rPr lang="en-US" sz="1700" b="1" dirty="0">
                <a:solidFill>
                  <a:srgbClr val="374151"/>
                </a:solidFill>
                <a:latin typeface="Calibri" pitchFamily="34" charset="0"/>
                <a:ea typeface="Calibri" pitchFamily="34" charset="-122"/>
                <a:cs typeface="Calibri" pitchFamily="34" charset="-120"/>
              </a:rPr>
              <a:t>v3</a:t>
            </a:r>
            <a:endParaRPr lang="en-US" sz="1700" dirty="0"/>
          </a:p>
        </p:txBody>
      </p:sp>
      <p:sp>
        <p:nvSpPr>
          <p:cNvPr id="12" name="method-delta-arrow"/>
          <p:cNvSpPr/>
          <p:nvPr/>
        </p:nvSpPr>
        <p:spPr>
          <a:xfrm>
            <a:off x="2231136" y="1911096"/>
            <a:ext cx="1033272" cy="0"/>
          </a:xfrm>
          <a:prstGeom prst="line">
            <a:avLst/>
          </a:prstGeom>
          <a:noFill/>
          <a:ln w="20320">
            <a:solidFill>
              <a:srgbClr val="2563EB"/>
            </a:solidFill>
            <a:prstDash val="solid"/>
            <a:headEnd type="none"/>
            <a:tailEnd type="triangle"/>
          </a:ln>
        </p:spPr>
      </p:sp>
      <p:sp>
        <p:nvSpPr>
          <p:cNvPr id="13" name="method-to"/>
          <p:cNvSpPr/>
          <p:nvPr/>
        </p:nvSpPr>
        <p:spPr>
          <a:xfrm>
            <a:off x="3374136" y="1627632"/>
            <a:ext cx="1737360" cy="566928"/>
          </a:xfrm>
          <a:prstGeom prst="roundRect">
            <a:avLst>
              <a:gd name="adj" fmla="val 20968"/>
            </a:avLst>
          </a:prstGeom>
          <a:solidFill>
            <a:srgbClr val="EAF1FE"/>
          </a:solidFill>
          <a:ln w="13970">
            <a:solidFill>
              <a:srgbClr val="2563EB"/>
            </a:solidFill>
            <a:prstDash val="solid"/>
            <a:headEnd type="none"/>
            <a:tailEnd type="none"/>
          </a:ln>
        </p:spPr>
      </p:sp>
      <p:sp>
        <p:nvSpPr>
          <p:cNvPr id="14" name="method-to__label"/>
          <p:cNvSpPr/>
          <p:nvPr/>
        </p:nvSpPr>
        <p:spPr>
          <a:xfrm>
            <a:off x="3374136" y="1627632"/>
            <a:ext cx="1737360" cy="566928"/>
          </a:xfrm>
          <a:prstGeom prst="rect">
            <a:avLst/>
          </a:prstGeom>
          <a:noFill/>
          <a:ln/>
        </p:spPr>
        <p:txBody>
          <a:bodyPr wrap="square" lIns="254" tIns="254" rIns="254" bIns="254" rtlCol="0" anchor="ctr"/>
          <a:lstStyle/>
          <a:p>
            <a:pPr algn="ctr" indent="0" marL="0">
              <a:lnSpc>
                <a:spcPts val="2000"/>
              </a:lnSpc>
              <a:buNone/>
            </a:pPr>
            <a:r>
              <a:rPr lang="en-US" sz="1700" b="1" dirty="0">
                <a:solidFill>
                  <a:srgbClr val="2563EB"/>
                </a:solidFill>
                <a:latin typeface="Calibri" pitchFamily="34" charset="0"/>
                <a:ea typeface="Calibri" pitchFamily="34" charset="-122"/>
                <a:cs typeface="Calibri" pitchFamily="34" charset="-120"/>
              </a:rPr>
              <a:t>v4</a:t>
            </a:r>
            <a:endParaRPr lang="en-US" sz="1700" dirty="0"/>
          </a:p>
        </p:txBody>
      </p:sp>
      <p:sp>
        <p:nvSpPr>
          <p:cNvPr id="15" name="method-delta-k"/>
          <p:cNvSpPr/>
          <p:nvPr/>
        </p:nvSpPr>
        <p:spPr>
          <a:xfrm>
            <a:off x="566928" y="2487168"/>
            <a:ext cx="5528920" cy="219456"/>
          </a:xfrm>
          <a:prstGeom prst="rect">
            <a:avLst/>
          </a:prstGeom>
          <a:noFill/>
          <a:ln/>
        </p:spPr>
        <p:txBody>
          <a:bodyPr wrap="square" lIns="254" tIns="254" rIns="254" bIns="254" rtlCol="0" anchor="ctr"/>
          <a:lstStyle/>
          <a:p>
            <a:pPr algn="l" indent="0" marL="0">
              <a:lnSpc>
                <a:spcPts val="1200"/>
              </a:lnSpc>
              <a:buNone/>
            </a:pPr>
            <a:r>
              <a:rPr lang="en-US" sz="1000" b="1" dirty="0">
                <a:solidFill>
                  <a:srgbClr val="6B7280"/>
                </a:solidFill>
                <a:latin typeface="Calibri" pitchFamily="34" charset="0"/>
                <a:ea typeface="Calibri" pitchFamily="34" charset="-122"/>
                <a:cs typeface="Calibri" pitchFamily="34" charset="-120"/>
              </a:rPr>
              <a:t>CHANGES THIS WEEK</a:t>
            </a:r>
            <a:endParaRPr lang="en-US" sz="1000" dirty="0"/>
          </a:p>
        </p:txBody>
      </p:sp>
      <p:sp>
        <p:nvSpPr>
          <p:cNvPr id="16" name="method-change-0-bar"/>
          <p:cNvSpPr/>
          <p:nvPr/>
        </p:nvSpPr>
        <p:spPr>
          <a:xfrm>
            <a:off x="566928" y="2843784"/>
            <a:ext cx="45720" cy="701040"/>
          </a:xfrm>
          <a:prstGeom prst="rect">
            <a:avLst/>
          </a:prstGeom>
          <a:solidFill>
            <a:srgbClr val="2563EB"/>
          </a:solidFill>
          <a:ln/>
        </p:spPr>
      </p:sp>
      <p:sp>
        <p:nvSpPr>
          <p:cNvPr id="17" name="method-change-0"/>
          <p:cNvSpPr/>
          <p:nvPr/>
        </p:nvSpPr>
        <p:spPr>
          <a:xfrm>
            <a:off x="768096" y="2788920"/>
            <a:ext cx="5086606" cy="365760"/>
          </a:xfrm>
          <a:prstGeom prst="rect">
            <a:avLst/>
          </a:prstGeom>
          <a:noFill/>
          <a:ln/>
        </p:spPr>
        <p:txBody>
          <a:bodyPr wrap="square" lIns="254" tIns="254" rIns="254" bIns="254" rtlCol="0" anchor="ctr"/>
          <a:lstStyle/>
          <a:p>
            <a:pPr algn="l" indent="0" marL="0">
              <a:lnSpc>
                <a:spcPts val="1800"/>
              </a:lnSpc>
              <a:buNone/>
            </a:pPr>
            <a:r>
              <a:rPr lang="en-US" sz="1500" b="1" dirty="0">
                <a:solidFill>
                  <a:srgbClr val="111827"/>
                </a:solidFill>
                <a:latin typeface="Calibri" pitchFamily="34" charset="0"/>
                <a:ea typeface="Calibri" pitchFamily="34" charset="-122"/>
                <a:cs typeface="Calibri" pitchFamily="34" charset="-120"/>
              </a:rPr>
              <a:t>Added a correction objective</a:t>
            </a:r>
            <a:endParaRPr lang="en-US" sz="1500" dirty="0"/>
          </a:p>
        </p:txBody>
      </p:sp>
      <p:sp>
        <p:nvSpPr>
          <p:cNvPr id="18" name="method-change-1-bar"/>
          <p:cNvSpPr/>
          <p:nvPr/>
        </p:nvSpPr>
        <p:spPr>
          <a:xfrm>
            <a:off x="566928" y="3727704"/>
            <a:ext cx="45720" cy="701040"/>
          </a:xfrm>
          <a:prstGeom prst="rect">
            <a:avLst/>
          </a:prstGeom>
          <a:solidFill>
            <a:srgbClr val="2563EB"/>
          </a:solidFill>
          <a:ln/>
        </p:spPr>
      </p:sp>
      <p:sp>
        <p:nvSpPr>
          <p:cNvPr id="19" name="method-change-1"/>
          <p:cNvSpPr/>
          <p:nvPr/>
        </p:nvSpPr>
        <p:spPr>
          <a:xfrm>
            <a:off x="768096" y="3672840"/>
            <a:ext cx="5086606" cy="365760"/>
          </a:xfrm>
          <a:prstGeom prst="rect">
            <a:avLst/>
          </a:prstGeom>
          <a:noFill/>
          <a:ln/>
        </p:spPr>
        <p:txBody>
          <a:bodyPr wrap="square" lIns="254" tIns="254" rIns="254" bIns="254" rtlCol="0" anchor="ctr"/>
          <a:lstStyle/>
          <a:p>
            <a:pPr algn="l" indent="0" marL="0">
              <a:lnSpc>
                <a:spcPts val="1800"/>
              </a:lnSpc>
              <a:buNone/>
            </a:pPr>
            <a:r>
              <a:rPr lang="en-US" sz="1500" b="1" dirty="0">
                <a:solidFill>
                  <a:srgbClr val="111827"/>
                </a:solidFill>
                <a:latin typeface="Calibri" pitchFamily="34" charset="0"/>
                <a:ea typeface="Calibri" pitchFamily="34" charset="-122"/>
                <a:cs typeface="Calibri" pitchFamily="34" charset="-120"/>
              </a:rPr>
              <a:t>Added an oracle diagnostic</a:t>
            </a:r>
            <a:endParaRPr lang="en-US" sz="1500" dirty="0"/>
          </a:p>
        </p:txBody>
      </p:sp>
      <p:sp>
        <p:nvSpPr>
          <p:cNvPr id="20" name="method-change-2-bar"/>
          <p:cNvSpPr/>
          <p:nvPr/>
        </p:nvSpPr>
        <p:spPr>
          <a:xfrm>
            <a:off x="566928" y="4611624"/>
            <a:ext cx="45720" cy="701040"/>
          </a:xfrm>
          <a:prstGeom prst="rect">
            <a:avLst/>
          </a:prstGeom>
          <a:solidFill>
            <a:srgbClr val="2563EB"/>
          </a:solidFill>
          <a:ln/>
        </p:spPr>
      </p:sp>
      <p:sp>
        <p:nvSpPr>
          <p:cNvPr id="21" name="method-change-2"/>
          <p:cNvSpPr/>
          <p:nvPr/>
        </p:nvSpPr>
        <p:spPr>
          <a:xfrm>
            <a:off x="768096" y="4556760"/>
            <a:ext cx="5086606" cy="365760"/>
          </a:xfrm>
          <a:prstGeom prst="rect">
            <a:avLst/>
          </a:prstGeom>
          <a:noFill/>
          <a:ln/>
        </p:spPr>
        <p:txBody>
          <a:bodyPr wrap="square" lIns="254" tIns="254" rIns="254" bIns="254" rtlCol="0" anchor="ctr"/>
          <a:lstStyle/>
          <a:p>
            <a:pPr algn="l" indent="0" marL="0">
              <a:lnSpc>
                <a:spcPts val="1800"/>
              </a:lnSpc>
              <a:buNone/>
            </a:pPr>
            <a:r>
              <a:rPr lang="en-US" sz="1500" b="1" dirty="0">
                <a:solidFill>
                  <a:srgbClr val="111827"/>
                </a:solidFill>
                <a:latin typeface="Calibri" pitchFamily="34" charset="0"/>
                <a:ea typeface="Calibri" pitchFamily="34" charset="-122"/>
                <a:cs typeface="Calibri" pitchFamily="34" charset="-120"/>
              </a:rPr>
              <a:t>Scaled down the correction magnitude</a:t>
            </a:r>
            <a:endParaRPr lang="en-US" sz="1500" dirty="0"/>
          </a:p>
        </p:txBody>
      </p:sp>
      <p:sp>
        <p:nvSpPr>
          <p:cNvPr id="22" name="method-change-2-why"/>
          <p:cNvSpPr/>
          <p:nvPr/>
        </p:nvSpPr>
        <p:spPr>
          <a:xfrm>
            <a:off x="768096" y="4922520"/>
            <a:ext cx="5086606" cy="426720"/>
          </a:xfrm>
          <a:prstGeom prst="rect">
            <a:avLst/>
          </a:prstGeom>
          <a:noFill/>
          <a:ln/>
        </p:spPr>
        <p:txBody>
          <a:bodyPr wrap="square" lIns="254" tIns="254" rIns="254" bIns="254" rtlCol="0" anchor="t"/>
          <a:lstStyle/>
          <a:p>
            <a:pPr algn="l" indent="0" marL="0">
              <a:lnSpc>
                <a:spcPts val="1400"/>
              </a:lnSpc>
              <a:buNone/>
            </a:pPr>
            <a:r>
              <a:rPr lang="en-US" sz="1150" dirty="0">
                <a:solidFill>
                  <a:srgbClr val="6B7280"/>
                </a:solidFill>
                <a:latin typeface="Calibri" pitchFamily="34" charset="0"/>
                <a:ea typeface="Calibri" pitchFamily="34" charset="-122"/>
                <a:cs typeface="Calibri" pitchFamily="34" charset="-120"/>
              </a:rPr>
              <a:t>Reduce drift when the correction is applied over long rollouts.</a:t>
            </a:r>
            <a:endParaRPr lang="en-US" sz="1150" dirty="0"/>
          </a:p>
        </p:txBody>
      </p:sp>
      <p:sp>
        <p:nvSpPr>
          <p:cNvPr id="23" name="method-unchanged"/>
          <p:cNvSpPr/>
          <p:nvPr/>
        </p:nvSpPr>
        <p:spPr>
          <a:xfrm>
            <a:off x="6427583" y="2697480"/>
            <a:ext cx="5197184" cy="2926080"/>
          </a:xfrm>
          <a:prstGeom prst="roundRect">
            <a:avLst>
              <a:gd name="adj" fmla="val 3438"/>
            </a:avLst>
          </a:prstGeom>
          <a:solidFill>
            <a:srgbClr val="F9FAFB"/>
          </a:solidFill>
          <a:ln w="13970">
            <a:solidFill>
              <a:srgbClr val="E5E7EB"/>
            </a:solidFill>
            <a:prstDash val="solid"/>
            <a:headEnd type="none"/>
            <a:tailEnd type="none"/>
          </a:ln>
        </p:spPr>
      </p:sp>
      <p:sp>
        <p:nvSpPr>
          <p:cNvPr id="24" name="method-unchanged-k"/>
          <p:cNvSpPr/>
          <p:nvPr/>
        </p:nvSpPr>
        <p:spPr>
          <a:xfrm>
            <a:off x="6647039" y="2852928"/>
            <a:ext cx="4758272" cy="274320"/>
          </a:xfrm>
          <a:prstGeom prst="rect">
            <a:avLst/>
          </a:prstGeom>
          <a:noFill/>
          <a:ln/>
        </p:spPr>
        <p:txBody>
          <a:bodyPr wrap="square" lIns="254" tIns="254" rIns="254" bIns="254" rtlCol="0" anchor="ctr"/>
          <a:lstStyle/>
          <a:p>
            <a:pPr algn="l" indent="0" marL="0">
              <a:lnSpc>
                <a:spcPts val="1200"/>
              </a:lnSpc>
              <a:buNone/>
            </a:pPr>
            <a:r>
              <a:rPr lang="en-US" sz="1000" b="1" dirty="0">
                <a:solidFill>
                  <a:srgbClr val="6B7280"/>
                </a:solidFill>
                <a:latin typeface="Calibri" pitchFamily="34" charset="0"/>
                <a:ea typeface="Calibri" pitchFamily="34" charset="-122"/>
                <a:cs typeface="Calibri" pitchFamily="34" charset="-120"/>
              </a:rPr>
              <a:t>UNCHANGED</a:t>
            </a:r>
            <a:endParaRPr lang="en-US" sz="1000" dirty="0"/>
          </a:p>
        </p:txBody>
      </p:sp>
      <p:sp>
        <p:nvSpPr>
          <p:cNvPr id="25" name="method-unchanged-0"/>
          <p:cNvSpPr/>
          <p:nvPr/>
        </p:nvSpPr>
        <p:spPr>
          <a:xfrm>
            <a:off x="6647039" y="3246120"/>
            <a:ext cx="4758272" cy="640080"/>
          </a:xfrm>
          <a:prstGeom prst="rect">
            <a:avLst/>
          </a:prstGeom>
          <a:noFill/>
          <a:ln/>
        </p:spPr>
        <p:txBody>
          <a:bodyPr wrap="square" lIns="254" tIns="254" rIns="254" bIns="254" rtlCol="0" anchor="t"/>
          <a:lstStyle/>
          <a:p>
            <a:pPr algn="l" indent="0" marL="0">
              <a:lnSpc>
                <a:spcPts val="1600"/>
              </a:lnSpc>
              <a:buNone/>
            </a:pPr>
            <a:r>
              <a:rPr lang="en-US" sz="1300" dirty="0">
                <a:solidFill>
                  <a:srgbClr val="6B7280"/>
                </a:solidFill>
                <a:latin typeface="Calibri" pitchFamily="34" charset="0"/>
                <a:ea typeface="Calibri" pitchFamily="34" charset="-122"/>
                <a:cs typeface="Calibri" pitchFamily="34" charset="-120"/>
              </a:rPr>
              <a:t>Cache layout and update schedule</a:t>
            </a:r>
            <a:endParaRPr lang="en-US" sz="1300" dirty="0"/>
          </a:p>
        </p:txBody>
      </p:sp>
      <p:sp>
        <p:nvSpPr>
          <p:cNvPr id="26" name="method-unchanged-1"/>
          <p:cNvSpPr/>
          <p:nvPr/>
        </p:nvSpPr>
        <p:spPr>
          <a:xfrm>
            <a:off x="6647039" y="3931920"/>
            <a:ext cx="4758272" cy="640080"/>
          </a:xfrm>
          <a:prstGeom prst="rect">
            <a:avLst/>
          </a:prstGeom>
          <a:noFill/>
          <a:ln/>
        </p:spPr>
        <p:txBody>
          <a:bodyPr wrap="square" lIns="254" tIns="254" rIns="254" bIns="254" rtlCol="0" anchor="t"/>
          <a:lstStyle/>
          <a:p>
            <a:pPr algn="l" indent="0" marL="0">
              <a:lnSpc>
                <a:spcPts val="1600"/>
              </a:lnSpc>
              <a:buNone/>
            </a:pPr>
            <a:r>
              <a:rPr lang="en-US" sz="1300" dirty="0">
                <a:solidFill>
                  <a:srgbClr val="6B7280"/>
                </a:solidFill>
                <a:latin typeface="Calibri" pitchFamily="34" charset="0"/>
                <a:ea typeface="Calibri" pitchFamily="34" charset="-122"/>
                <a:cs typeface="Calibri" pitchFamily="34" charset="-120"/>
              </a:rPr>
              <a:t>Backbone and dataset split</a:t>
            </a:r>
            <a:endParaRPr lang="en-US" sz="1300" dirty="0"/>
          </a:p>
        </p:txBody>
      </p:sp>
      <p:sp>
        <p:nvSpPr>
          <p:cNvPr id="27" name="method-unchanged-2"/>
          <p:cNvSpPr/>
          <p:nvPr/>
        </p:nvSpPr>
        <p:spPr>
          <a:xfrm>
            <a:off x="6647039" y="4617720"/>
            <a:ext cx="4758272" cy="640080"/>
          </a:xfrm>
          <a:prstGeom prst="rect">
            <a:avLst/>
          </a:prstGeom>
          <a:noFill/>
          <a:ln/>
        </p:spPr>
        <p:txBody>
          <a:bodyPr wrap="square" lIns="254" tIns="254" rIns="254" bIns="254" rtlCol="0" anchor="t"/>
          <a:lstStyle/>
          <a:p>
            <a:pPr algn="l" indent="0" marL="0">
              <a:lnSpc>
                <a:spcPts val="1600"/>
              </a:lnSpc>
              <a:buNone/>
            </a:pPr>
            <a:r>
              <a:rPr lang="en-US" sz="1300" dirty="0">
                <a:solidFill>
                  <a:srgbClr val="6B7280"/>
                </a:solidFill>
                <a:latin typeface="Calibri" pitchFamily="34" charset="0"/>
                <a:ea typeface="Calibri" pitchFamily="34" charset="-122"/>
                <a:cs typeface="Calibri" pitchFamily="34" charset="-120"/>
              </a:rPr>
              <a:t>Rollout evaluation protocol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rgbClr val="FFFFFF"/>
          </a:solidFill>
          <a:ln/>
        </p:spPr>
      </p:sp>
      <p:sp>
        <p:nvSpPr>
          <p:cNvPr id="3" name="kicker"/>
          <p:cNvSpPr/>
          <p:nvPr/>
        </p:nvSpPr>
        <p:spPr>
          <a:xfrm>
            <a:off x="566928" y="365760"/>
            <a:ext cx="6855860" cy="237744"/>
          </a:xfrm>
          <a:prstGeom prst="rect">
            <a:avLst/>
          </a:prstGeom>
          <a:noFill/>
          <a:ln/>
        </p:spPr>
        <p:txBody>
          <a:bodyPr wrap="square" lIns="254" tIns="254" rIns="254" bIns="254" rtlCol="0" anchor="ctr"/>
          <a:lstStyle/>
          <a:p>
            <a:pPr algn="l" indent="0" marL="0">
              <a:lnSpc>
                <a:spcPts val="1400"/>
              </a:lnSpc>
              <a:buNone/>
            </a:pPr>
            <a:r>
              <a:rPr lang="en-US" sz="1200" b="1" dirty="0">
                <a:solidFill>
                  <a:srgbClr val="2563EB"/>
                </a:solidFill>
                <a:latin typeface="Calibri" pitchFamily="34" charset="0"/>
                <a:ea typeface="Calibri" pitchFamily="34" charset="-122"/>
                <a:cs typeface="Calibri" pitchFamily="34" charset="-120"/>
              </a:rPr>
              <a:t>GEOMETRY</a:t>
            </a:r>
            <a:endParaRPr lang="en-US" sz="1200" dirty="0"/>
          </a:p>
        </p:txBody>
      </p:sp>
      <p:sp>
        <p:nvSpPr>
          <p:cNvPr id="4" name="header-meta"/>
          <p:cNvSpPr/>
          <p:nvPr/>
        </p:nvSpPr>
        <p:spPr>
          <a:xfrm>
            <a:off x="6648740" y="365760"/>
            <a:ext cx="4976028" cy="237744"/>
          </a:xfrm>
          <a:prstGeom prst="rect">
            <a:avLst/>
          </a:prstGeom>
          <a:noFill/>
          <a:ln/>
        </p:spPr>
        <p:txBody>
          <a:bodyPr wrap="square" lIns="254" tIns="254" rIns="254" bIns="254" rtlCol="0" anchor="ctr"/>
          <a:lstStyle/>
          <a:p>
            <a:pPr algn="r" indent="0" marL="0">
              <a:lnSpc>
                <a:spcPts val="1200"/>
              </a:lnSpc>
              <a:buNone/>
            </a:pPr>
            <a:r>
              <a:rPr lang="en-US" sz="1000" dirty="0">
                <a:solidFill>
                  <a:srgbClr val="6B7280"/>
                </a:solidFill>
                <a:latin typeface="Calibri" pitchFamily="34" charset="0"/>
                <a:ea typeface="Calibri" pitchFamily="34" charset="-122"/>
                <a:cs typeface="Calibri" pitchFamily="34" charset="-120"/>
              </a:rPr>
              <a:t>Cached Future-Feature Prediction  ·  Week 6</a:t>
            </a:r>
            <a:endParaRPr lang="en-US" sz="1000" dirty="0"/>
          </a:p>
        </p:txBody>
      </p:sp>
      <p:sp>
        <p:nvSpPr>
          <p:cNvPr id="5" name="title-main"/>
          <p:cNvSpPr/>
          <p:nvPr/>
        </p:nvSpPr>
        <p:spPr>
          <a:xfrm>
            <a:off x="566928" y="621792"/>
            <a:ext cx="11057839" cy="548640"/>
          </a:xfrm>
          <a:prstGeom prst="rect">
            <a:avLst/>
          </a:prstGeom>
          <a:noFill/>
          <a:ln/>
        </p:spPr>
        <p:txBody>
          <a:bodyPr wrap="square" lIns="254" tIns="254" rIns="254" bIns="254" rtlCol="0" anchor="ctr"/>
          <a:lstStyle/>
          <a:p>
            <a:pPr algn="l" indent="0" marL="0">
              <a:lnSpc>
                <a:spcPts val="3000"/>
              </a:lnSpc>
              <a:buNone/>
            </a:pPr>
            <a:r>
              <a:rPr lang="en-US" sz="2700" b="1" dirty="0">
                <a:solidFill>
                  <a:srgbClr val="111827"/>
                </a:solidFill>
                <a:latin typeface="Calibri" pitchFamily="34" charset="0"/>
                <a:ea typeface="Calibri" pitchFamily="34" charset="-122"/>
                <a:cs typeface="Calibri" pitchFamily="34" charset="-120"/>
              </a:rPr>
              <a:t>Two stories for what the correction does</a:t>
            </a:r>
            <a:endParaRPr lang="en-US" sz="2700" dirty="0"/>
          </a:p>
        </p:txBody>
      </p:sp>
      <p:sp>
        <p:nvSpPr>
          <p:cNvPr id="6" name="chrome-rule"/>
          <p:cNvSpPr/>
          <p:nvPr/>
        </p:nvSpPr>
        <p:spPr>
          <a:xfrm>
            <a:off x="566928" y="1243584"/>
            <a:ext cx="11057839" cy="20117"/>
          </a:xfrm>
          <a:prstGeom prst="rect">
            <a:avLst/>
          </a:prstGeom>
          <a:solidFill>
            <a:srgbClr val="E5E7EB"/>
          </a:solidFill>
          <a:ln/>
        </p:spPr>
      </p:sp>
      <p:sp>
        <p:nvSpPr>
          <p:cNvPr id="7" name="chrome-rule-accent"/>
          <p:cNvSpPr/>
          <p:nvPr/>
        </p:nvSpPr>
        <p:spPr>
          <a:xfrm>
            <a:off x="566928" y="1243584"/>
            <a:ext cx="1051560" cy="20117"/>
          </a:xfrm>
          <a:prstGeom prst="rect">
            <a:avLst/>
          </a:prstGeom>
          <a:solidFill>
            <a:srgbClr val="2563EB"/>
          </a:solidFill>
          <a:ln/>
        </p:spPr>
      </p:sp>
      <p:sp>
        <p:nvSpPr>
          <p:cNvPr id="8" name="footer-text"/>
          <p:cNvSpPr/>
          <p:nvPr/>
        </p:nvSpPr>
        <p:spPr>
          <a:xfrm>
            <a:off x="566928" y="6419088"/>
            <a:ext cx="8293379" cy="237744"/>
          </a:xfrm>
          <a:prstGeom prst="rect">
            <a:avLst/>
          </a:prstGeom>
          <a:noFill/>
          <a:ln/>
        </p:spPr>
        <p:txBody>
          <a:bodyPr wrap="square" lIns="254" tIns="254" rIns="254" bIns="254" rtlCol="0" anchor="ctr"/>
          <a:lstStyle/>
          <a:p>
            <a:pPr algn="l" indent="0" marL="0">
              <a:lnSpc>
                <a:spcPts val="1200"/>
              </a:lnSpc>
              <a:buNone/>
            </a:pPr>
            <a:r>
              <a:rPr lang="en-US" sz="1000" dirty="0">
                <a:solidFill>
                  <a:srgbClr val="9CA3AF"/>
                </a:solidFill>
                <a:latin typeface="Calibri" pitchFamily="34" charset="0"/>
                <a:ea typeface="Calibri" pitchFamily="34" charset="-122"/>
                <a:cs typeface="Calibri" pitchFamily="34" charset="-120"/>
              </a:rPr>
              <a:t>Cached Future-Feature Prediction · synthetic demo</a:t>
            </a:r>
            <a:endParaRPr lang="en-US" sz="1000" dirty="0"/>
          </a:p>
        </p:txBody>
      </p:sp>
      <p:sp>
        <p:nvSpPr>
          <p:cNvPr id="9" name="footer-slide-number"/>
          <p:cNvSpPr/>
          <p:nvPr/>
        </p:nvSpPr>
        <p:spPr>
          <a:xfrm>
            <a:off x="10076670" y="6419088"/>
            <a:ext cx="1548097" cy="237744"/>
          </a:xfrm>
          <a:prstGeom prst="rect">
            <a:avLst/>
          </a:prstGeom>
          <a:noFill/>
          <a:ln/>
        </p:spPr>
        <p:txBody>
          <a:bodyPr wrap="square" lIns="254" tIns="254" rIns="254" bIns="254" rtlCol="0" anchor="ctr"/>
          <a:lstStyle/>
          <a:p>
            <a:pPr algn="r" indent="0" marL="0">
              <a:lnSpc>
                <a:spcPts val="1200"/>
              </a:lnSpc>
              <a:buNone/>
            </a:pPr>
            <a:r>
              <a:rPr lang="en-US" sz="1000" dirty="0">
                <a:solidFill>
                  <a:srgbClr val="9CA3AF"/>
                </a:solidFill>
                <a:latin typeface="Calibri" pitchFamily="34" charset="0"/>
                <a:ea typeface="Calibri" pitchFamily="34" charset="-122"/>
                <a:cs typeface="Calibri" pitchFamily="34" charset="-120"/>
              </a:rPr>
              <a:t>4 / 10</a:t>
            </a:r>
            <a:endParaRPr lang="en-US" sz="1000" dirty="0"/>
          </a:p>
        </p:txBody>
      </p:sp>
      <p:sp>
        <p:nvSpPr>
          <p:cNvPr id="10" name="concept-zs"/>
          <p:cNvSpPr/>
          <p:nvPr/>
        </p:nvSpPr>
        <p:spPr>
          <a:xfrm>
            <a:off x="2194560" y="3657600"/>
            <a:ext cx="914400" cy="914400"/>
          </a:xfrm>
          <a:prstGeom prst="ellipse">
            <a:avLst/>
          </a:prstGeom>
          <a:solidFill>
            <a:srgbClr val="FFFFFF"/>
          </a:solidFill>
          <a:ln w="16510">
            <a:solidFill>
              <a:srgbClr val="111827"/>
            </a:solidFill>
            <a:prstDash val="solid"/>
            <a:headEnd type="none"/>
            <a:tailEnd type="none"/>
          </a:ln>
        </p:spPr>
      </p:sp>
      <p:sp>
        <p:nvSpPr>
          <p:cNvPr id="11" name="concept-zs__label"/>
          <p:cNvSpPr/>
          <p:nvPr/>
        </p:nvSpPr>
        <p:spPr>
          <a:xfrm>
            <a:off x="2194560" y="3657600"/>
            <a:ext cx="914400" cy="914400"/>
          </a:xfrm>
          <a:prstGeom prst="rect">
            <a:avLst/>
          </a:prstGeom>
          <a:noFill/>
          <a:ln/>
        </p:spPr>
        <p:txBody>
          <a:bodyPr wrap="square" lIns="254" tIns="254" rIns="254" bIns="254" rtlCol="0" anchor="ctr"/>
          <a:lstStyle/>
          <a:p>
            <a:pPr algn="ctr" indent="0" marL="0">
              <a:lnSpc>
                <a:spcPts val="1800"/>
              </a:lnSpc>
              <a:buNone/>
            </a:pPr>
            <a:r>
              <a:rPr lang="en-US" sz="1500" b="1" dirty="0">
                <a:solidFill>
                  <a:srgbClr val="111827"/>
                </a:solidFill>
                <a:latin typeface="Calibri" pitchFamily="34" charset="0"/>
                <a:ea typeface="Calibri" pitchFamily="34" charset="-122"/>
                <a:cs typeface="Calibri" pitchFamily="34" charset="-120"/>
              </a:rPr>
              <a:t>Z_s</a:t>
            </a:r>
            <a:endParaRPr lang="en-US" sz="1500" dirty="0"/>
          </a:p>
        </p:txBody>
      </p:sp>
      <p:sp>
        <p:nvSpPr>
          <p:cNvPr id="12" name="concept-zs__sublabel"/>
          <p:cNvSpPr/>
          <p:nvPr/>
        </p:nvSpPr>
        <p:spPr>
          <a:xfrm>
            <a:off x="2194560" y="4608576"/>
            <a:ext cx="914400" cy="237744"/>
          </a:xfrm>
          <a:prstGeom prst="rect">
            <a:avLst/>
          </a:prstGeom>
          <a:noFill/>
          <a:ln/>
        </p:spPr>
        <p:txBody>
          <a:bodyPr wrap="square" lIns="254" tIns="254" rIns="254" bIns="254" rtlCol="0" anchor="t"/>
          <a:lstStyle/>
          <a:p>
            <a:pPr algn="ctr" indent="0" marL="0">
              <a:lnSpc>
                <a:spcPts val="1200"/>
              </a:lnSpc>
              <a:buNone/>
            </a:pPr>
            <a:r>
              <a:rPr lang="en-US" sz="1000" dirty="0">
                <a:solidFill>
                  <a:srgbClr val="6B7280"/>
                </a:solidFill>
                <a:latin typeface="Calibri" pitchFamily="34" charset="0"/>
                <a:ea typeface="Calibri" pitchFamily="34" charset="-122"/>
                <a:cs typeface="Calibri" pitchFamily="34" charset="-120"/>
              </a:rPr>
              <a:t>cached source</a:t>
            </a:r>
            <a:endParaRPr lang="en-US" sz="1000" dirty="0"/>
          </a:p>
        </p:txBody>
      </p:sp>
      <p:sp>
        <p:nvSpPr>
          <p:cNvPr id="13" name="concept-ztilde"/>
          <p:cNvSpPr/>
          <p:nvPr/>
        </p:nvSpPr>
        <p:spPr>
          <a:xfrm>
            <a:off x="7498080" y="3657600"/>
            <a:ext cx="914400" cy="914400"/>
          </a:xfrm>
          <a:prstGeom prst="ellipse">
            <a:avLst/>
          </a:prstGeom>
          <a:solidFill>
            <a:srgbClr val="FFFFFF"/>
          </a:solidFill>
          <a:ln w="16510">
            <a:solidFill>
              <a:srgbClr val="111827"/>
            </a:solidFill>
            <a:prstDash val="solid"/>
            <a:headEnd type="none"/>
            <a:tailEnd type="none"/>
          </a:ln>
        </p:spPr>
      </p:sp>
      <p:sp>
        <p:nvSpPr>
          <p:cNvPr id="14" name="concept-ztilde__label"/>
          <p:cNvSpPr/>
          <p:nvPr/>
        </p:nvSpPr>
        <p:spPr>
          <a:xfrm>
            <a:off x="7498080" y="3657600"/>
            <a:ext cx="914400" cy="914400"/>
          </a:xfrm>
          <a:prstGeom prst="rect">
            <a:avLst/>
          </a:prstGeom>
          <a:noFill/>
          <a:ln/>
        </p:spPr>
        <p:txBody>
          <a:bodyPr wrap="square" lIns="254" tIns="254" rIns="254" bIns="254" rtlCol="0" anchor="ctr"/>
          <a:lstStyle/>
          <a:p>
            <a:pPr algn="ctr" indent="0" marL="0">
              <a:lnSpc>
                <a:spcPts val="1800"/>
              </a:lnSpc>
              <a:buNone/>
            </a:pPr>
            <a:r>
              <a:rPr lang="en-US" sz="1500" b="1" dirty="0">
                <a:solidFill>
                  <a:srgbClr val="111827"/>
                </a:solidFill>
                <a:latin typeface="Calibri" pitchFamily="34" charset="0"/>
                <a:ea typeface="Calibri" pitchFamily="34" charset="-122"/>
                <a:cs typeface="Calibri" pitchFamily="34" charset="-120"/>
              </a:rPr>
              <a:t>Z~</a:t>
            </a:r>
            <a:endParaRPr lang="en-US" sz="1500" dirty="0"/>
          </a:p>
        </p:txBody>
      </p:sp>
      <p:sp>
        <p:nvSpPr>
          <p:cNvPr id="15" name="concept-ztilde__sublabel"/>
          <p:cNvSpPr/>
          <p:nvPr/>
        </p:nvSpPr>
        <p:spPr>
          <a:xfrm>
            <a:off x="7498080" y="4608576"/>
            <a:ext cx="914400" cy="237744"/>
          </a:xfrm>
          <a:prstGeom prst="rect">
            <a:avLst/>
          </a:prstGeom>
          <a:noFill/>
          <a:ln/>
        </p:spPr>
        <p:txBody>
          <a:bodyPr wrap="square" lIns="254" tIns="254" rIns="254" bIns="254" rtlCol="0" anchor="t"/>
          <a:lstStyle/>
          <a:p>
            <a:pPr algn="ctr" indent="0" marL="0">
              <a:lnSpc>
                <a:spcPts val="1200"/>
              </a:lnSpc>
              <a:buNone/>
            </a:pPr>
            <a:r>
              <a:rPr lang="en-US" sz="1000" dirty="0">
                <a:solidFill>
                  <a:srgbClr val="6B7280"/>
                </a:solidFill>
                <a:latin typeface="Calibri" pitchFamily="34" charset="0"/>
                <a:ea typeface="Calibri" pitchFamily="34" charset="-122"/>
                <a:cs typeface="Calibri" pitchFamily="34" charset="-120"/>
              </a:rPr>
              <a:t>corrected estimate</a:t>
            </a:r>
            <a:endParaRPr lang="en-US" sz="1000" dirty="0"/>
          </a:p>
        </p:txBody>
      </p:sp>
      <p:sp>
        <p:nvSpPr>
          <p:cNvPr id="16" name="concept-zd"/>
          <p:cNvSpPr/>
          <p:nvPr/>
        </p:nvSpPr>
        <p:spPr>
          <a:xfrm>
            <a:off x="2194560" y="1463040"/>
            <a:ext cx="914400" cy="914400"/>
          </a:xfrm>
          <a:prstGeom prst="ellipse">
            <a:avLst/>
          </a:prstGeom>
          <a:solidFill>
            <a:srgbClr val="FFFFFF"/>
          </a:solidFill>
          <a:ln w="16510">
            <a:solidFill>
              <a:srgbClr val="111827"/>
            </a:solidFill>
            <a:prstDash val="solid"/>
            <a:headEnd type="none"/>
            <a:tailEnd type="none"/>
          </a:ln>
        </p:spPr>
      </p:sp>
      <p:sp>
        <p:nvSpPr>
          <p:cNvPr id="17" name="concept-zd__label"/>
          <p:cNvSpPr/>
          <p:nvPr/>
        </p:nvSpPr>
        <p:spPr>
          <a:xfrm>
            <a:off x="2194560" y="1463040"/>
            <a:ext cx="914400" cy="914400"/>
          </a:xfrm>
          <a:prstGeom prst="rect">
            <a:avLst/>
          </a:prstGeom>
          <a:noFill/>
          <a:ln/>
        </p:spPr>
        <p:txBody>
          <a:bodyPr wrap="square" lIns="254" tIns="254" rIns="254" bIns="254" rtlCol="0" anchor="ctr"/>
          <a:lstStyle/>
          <a:p>
            <a:pPr algn="ctr" indent="0" marL="0">
              <a:lnSpc>
                <a:spcPts val="1800"/>
              </a:lnSpc>
              <a:buNone/>
            </a:pPr>
            <a:r>
              <a:rPr lang="en-US" sz="1500" b="1" dirty="0">
                <a:solidFill>
                  <a:srgbClr val="111827"/>
                </a:solidFill>
                <a:latin typeface="Calibri" pitchFamily="34" charset="0"/>
                <a:ea typeface="Calibri" pitchFamily="34" charset="-122"/>
                <a:cs typeface="Calibri" pitchFamily="34" charset="-120"/>
              </a:rPr>
              <a:t>Z_d</a:t>
            </a:r>
            <a:endParaRPr lang="en-US" sz="1500" dirty="0"/>
          </a:p>
        </p:txBody>
      </p:sp>
      <p:sp>
        <p:nvSpPr>
          <p:cNvPr id="18" name="concept-zd__sublabel"/>
          <p:cNvSpPr/>
          <p:nvPr/>
        </p:nvSpPr>
        <p:spPr>
          <a:xfrm>
            <a:off x="2194560" y="2414016"/>
            <a:ext cx="914400" cy="237744"/>
          </a:xfrm>
          <a:prstGeom prst="rect">
            <a:avLst/>
          </a:prstGeom>
          <a:noFill/>
          <a:ln/>
        </p:spPr>
        <p:txBody>
          <a:bodyPr wrap="square" lIns="254" tIns="254" rIns="254" bIns="254" rtlCol="0" anchor="t"/>
          <a:lstStyle/>
          <a:p>
            <a:pPr algn="ctr" indent="0" marL="0">
              <a:lnSpc>
                <a:spcPts val="1200"/>
              </a:lnSpc>
              <a:buNone/>
            </a:pPr>
            <a:r>
              <a:rPr lang="en-US" sz="1000" dirty="0">
                <a:solidFill>
                  <a:srgbClr val="6B7280"/>
                </a:solidFill>
                <a:latin typeface="Calibri" pitchFamily="34" charset="0"/>
                <a:ea typeface="Calibri" pitchFamily="34" charset="-122"/>
                <a:cs typeface="Calibri" pitchFamily="34" charset="-120"/>
              </a:rPr>
              <a:t>desired future</a:t>
            </a:r>
            <a:endParaRPr lang="en-US" sz="1000" dirty="0"/>
          </a:p>
        </p:txBody>
      </p:sp>
      <p:sp>
        <p:nvSpPr>
          <p:cNvPr id="19" name="vec-delta"/>
          <p:cNvSpPr/>
          <p:nvPr/>
        </p:nvSpPr>
        <p:spPr>
          <a:xfrm>
            <a:off x="3127248" y="4114800"/>
            <a:ext cx="4352544" cy="0"/>
          </a:xfrm>
          <a:prstGeom prst="line">
            <a:avLst/>
          </a:prstGeom>
          <a:noFill/>
          <a:ln w="26670">
            <a:solidFill>
              <a:srgbClr val="B91C1C"/>
            </a:solidFill>
            <a:prstDash val="solid"/>
            <a:headEnd type="none"/>
            <a:tailEnd type="triangle"/>
          </a:ln>
        </p:spPr>
      </p:sp>
      <p:sp>
        <p:nvSpPr>
          <p:cNvPr id="20" name="vec-delta-label"/>
          <p:cNvSpPr/>
          <p:nvPr/>
        </p:nvSpPr>
        <p:spPr>
          <a:xfrm>
            <a:off x="4069080" y="3730752"/>
            <a:ext cx="2468880" cy="292608"/>
          </a:xfrm>
          <a:prstGeom prst="rect">
            <a:avLst/>
          </a:prstGeom>
          <a:noFill/>
          <a:ln/>
        </p:spPr>
        <p:txBody>
          <a:bodyPr wrap="square" lIns="254" tIns="254" rIns="254" bIns="254" rtlCol="0" anchor="ctr"/>
          <a:lstStyle/>
          <a:p>
            <a:pPr algn="ctr" indent="0" marL="0">
              <a:lnSpc>
                <a:spcPts val="1400"/>
              </a:lnSpc>
              <a:buNone/>
            </a:pPr>
            <a:r>
              <a:rPr lang="en-US" sz="1150" b="1" dirty="0">
                <a:solidFill>
                  <a:srgbClr val="B91C1C"/>
                </a:solidFill>
                <a:latin typeface="Calibri" pitchFamily="34" charset="0"/>
                <a:ea typeface="Calibri" pitchFamily="34" charset="-122"/>
                <a:cs typeface="Calibri" pitchFamily="34" charset="-120"/>
              </a:rPr>
              <a:t>dZ correction</a:t>
            </a:r>
            <a:endParaRPr lang="en-US" sz="1150" dirty="0"/>
          </a:p>
        </p:txBody>
      </p:sp>
      <p:sp>
        <p:nvSpPr>
          <p:cNvPr id="21" name="vec-desired"/>
          <p:cNvSpPr/>
          <p:nvPr/>
        </p:nvSpPr>
        <p:spPr>
          <a:xfrm flipV="1">
            <a:off x="2651760" y="2395728"/>
            <a:ext cx="0" cy="1243584"/>
          </a:xfrm>
          <a:prstGeom prst="line">
            <a:avLst/>
          </a:prstGeom>
          <a:noFill/>
          <a:ln w="9525">
            <a:solidFill>
              <a:srgbClr val="9CA3AF"/>
            </a:solidFill>
            <a:prstDash val="solid"/>
            <a:headEnd type="none"/>
            <a:tailEnd type="none"/>
          </a:ln>
        </p:spPr>
      </p:sp>
      <p:sp>
        <p:nvSpPr>
          <p:cNvPr id="22" name="vec-desired-label"/>
          <p:cNvSpPr/>
          <p:nvPr/>
        </p:nvSpPr>
        <p:spPr>
          <a:xfrm>
            <a:off x="1417320" y="2633472"/>
            <a:ext cx="2468880" cy="292608"/>
          </a:xfrm>
          <a:prstGeom prst="rect">
            <a:avLst/>
          </a:prstGeom>
          <a:noFill/>
          <a:ln/>
        </p:spPr>
        <p:txBody>
          <a:bodyPr wrap="square" lIns="254" tIns="254" rIns="254" bIns="254" rtlCol="0" anchor="ctr"/>
          <a:lstStyle/>
          <a:p>
            <a:pPr algn="ctr" indent="0" marL="0">
              <a:lnSpc>
                <a:spcPts val="1400"/>
              </a:lnSpc>
              <a:buNone/>
            </a:pPr>
            <a:r>
              <a:rPr lang="en-US" sz="1150" b="1" dirty="0">
                <a:solidFill>
                  <a:srgbClr val="B91C1C"/>
                </a:solidFill>
                <a:latin typeface="Calibri" pitchFamily="34" charset="0"/>
                <a:ea typeface="Calibri" pitchFamily="34" charset="-122"/>
                <a:cs typeface="Calibri" pitchFamily="34" charset="-120"/>
              </a:rPr>
              <a:t>desired</a:t>
            </a:r>
            <a:endParaRPr lang="en-US" sz="1150" dirty="0"/>
          </a:p>
        </p:txBody>
      </p:sp>
      <p:sp>
        <p:nvSpPr>
          <p:cNvPr id="23" name="vec-residual"/>
          <p:cNvSpPr/>
          <p:nvPr/>
        </p:nvSpPr>
        <p:spPr>
          <a:xfrm flipH="1" flipV="1">
            <a:off x="3091119" y="2102044"/>
            <a:ext cx="4424802" cy="1830953"/>
          </a:xfrm>
          <a:prstGeom prst="line">
            <a:avLst/>
          </a:prstGeom>
          <a:noFill/>
          <a:ln w="9525">
            <a:solidFill>
              <a:srgbClr val="9CA3AF"/>
            </a:solidFill>
            <a:prstDash val="solid"/>
            <a:headEnd type="none"/>
            <a:tailEnd type="none"/>
          </a:ln>
        </p:spPr>
      </p:sp>
      <p:sp>
        <p:nvSpPr>
          <p:cNvPr id="24" name="vec-residual-label"/>
          <p:cNvSpPr/>
          <p:nvPr/>
        </p:nvSpPr>
        <p:spPr>
          <a:xfrm>
            <a:off x="4069080" y="2633472"/>
            <a:ext cx="2468880" cy="292608"/>
          </a:xfrm>
          <a:prstGeom prst="rect">
            <a:avLst/>
          </a:prstGeom>
          <a:noFill/>
          <a:ln/>
        </p:spPr>
        <p:txBody>
          <a:bodyPr wrap="square" lIns="254" tIns="254" rIns="254" bIns="254" rtlCol="0" anchor="ctr"/>
          <a:lstStyle/>
          <a:p>
            <a:pPr algn="ctr" indent="0" marL="0">
              <a:lnSpc>
                <a:spcPts val="1400"/>
              </a:lnSpc>
              <a:buNone/>
            </a:pPr>
            <a:r>
              <a:rPr lang="en-US" sz="1150" b="1" dirty="0">
                <a:solidFill>
                  <a:srgbClr val="B91C1C"/>
                </a:solidFill>
                <a:latin typeface="Calibri" pitchFamily="34" charset="0"/>
                <a:ea typeface="Calibri" pitchFamily="34" charset="-122"/>
                <a:cs typeface="Calibri" pitchFamily="34" charset="-120"/>
              </a:rPr>
              <a:t>residual</a:t>
            </a:r>
            <a:endParaRPr lang="en-US" sz="1150" dirty="0"/>
          </a:p>
        </p:txBody>
      </p:sp>
      <p:sp>
        <p:nvSpPr>
          <p:cNvPr id="25" name="fs-legend-0-line"/>
          <p:cNvSpPr/>
          <p:nvPr/>
        </p:nvSpPr>
        <p:spPr>
          <a:xfrm>
            <a:off x="566928" y="5897880"/>
            <a:ext cx="457200" cy="0"/>
          </a:xfrm>
          <a:prstGeom prst="line">
            <a:avLst/>
          </a:prstGeom>
          <a:noFill/>
          <a:ln w="26670">
            <a:solidFill>
              <a:srgbClr val="B91C1C"/>
            </a:solidFill>
            <a:prstDash val="solid"/>
            <a:headEnd type="none"/>
            <a:tailEnd type="triangle"/>
          </a:ln>
        </p:spPr>
      </p:sp>
      <p:sp>
        <p:nvSpPr>
          <p:cNvPr id="26" name="fs-legend-0"/>
          <p:cNvSpPr/>
          <p:nvPr/>
        </p:nvSpPr>
        <p:spPr>
          <a:xfrm>
            <a:off x="1133856" y="5742432"/>
            <a:ext cx="3291840" cy="310896"/>
          </a:xfrm>
          <a:prstGeom prst="rect">
            <a:avLst/>
          </a:prstGeom>
          <a:noFill/>
          <a:ln/>
        </p:spPr>
        <p:txBody>
          <a:bodyPr wrap="square" lIns="254" tIns="254" rIns="254" bIns="254" rtlCol="0" anchor="ctr"/>
          <a:lstStyle/>
          <a:p>
            <a:pPr algn="l" indent="0" marL="0">
              <a:lnSpc>
                <a:spcPts val="1200"/>
              </a:lnSpc>
              <a:buNone/>
            </a:pPr>
            <a:r>
              <a:rPr lang="en-US" sz="1000" dirty="0">
                <a:solidFill>
                  <a:srgbClr val="6B7280"/>
                </a:solidFill>
                <a:latin typeface="Calibri" pitchFamily="34" charset="0"/>
                <a:ea typeface="Calibri" pitchFamily="34" charset="-122"/>
                <a:cs typeface="Calibri" pitchFamily="34" charset="-120"/>
              </a:rPr>
              <a:t>correction ΔZ (what moved)</a:t>
            </a:r>
            <a:endParaRPr lang="en-US" sz="1000" dirty="0"/>
          </a:p>
        </p:txBody>
      </p:sp>
      <p:sp>
        <p:nvSpPr>
          <p:cNvPr id="27" name="fs-legend-1-line"/>
          <p:cNvSpPr/>
          <p:nvPr/>
        </p:nvSpPr>
        <p:spPr>
          <a:xfrm>
            <a:off x="4590288" y="5897880"/>
            <a:ext cx="457200" cy="0"/>
          </a:xfrm>
          <a:prstGeom prst="line">
            <a:avLst/>
          </a:prstGeom>
          <a:noFill/>
          <a:ln w="11430">
            <a:solidFill>
              <a:srgbClr val="9CA3AF"/>
            </a:solidFill>
            <a:prstDash val="dash"/>
            <a:headEnd type="none"/>
            <a:tailEnd type="none"/>
          </a:ln>
        </p:spPr>
      </p:sp>
      <p:sp>
        <p:nvSpPr>
          <p:cNvPr id="28" name="fs-legend-1"/>
          <p:cNvSpPr/>
          <p:nvPr/>
        </p:nvSpPr>
        <p:spPr>
          <a:xfrm>
            <a:off x="5157216" y="5742432"/>
            <a:ext cx="3291840" cy="310896"/>
          </a:xfrm>
          <a:prstGeom prst="rect">
            <a:avLst/>
          </a:prstGeom>
          <a:noFill/>
          <a:ln/>
        </p:spPr>
        <p:txBody>
          <a:bodyPr wrap="square" lIns="254" tIns="254" rIns="254" bIns="254" rtlCol="0" anchor="ctr"/>
          <a:lstStyle/>
          <a:p>
            <a:pPr algn="l" indent="0" marL="0">
              <a:lnSpc>
                <a:spcPts val="1200"/>
              </a:lnSpc>
              <a:buNone/>
            </a:pPr>
            <a:r>
              <a:rPr lang="en-US" sz="1000" dirty="0">
                <a:solidFill>
                  <a:srgbClr val="6B7280"/>
                </a:solidFill>
                <a:latin typeface="Calibri" pitchFamily="34" charset="0"/>
                <a:ea typeface="Calibri" pitchFamily="34" charset="-122"/>
                <a:cs typeface="Calibri" pitchFamily="34" charset="-120"/>
              </a:rPr>
              <a:t>desired direction Z_d − Z_s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rgbClr val="FFFFFF"/>
          </a:solidFill>
          <a:ln/>
        </p:spPr>
      </p:sp>
      <p:sp>
        <p:nvSpPr>
          <p:cNvPr id="3" name="kicker"/>
          <p:cNvSpPr/>
          <p:nvPr/>
        </p:nvSpPr>
        <p:spPr>
          <a:xfrm>
            <a:off x="566928" y="365760"/>
            <a:ext cx="6855860" cy="237744"/>
          </a:xfrm>
          <a:prstGeom prst="rect">
            <a:avLst/>
          </a:prstGeom>
          <a:noFill/>
          <a:ln/>
        </p:spPr>
        <p:txBody>
          <a:bodyPr wrap="square" lIns="254" tIns="254" rIns="254" bIns="254" rtlCol="0" anchor="ctr"/>
          <a:lstStyle/>
          <a:p>
            <a:pPr algn="l" indent="0" marL="0">
              <a:lnSpc>
                <a:spcPts val="1400"/>
              </a:lnSpc>
              <a:buNone/>
            </a:pPr>
            <a:r>
              <a:rPr lang="en-US" sz="1200" b="1" dirty="0">
                <a:solidFill>
                  <a:srgbClr val="2563EB"/>
                </a:solidFill>
                <a:latin typeface="Calibri" pitchFamily="34" charset="0"/>
                <a:ea typeface="Calibri" pitchFamily="34" charset="-122"/>
                <a:cs typeface="Calibri" pitchFamily="34" charset="-120"/>
              </a:rPr>
              <a:t>GEOMETRY</a:t>
            </a:r>
            <a:endParaRPr lang="en-US" sz="1200" dirty="0"/>
          </a:p>
        </p:txBody>
      </p:sp>
      <p:sp>
        <p:nvSpPr>
          <p:cNvPr id="4" name="header-meta"/>
          <p:cNvSpPr/>
          <p:nvPr/>
        </p:nvSpPr>
        <p:spPr>
          <a:xfrm>
            <a:off x="6648740" y="365760"/>
            <a:ext cx="4976028" cy="237744"/>
          </a:xfrm>
          <a:prstGeom prst="rect">
            <a:avLst/>
          </a:prstGeom>
          <a:noFill/>
          <a:ln/>
        </p:spPr>
        <p:txBody>
          <a:bodyPr wrap="square" lIns="254" tIns="254" rIns="254" bIns="254" rtlCol="0" anchor="ctr"/>
          <a:lstStyle/>
          <a:p>
            <a:pPr algn="r" indent="0" marL="0">
              <a:lnSpc>
                <a:spcPts val="1200"/>
              </a:lnSpc>
              <a:buNone/>
            </a:pPr>
            <a:r>
              <a:rPr lang="en-US" sz="1000" dirty="0">
                <a:solidFill>
                  <a:srgbClr val="6B7280"/>
                </a:solidFill>
                <a:latin typeface="Calibri" pitchFamily="34" charset="0"/>
                <a:ea typeface="Calibri" pitchFamily="34" charset="-122"/>
                <a:cs typeface="Calibri" pitchFamily="34" charset="-120"/>
              </a:rPr>
              <a:t>Cached Future-Feature Prediction  ·  Week 6</a:t>
            </a:r>
            <a:endParaRPr lang="en-US" sz="1000" dirty="0"/>
          </a:p>
        </p:txBody>
      </p:sp>
      <p:sp>
        <p:nvSpPr>
          <p:cNvPr id="5" name="title-main"/>
          <p:cNvSpPr/>
          <p:nvPr/>
        </p:nvSpPr>
        <p:spPr>
          <a:xfrm>
            <a:off x="566928" y="621792"/>
            <a:ext cx="11057839" cy="548640"/>
          </a:xfrm>
          <a:prstGeom prst="rect">
            <a:avLst/>
          </a:prstGeom>
          <a:noFill/>
          <a:ln/>
        </p:spPr>
        <p:txBody>
          <a:bodyPr wrap="square" lIns="254" tIns="254" rIns="254" bIns="254" rtlCol="0" anchor="ctr"/>
          <a:lstStyle/>
          <a:p>
            <a:pPr algn="l" indent="0" marL="0">
              <a:lnSpc>
                <a:spcPts val="3000"/>
              </a:lnSpc>
              <a:buNone/>
            </a:pPr>
            <a:r>
              <a:rPr lang="en-US" sz="2700" b="1" dirty="0">
                <a:solidFill>
                  <a:srgbClr val="111827"/>
                </a:solidFill>
                <a:latin typeface="Calibri" pitchFamily="34" charset="0"/>
                <a:ea typeface="Calibri" pitchFamily="34" charset="-122"/>
                <a:cs typeface="Calibri" pitchFamily="34" charset="-120"/>
              </a:rPr>
              <a:t>Correction is nearly orthogonal to the desired direction</a:t>
            </a:r>
            <a:endParaRPr lang="en-US" sz="2700" dirty="0"/>
          </a:p>
        </p:txBody>
      </p:sp>
      <p:sp>
        <p:nvSpPr>
          <p:cNvPr id="6" name="chrome-rule"/>
          <p:cNvSpPr/>
          <p:nvPr/>
        </p:nvSpPr>
        <p:spPr>
          <a:xfrm>
            <a:off x="566928" y="1243584"/>
            <a:ext cx="11057839" cy="20117"/>
          </a:xfrm>
          <a:prstGeom prst="rect">
            <a:avLst/>
          </a:prstGeom>
          <a:solidFill>
            <a:srgbClr val="E5E7EB"/>
          </a:solidFill>
          <a:ln/>
        </p:spPr>
      </p:sp>
      <p:sp>
        <p:nvSpPr>
          <p:cNvPr id="7" name="chrome-rule-accent"/>
          <p:cNvSpPr/>
          <p:nvPr/>
        </p:nvSpPr>
        <p:spPr>
          <a:xfrm>
            <a:off x="566928" y="1243584"/>
            <a:ext cx="1051560" cy="20117"/>
          </a:xfrm>
          <a:prstGeom prst="rect">
            <a:avLst/>
          </a:prstGeom>
          <a:solidFill>
            <a:srgbClr val="2563EB"/>
          </a:solidFill>
          <a:ln/>
        </p:spPr>
      </p:sp>
      <p:sp>
        <p:nvSpPr>
          <p:cNvPr id="8" name="footer-text"/>
          <p:cNvSpPr/>
          <p:nvPr/>
        </p:nvSpPr>
        <p:spPr>
          <a:xfrm>
            <a:off x="566928" y="6419088"/>
            <a:ext cx="8293379" cy="237744"/>
          </a:xfrm>
          <a:prstGeom prst="rect">
            <a:avLst/>
          </a:prstGeom>
          <a:noFill/>
          <a:ln/>
        </p:spPr>
        <p:txBody>
          <a:bodyPr wrap="square" lIns="254" tIns="254" rIns="254" bIns="254" rtlCol="0" anchor="ctr"/>
          <a:lstStyle/>
          <a:p>
            <a:pPr algn="l" indent="0" marL="0">
              <a:lnSpc>
                <a:spcPts val="1200"/>
              </a:lnSpc>
              <a:buNone/>
            </a:pPr>
            <a:r>
              <a:rPr lang="en-US" sz="1000" dirty="0">
                <a:solidFill>
                  <a:srgbClr val="9CA3AF"/>
                </a:solidFill>
                <a:latin typeface="Calibri" pitchFamily="34" charset="0"/>
                <a:ea typeface="Calibri" pitchFamily="34" charset="-122"/>
                <a:cs typeface="Calibri" pitchFamily="34" charset="-120"/>
              </a:rPr>
              <a:t>Cached Future-Feature Prediction · synthetic demo</a:t>
            </a:r>
            <a:endParaRPr lang="en-US" sz="1000" dirty="0"/>
          </a:p>
        </p:txBody>
      </p:sp>
      <p:sp>
        <p:nvSpPr>
          <p:cNvPr id="9" name="footer-slide-number"/>
          <p:cNvSpPr/>
          <p:nvPr/>
        </p:nvSpPr>
        <p:spPr>
          <a:xfrm>
            <a:off x="10076670" y="6419088"/>
            <a:ext cx="1548097" cy="237744"/>
          </a:xfrm>
          <a:prstGeom prst="rect">
            <a:avLst/>
          </a:prstGeom>
          <a:noFill/>
          <a:ln/>
        </p:spPr>
        <p:txBody>
          <a:bodyPr wrap="square" lIns="254" tIns="254" rIns="254" bIns="254" rtlCol="0" anchor="ctr"/>
          <a:lstStyle/>
          <a:p>
            <a:pPr algn="r" indent="0" marL="0">
              <a:lnSpc>
                <a:spcPts val="1200"/>
              </a:lnSpc>
              <a:buNone/>
            </a:pPr>
            <a:r>
              <a:rPr lang="en-US" sz="1000" dirty="0">
                <a:solidFill>
                  <a:srgbClr val="9CA3AF"/>
                </a:solidFill>
                <a:latin typeface="Calibri" pitchFamily="34" charset="0"/>
                <a:ea typeface="Calibri" pitchFamily="34" charset="-122"/>
                <a:cs typeface="Calibri" pitchFamily="34" charset="-120"/>
              </a:rPr>
              <a:t>5 / 10</a:t>
            </a:r>
            <a:endParaRPr lang="en-US" sz="1000" dirty="0"/>
          </a:p>
        </p:txBody>
      </p:sp>
      <p:sp>
        <p:nvSpPr>
          <p:cNvPr id="10" name="concept-zs"/>
          <p:cNvSpPr/>
          <p:nvPr/>
        </p:nvSpPr>
        <p:spPr>
          <a:xfrm>
            <a:off x="2194560" y="3657600"/>
            <a:ext cx="914400" cy="914400"/>
          </a:xfrm>
          <a:prstGeom prst="ellipse">
            <a:avLst/>
          </a:prstGeom>
          <a:solidFill>
            <a:srgbClr val="FFFFFF"/>
          </a:solidFill>
          <a:ln w="16510">
            <a:solidFill>
              <a:srgbClr val="111827"/>
            </a:solidFill>
            <a:prstDash val="solid"/>
            <a:headEnd type="none"/>
            <a:tailEnd type="none"/>
          </a:ln>
        </p:spPr>
      </p:sp>
      <p:sp>
        <p:nvSpPr>
          <p:cNvPr id="11" name="concept-zs__label"/>
          <p:cNvSpPr/>
          <p:nvPr/>
        </p:nvSpPr>
        <p:spPr>
          <a:xfrm>
            <a:off x="2194560" y="3657600"/>
            <a:ext cx="914400" cy="914400"/>
          </a:xfrm>
          <a:prstGeom prst="rect">
            <a:avLst/>
          </a:prstGeom>
          <a:noFill/>
          <a:ln/>
        </p:spPr>
        <p:txBody>
          <a:bodyPr wrap="square" lIns="254" tIns="254" rIns="254" bIns="254" rtlCol="0" anchor="ctr"/>
          <a:lstStyle/>
          <a:p>
            <a:pPr algn="ctr" indent="0" marL="0">
              <a:lnSpc>
                <a:spcPts val="1800"/>
              </a:lnSpc>
              <a:buNone/>
            </a:pPr>
            <a:r>
              <a:rPr lang="en-US" sz="1500" b="1" dirty="0">
                <a:solidFill>
                  <a:srgbClr val="111827"/>
                </a:solidFill>
                <a:latin typeface="Calibri" pitchFamily="34" charset="0"/>
                <a:ea typeface="Calibri" pitchFamily="34" charset="-122"/>
                <a:cs typeface="Calibri" pitchFamily="34" charset="-120"/>
              </a:rPr>
              <a:t>Z_s</a:t>
            </a:r>
            <a:endParaRPr lang="en-US" sz="1500" dirty="0"/>
          </a:p>
        </p:txBody>
      </p:sp>
      <p:sp>
        <p:nvSpPr>
          <p:cNvPr id="12" name="concept-zs__sublabel"/>
          <p:cNvSpPr/>
          <p:nvPr/>
        </p:nvSpPr>
        <p:spPr>
          <a:xfrm>
            <a:off x="2194560" y="4608576"/>
            <a:ext cx="914400" cy="237744"/>
          </a:xfrm>
          <a:prstGeom prst="rect">
            <a:avLst/>
          </a:prstGeom>
          <a:noFill/>
          <a:ln/>
        </p:spPr>
        <p:txBody>
          <a:bodyPr wrap="square" lIns="254" tIns="254" rIns="254" bIns="254" rtlCol="0" anchor="t"/>
          <a:lstStyle/>
          <a:p>
            <a:pPr algn="ctr" indent="0" marL="0">
              <a:lnSpc>
                <a:spcPts val="1200"/>
              </a:lnSpc>
              <a:buNone/>
            </a:pPr>
            <a:r>
              <a:rPr lang="en-US" sz="1000" dirty="0">
                <a:solidFill>
                  <a:srgbClr val="6B7280"/>
                </a:solidFill>
                <a:latin typeface="Calibri" pitchFamily="34" charset="0"/>
                <a:ea typeface="Calibri" pitchFamily="34" charset="-122"/>
                <a:cs typeface="Calibri" pitchFamily="34" charset="-120"/>
              </a:rPr>
              <a:t>cached source</a:t>
            </a:r>
            <a:endParaRPr lang="en-US" sz="1000" dirty="0"/>
          </a:p>
        </p:txBody>
      </p:sp>
      <p:sp>
        <p:nvSpPr>
          <p:cNvPr id="13" name="concept-ztilde"/>
          <p:cNvSpPr/>
          <p:nvPr/>
        </p:nvSpPr>
        <p:spPr>
          <a:xfrm>
            <a:off x="7498080" y="3657600"/>
            <a:ext cx="914400" cy="914400"/>
          </a:xfrm>
          <a:prstGeom prst="ellipse">
            <a:avLst/>
          </a:prstGeom>
          <a:solidFill>
            <a:srgbClr val="FFFFFF"/>
          </a:solidFill>
          <a:ln w="16510">
            <a:solidFill>
              <a:srgbClr val="111827"/>
            </a:solidFill>
            <a:prstDash val="solid"/>
            <a:headEnd type="none"/>
            <a:tailEnd type="none"/>
          </a:ln>
        </p:spPr>
      </p:sp>
      <p:sp>
        <p:nvSpPr>
          <p:cNvPr id="14" name="concept-ztilde__label"/>
          <p:cNvSpPr/>
          <p:nvPr/>
        </p:nvSpPr>
        <p:spPr>
          <a:xfrm>
            <a:off x="7498080" y="3657600"/>
            <a:ext cx="914400" cy="914400"/>
          </a:xfrm>
          <a:prstGeom prst="rect">
            <a:avLst/>
          </a:prstGeom>
          <a:noFill/>
          <a:ln/>
        </p:spPr>
        <p:txBody>
          <a:bodyPr wrap="square" lIns="254" tIns="254" rIns="254" bIns="254" rtlCol="0" anchor="ctr"/>
          <a:lstStyle/>
          <a:p>
            <a:pPr algn="ctr" indent="0" marL="0">
              <a:lnSpc>
                <a:spcPts val="1800"/>
              </a:lnSpc>
              <a:buNone/>
            </a:pPr>
            <a:r>
              <a:rPr lang="en-US" sz="1500" b="1" dirty="0">
                <a:solidFill>
                  <a:srgbClr val="111827"/>
                </a:solidFill>
                <a:latin typeface="Calibri" pitchFamily="34" charset="0"/>
                <a:ea typeface="Calibri" pitchFamily="34" charset="-122"/>
                <a:cs typeface="Calibri" pitchFamily="34" charset="-120"/>
              </a:rPr>
              <a:t>Z~</a:t>
            </a:r>
            <a:endParaRPr lang="en-US" sz="1500" dirty="0"/>
          </a:p>
        </p:txBody>
      </p:sp>
      <p:sp>
        <p:nvSpPr>
          <p:cNvPr id="15" name="concept-ztilde__sublabel"/>
          <p:cNvSpPr/>
          <p:nvPr/>
        </p:nvSpPr>
        <p:spPr>
          <a:xfrm>
            <a:off x="7498080" y="4608576"/>
            <a:ext cx="914400" cy="237744"/>
          </a:xfrm>
          <a:prstGeom prst="rect">
            <a:avLst/>
          </a:prstGeom>
          <a:noFill/>
          <a:ln/>
        </p:spPr>
        <p:txBody>
          <a:bodyPr wrap="square" lIns="254" tIns="254" rIns="254" bIns="254" rtlCol="0" anchor="t"/>
          <a:lstStyle/>
          <a:p>
            <a:pPr algn="ctr" indent="0" marL="0">
              <a:lnSpc>
                <a:spcPts val="1200"/>
              </a:lnSpc>
              <a:buNone/>
            </a:pPr>
            <a:r>
              <a:rPr lang="en-US" sz="1000" dirty="0">
                <a:solidFill>
                  <a:srgbClr val="6B7280"/>
                </a:solidFill>
                <a:latin typeface="Calibri" pitchFamily="34" charset="0"/>
                <a:ea typeface="Calibri" pitchFamily="34" charset="-122"/>
                <a:cs typeface="Calibri" pitchFamily="34" charset="-120"/>
              </a:rPr>
              <a:t>corrected estimate</a:t>
            </a:r>
            <a:endParaRPr lang="en-US" sz="1000" dirty="0"/>
          </a:p>
        </p:txBody>
      </p:sp>
      <p:sp>
        <p:nvSpPr>
          <p:cNvPr id="16" name="concept-zd"/>
          <p:cNvSpPr/>
          <p:nvPr/>
        </p:nvSpPr>
        <p:spPr>
          <a:xfrm>
            <a:off x="2194560" y="1463040"/>
            <a:ext cx="914400" cy="914400"/>
          </a:xfrm>
          <a:prstGeom prst="ellipse">
            <a:avLst/>
          </a:prstGeom>
          <a:solidFill>
            <a:srgbClr val="FFFFFF"/>
          </a:solidFill>
          <a:ln w="16510">
            <a:solidFill>
              <a:srgbClr val="111827"/>
            </a:solidFill>
            <a:prstDash val="solid"/>
            <a:headEnd type="none"/>
            <a:tailEnd type="none"/>
          </a:ln>
        </p:spPr>
      </p:sp>
      <p:sp>
        <p:nvSpPr>
          <p:cNvPr id="17" name="concept-zd__label"/>
          <p:cNvSpPr/>
          <p:nvPr/>
        </p:nvSpPr>
        <p:spPr>
          <a:xfrm>
            <a:off x="2194560" y="1463040"/>
            <a:ext cx="914400" cy="914400"/>
          </a:xfrm>
          <a:prstGeom prst="rect">
            <a:avLst/>
          </a:prstGeom>
          <a:noFill/>
          <a:ln/>
        </p:spPr>
        <p:txBody>
          <a:bodyPr wrap="square" lIns="254" tIns="254" rIns="254" bIns="254" rtlCol="0" anchor="ctr"/>
          <a:lstStyle/>
          <a:p>
            <a:pPr algn="ctr" indent="0" marL="0">
              <a:lnSpc>
                <a:spcPts val="1800"/>
              </a:lnSpc>
              <a:buNone/>
            </a:pPr>
            <a:r>
              <a:rPr lang="en-US" sz="1500" b="1" dirty="0">
                <a:solidFill>
                  <a:srgbClr val="111827"/>
                </a:solidFill>
                <a:latin typeface="Calibri" pitchFamily="34" charset="0"/>
                <a:ea typeface="Calibri" pitchFamily="34" charset="-122"/>
                <a:cs typeface="Calibri" pitchFamily="34" charset="-120"/>
              </a:rPr>
              <a:t>Z_d</a:t>
            </a:r>
            <a:endParaRPr lang="en-US" sz="1500" dirty="0"/>
          </a:p>
        </p:txBody>
      </p:sp>
      <p:sp>
        <p:nvSpPr>
          <p:cNvPr id="18" name="concept-zd__sublabel"/>
          <p:cNvSpPr/>
          <p:nvPr/>
        </p:nvSpPr>
        <p:spPr>
          <a:xfrm>
            <a:off x="2194560" y="2414016"/>
            <a:ext cx="914400" cy="237744"/>
          </a:xfrm>
          <a:prstGeom prst="rect">
            <a:avLst/>
          </a:prstGeom>
          <a:noFill/>
          <a:ln/>
        </p:spPr>
        <p:txBody>
          <a:bodyPr wrap="square" lIns="254" tIns="254" rIns="254" bIns="254" rtlCol="0" anchor="t"/>
          <a:lstStyle/>
          <a:p>
            <a:pPr algn="ctr" indent="0" marL="0">
              <a:lnSpc>
                <a:spcPts val="1200"/>
              </a:lnSpc>
              <a:buNone/>
            </a:pPr>
            <a:r>
              <a:rPr lang="en-US" sz="1000" dirty="0">
                <a:solidFill>
                  <a:srgbClr val="6B7280"/>
                </a:solidFill>
                <a:latin typeface="Calibri" pitchFamily="34" charset="0"/>
                <a:ea typeface="Calibri" pitchFamily="34" charset="-122"/>
                <a:cs typeface="Calibri" pitchFamily="34" charset="-120"/>
              </a:rPr>
              <a:t>desired future</a:t>
            </a:r>
            <a:endParaRPr lang="en-US" sz="1000" dirty="0"/>
          </a:p>
        </p:txBody>
      </p:sp>
      <p:sp>
        <p:nvSpPr>
          <p:cNvPr id="19" name="vec-delta"/>
          <p:cNvSpPr/>
          <p:nvPr/>
        </p:nvSpPr>
        <p:spPr>
          <a:xfrm>
            <a:off x="3127248" y="4114800"/>
            <a:ext cx="4352544" cy="0"/>
          </a:xfrm>
          <a:prstGeom prst="line">
            <a:avLst/>
          </a:prstGeom>
          <a:noFill/>
          <a:ln w="26670">
            <a:solidFill>
              <a:srgbClr val="B91C1C"/>
            </a:solidFill>
            <a:prstDash val="solid"/>
            <a:headEnd type="none"/>
            <a:tailEnd type="triangle"/>
          </a:ln>
        </p:spPr>
      </p:sp>
      <p:sp>
        <p:nvSpPr>
          <p:cNvPr id="20" name="vec-delta-label"/>
          <p:cNvSpPr/>
          <p:nvPr/>
        </p:nvSpPr>
        <p:spPr>
          <a:xfrm>
            <a:off x="4069080" y="3730752"/>
            <a:ext cx="2468880" cy="292608"/>
          </a:xfrm>
          <a:prstGeom prst="rect">
            <a:avLst/>
          </a:prstGeom>
          <a:noFill/>
          <a:ln/>
        </p:spPr>
        <p:txBody>
          <a:bodyPr wrap="square" lIns="254" tIns="254" rIns="254" bIns="254" rtlCol="0" anchor="ctr"/>
          <a:lstStyle/>
          <a:p>
            <a:pPr algn="ctr" indent="0" marL="0">
              <a:lnSpc>
                <a:spcPts val="1400"/>
              </a:lnSpc>
              <a:buNone/>
            </a:pPr>
            <a:r>
              <a:rPr lang="en-US" sz="1150" b="1" dirty="0">
                <a:solidFill>
                  <a:srgbClr val="B91C1C"/>
                </a:solidFill>
                <a:latin typeface="Calibri" pitchFamily="34" charset="0"/>
                <a:ea typeface="Calibri" pitchFamily="34" charset="-122"/>
                <a:cs typeface="Calibri" pitchFamily="34" charset="-120"/>
              </a:rPr>
              <a:t>dZ (cos 0.117 vs desired)</a:t>
            </a:r>
            <a:endParaRPr lang="en-US" sz="1150" dirty="0"/>
          </a:p>
        </p:txBody>
      </p:sp>
      <p:sp>
        <p:nvSpPr>
          <p:cNvPr id="21" name="vec-desired"/>
          <p:cNvSpPr/>
          <p:nvPr/>
        </p:nvSpPr>
        <p:spPr>
          <a:xfrm flipV="1">
            <a:off x="2651760" y="2395728"/>
            <a:ext cx="0" cy="1243584"/>
          </a:xfrm>
          <a:prstGeom prst="line">
            <a:avLst/>
          </a:prstGeom>
          <a:noFill/>
          <a:ln w="9525">
            <a:solidFill>
              <a:srgbClr val="9CA3AF"/>
            </a:solidFill>
            <a:prstDash val="solid"/>
            <a:headEnd type="none"/>
            <a:tailEnd type="none"/>
          </a:ln>
        </p:spPr>
      </p:sp>
      <p:sp>
        <p:nvSpPr>
          <p:cNvPr id="22" name="vec-desired-label"/>
          <p:cNvSpPr/>
          <p:nvPr/>
        </p:nvSpPr>
        <p:spPr>
          <a:xfrm>
            <a:off x="1417320" y="2633472"/>
            <a:ext cx="2468880" cy="292608"/>
          </a:xfrm>
          <a:prstGeom prst="rect">
            <a:avLst/>
          </a:prstGeom>
          <a:noFill/>
          <a:ln/>
        </p:spPr>
        <p:txBody>
          <a:bodyPr wrap="square" lIns="254" tIns="254" rIns="254" bIns="254" rtlCol="0" anchor="ctr"/>
          <a:lstStyle/>
          <a:p>
            <a:pPr algn="ctr" indent="0" marL="0">
              <a:lnSpc>
                <a:spcPts val="1400"/>
              </a:lnSpc>
              <a:buNone/>
            </a:pPr>
            <a:r>
              <a:rPr lang="en-US" sz="1150" b="1" dirty="0">
                <a:solidFill>
                  <a:srgbClr val="B91C1C"/>
                </a:solidFill>
                <a:latin typeface="Calibri" pitchFamily="34" charset="0"/>
                <a:ea typeface="Calibri" pitchFamily="34" charset="-122"/>
                <a:cs typeface="Calibri" pitchFamily="34" charset="-120"/>
              </a:rPr>
              <a:t>desired</a:t>
            </a:r>
            <a:endParaRPr lang="en-US" sz="1150" dirty="0"/>
          </a:p>
        </p:txBody>
      </p:sp>
      <p:sp>
        <p:nvSpPr>
          <p:cNvPr id="23" name="fs-legend-0-line"/>
          <p:cNvSpPr/>
          <p:nvPr/>
        </p:nvSpPr>
        <p:spPr>
          <a:xfrm>
            <a:off x="566928" y="5897880"/>
            <a:ext cx="457200" cy="0"/>
          </a:xfrm>
          <a:prstGeom prst="line">
            <a:avLst/>
          </a:prstGeom>
          <a:noFill/>
          <a:ln w="26670">
            <a:solidFill>
              <a:srgbClr val="B91C1C"/>
            </a:solidFill>
            <a:prstDash val="solid"/>
            <a:headEnd type="none"/>
            <a:tailEnd type="triangle"/>
          </a:ln>
        </p:spPr>
      </p:sp>
      <p:sp>
        <p:nvSpPr>
          <p:cNvPr id="24" name="fs-legend-0"/>
          <p:cNvSpPr/>
          <p:nvPr/>
        </p:nvSpPr>
        <p:spPr>
          <a:xfrm>
            <a:off x="1133856" y="5742432"/>
            <a:ext cx="3291840" cy="310896"/>
          </a:xfrm>
          <a:prstGeom prst="rect">
            <a:avLst/>
          </a:prstGeom>
          <a:noFill/>
          <a:ln/>
        </p:spPr>
        <p:txBody>
          <a:bodyPr wrap="square" lIns="254" tIns="254" rIns="254" bIns="254" rtlCol="0" anchor="ctr"/>
          <a:lstStyle/>
          <a:p>
            <a:pPr algn="l" indent="0" marL="0">
              <a:lnSpc>
                <a:spcPts val="1200"/>
              </a:lnSpc>
              <a:buNone/>
            </a:pPr>
            <a:r>
              <a:rPr lang="en-US" sz="1000" dirty="0">
                <a:solidFill>
                  <a:srgbClr val="6B7280"/>
                </a:solidFill>
                <a:latin typeface="Calibri" pitchFamily="34" charset="0"/>
                <a:ea typeface="Calibri" pitchFamily="34" charset="-122"/>
                <a:cs typeface="Calibri" pitchFamily="34" charset="-120"/>
              </a:rPr>
              <a:t>correction ΔZ (what moved)</a:t>
            </a:r>
            <a:endParaRPr lang="en-US" sz="1000" dirty="0"/>
          </a:p>
        </p:txBody>
      </p:sp>
      <p:sp>
        <p:nvSpPr>
          <p:cNvPr id="25" name="fs-legend-1-line"/>
          <p:cNvSpPr/>
          <p:nvPr/>
        </p:nvSpPr>
        <p:spPr>
          <a:xfrm>
            <a:off x="4590288" y="5897880"/>
            <a:ext cx="457200" cy="0"/>
          </a:xfrm>
          <a:prstGeom prst="line">
            <a:avLst/>
          </a:prstGeom>
          <a:noFill/>
          <a:ln w="11430">
            <a:solidFill>
              <a:srgbClr val="9CA3AF"/>
            </a:solidFill>
            <a:prstDash val="dash"/>
            <a:headEnd type="none"/>
            <a:tailEnd type="none"/>
          </a:ln>
        </p:spPr>
      </p:sp>
      <p:sp>
        <p:nvSpPr>
          <p:cNvPr id="26" name="fs-legend-1"/>
          <p:cNvSpPr/>
          <p:nvPr/>
        </p:nvSpPr>
        <p:spPr>
          <a:xfrm>
            <a:off x="5157216" y="5742432"/>
            <a:ext cx="3291840" cy="310896"/>
          </a:xfrm>
          <a:prstGeom prst="rect">
            <a:avLst/>
          </a:prstGeom>
          <a:noFill/>
          <a:ln/>
        </p:spPr>
        <p:txBody>
          <a:bodyPr wrap="square" lIns="254" tIns="254" rIns="254" bIns="254" rtlCol="0" anchor="ctr"/>
          <a:lstStyle/>
          <a:p>
            <a:pPr algn="l" indent="0" marL="0">
              <a:lnSpc>
                <a:spcPts val="1200"/>
              </a:lnSpc>
              <a:buNone/>
            </a:pPr>
            <a:r>
              <a:rPr lang="en-US" sz="1000" dirty="0">
                <a:solidFill>
                  <a:srgbClr val="6B7280"/>
                </a:solidFill>
                <a:latin typeface="Calibri" pitchFamily="34" charset="0"/>
                <a:ea typeface="Calibri" pitchFamily="34" charset="-122"/>
                <a:cs typeface="Calibri" pitchFamily="34" charset="-120"/>
              </a:rPr>
              <a:t>desired direction Z_d − Z_s</a:t>
            </a:r>
            <a:endParaRPr lang="en-US" sz="1000" dirty="0"/>
          </a:p>
        </p:txBody>
      </p:sp>
      <p:sp>
        <p:nvSpPr>
          <p:cNvPr id="27" name="fs-note"/>
          <p:cNvSpPr/>
          <p:nvPr/>
        </p:nvSpPr>
        <p:spPr>
          <a:xfrm>
            <a:off x="566928" y="6199632"/>
            <a:ext cx="11057839" cy="274320"/>
          </a:xfrm>
          <a:prstGeom prst="rect">
            <a:avLst/>
          </a:prstGeom>
          <a:noFill/>
          <a:ln/>
        </p:spPr>
        <p:txBody>
          <a:bodyPr wrap="square" lIns="254" tIns="254" rIns="254" bIns="254" rtlCol="0" anchor="ctr"/>
          <a:lstStyle/>
          <a:p>
            <a:pPr algn="ctr" indent="0" marL="0">
              <a:lnSpc>
                <a:spcPts val="1400"/>
              </a:lnSpc>
              <a:buNone/>
            </a:pPr>
            <a:r>
              <a:rPr lang="en-US" sz="1150" dirty="0">
                <a:solidFill>
                  <a:srgbClr val="374151"/>
                </a:solidFill>
                <a:latin typeface="Calibri" pitchFamily="34" charset="0"/>
                <a:ea typeface="Calibri" pitchFamily="34" charset="-122"/>
                <a:cs typeface="Calibri" pitchFamily="34" charset="-120"/>
              </a:rPr>
              <a:t>Same objects and positions as the previous slide; the measured dZ is ~90 degrees from desired.</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rgbClr val="FFFFFF"/>
          </a:solidFill>
          <a:ln/>
        </p:spPr>
      </p:sp>
      <p:sp>
        <p:nvSpPr>
          <p:cNvPr id="3" name="kicker"/>
          <p:cNvSpPr/>
          <p:nvPr/>
        </p:nvSpPr>
        <p:spPr>
          <a:xfrm>
            <a:off x="566928" y="365760"/>
            <a:ext cx="6855860" cy="237744"/>
          </a:xfrm>
          <a:prstGeom prst="rect">
            <a:avLst/>
          </a:prstGeom>
          <a:noFill/>
          <a:ln/>
        </p:spPr>
        <p:txBody>
          <a:bodyPr wrap="square" lIns="254" tIns="254" rIns="254" bIns="254" rtlCol="0" anchor="ctr"/>
          <a:lstStyle/>
          <a:p>
            <a:pPr algn="l" indent="0" marL="0">
              <a:lnSpc>
                <a:spcPts val="1400"/>
              </a:lnSpc>
              <a:buNone/>
            </a:pPr>
            <a:r>
              <a:rPr lang="en-US" sz="1200" b="1" dirty="0">
                <a:solidFill>
                  <a:srgbClr val="2563EB"/>
                </a:solidFill>
                <a:latin typeface="Calibri" pitchFamily="34" charset="0"/>
                <a:ea typeface="Calibri" pitchFamily="34" charset="-122"/>
                <a:cs typeface="Calibri" pitchFamily="34" charset="-120"/>
              </a:rPr>
              <a:t>DIAGNOSTIC</a:t>
            </a:r>
            <a:endParaRPr lang="en-US" sz="1200" dirty="0"/>
          </a:p>
        </p:txBody>
      </p:sp>
      <p:sp>
        <p:nvSpPr>
          <p:cNvPr id="4" name="header-meta"/>
          <p:cNvSpPr/>
          <p:nvPr/>
        </p:nvSpPr>
        <p:spPr>
          <a:xfrm>
            <a:off x="6648740" y="365760"/>
            <a:ext cx="4976028" cy="237744"/>
          </a:xfrm>
          <a:prstGeom prst="rect">
            <a:avLst/>
          </a:prstGeom>
          <a:noFill/>
          <a:ln/>
        </p:spPr>
        <p:txBody>
          <a:bodyPr wrap="square" lIns="254" tIns="254" rIns="254" bIns="254" rtlCol="0" anchor="ctr"/>
          <a:lstStyle/>
          <a:p>
            <a:pPr algn="r" indent="0" marL="0">
              <a:lnSpc>
                <a:spcPts val="1200"/>
              </a:lnSpc>
              <a:buNone/>
            </a:pPr>
            <a:r>
              <a:rPr lang="en-US" sz="1000" dirty="0">
                <a:solidFill>
                  <a:srgbClr val="6B7280"/>
                </a:solidFill>
                <a:latin typeface="Calibri" pitchFamily="34" charset="0"/>
                <a:ea typeface="Calibri" pitchFamily="34" charset="-122"/>
                <a:cs typeface="Calibri" pitchFamily="34" charset="-120"/>
              </a:rPr>
              <a:t>Cached Future-Feature Prediction  ·  Week 6</a:t>
            </a:r>
            <a:endParaRPr lang="en-US" sz="1000" dirty="0"/>
          </a:p>
        </p:txBody>
      </p:sp>
      <p:sp>
        <p:nvSpPr>
          <p:cNvPr id="5" name="title-main"/>
          <p:cNvSpPr/>
          <p:nvPr/>
        </p:nvSpPr>
        <p:spPr>
          <a:xfrm>
            <a:off x="566928" y="621792"/>
            <a:ext cx="11057839" cy="548640"/>
          </a:xfrm>
          <a:prstGeom prst="rect">
            <a:avLst/>
          </a:prstGeom>
          <a:noFill/>
          <a:ln/>
        </p:spPr>
        <p:txBody>
          <a:bodyPr wrap="square" lIns="254" tIns="254" rIns="254" bIns="254" rtlCol="0" anchor="ctr"/>
          <a:lstStyle/>
          <a:p>
            <a:pPr algn="l" indent="0" marL="0">
              <a:lnSpc>
                <a:spcPts val="3000"/>
              </a:lnSpc>
              <a:buNone/>
            </a:pPr>
            <a:r>
              <a:rPr lang="en-US" sz="2700" b="1" dirty="0">
                <a:solidFill>
                  <a:srgbClr val="111827"/>
                </a:solidFill>
                <a:latin typeface="Calibri" pitchFamily="34" charset="0"/>
                <a:ea typeface="Calibri" pitchFamily="34" charset="-122"/>
                <a:cs typeface="Calibri" pitchFamily="34" charset="-120"/>
              </a:rPr>
              <a:t>Diagnostic D1: does the correction aim at the future feature?</a:t>
            </a:r>
            <a:endParaRPr lang="en-US" sz="2700" dirty="0"/>
          </a:p>
        </p:txBody>
      </p:sp>
      <p:sp>
        <p:nvSpPr>
          <p:cNvPr id="6" name="chrome-rule"/>
          <p:cNvSpPr/>
          <p:nvPr/>
        </p:nvSpPr>
        <p:spPr>
          <a:xfrm>
            <a:off x="566928" y="1243584"/>
            <a:ext cx="11057839" cy="20117"/>
          </a:xfrm>
          <a:prstGeom prst="rect">
            <a:avLst/>
          </a:prstGeom>
          <a:solidFill>
            <a:srgbClr val="E5E7EB"/>
          </a:solidFill>
          <a:ln/>
        </p:spPr>
      </p:sp>
      <p:sp>
        <p:nvSpPr>
          <p:cNvPr id="7" name="chrome-rule-accent"/>
          <p:cNvSpPr/>
          <p:nvPr/>
        </p:nvSpPr>
        <p:spPr>
          <a:xfrm>
            <a:off x="566928" y="1243584"/>
            <a:ext cx="1051560" cy="20117"/>
          </a:xfrm>
          <a:prstGeom prst="rect">
            <a:avLst/>
          </a:prstGeom>
          <a:solidFill>
            <a:srgbClr val="2563EB"/>
          </a:solidFill>
          <a:ln/>
        </p:spPr>
      </p:sp>
      <p:sp>
        <p:nvSpPr>
          <p:cNvPr id="8" name="footer-text"/>
          <p:cNvSpPr/>
          <p:nvPr/>
        </p:nvSpPr>
        <p:spPr>
          <a:xfrm>
            <a:off x="566928" y="6419088"/>
            <a:ext cx="8293379" cy="237744"/>
          </a:xfrm>
          <a:prstGeom prst="rect">
            <a:avLst/>
          </a:prstGeom>
          <a:noFill/>
          <a:ln/>
        </p:spPr>
        <p:txBody>
          <a:bodyPr wrap="square" lIns="254" tIns="254" rIns="254" bIns="254" rtlCol="0" anchor="ctr"/>
          <a:lstStyle/>
          <a:p>
            <a:pPr algn="l" indent="0" marL="0">
              <a:lnSpc>
                <a:spcPts val="1200"/>
              </a:lnSpc>
              <a:buNone/>
            </a:pPr>
            <a:r>
              <a:rPr lang="en-US" sz="1000" dirty="0">
                <a:solidFill>
                  <a:srgbClr val="9CA3AF"/>
                </a:solidFill>
                <a:latin typeface="Calibri" pitchFamily="34" charset="0"/>
                <a:ea typeface="Calibri" pitchFamily="34" charset="-122"/>
                <a:cs typeface="Calibri" pitchFamily="34" charset="-120"/>
              </a:rPr>
              <a:t>Cached Future-Feature Prediction · synthetic demo</a:t>
            </a:r>
            <a:endParaRPr lang="en-US" sz="1000" dirty="0"/>
          </a:p>
        </p:txBody>
      </p:sp>
      <p:sp>
        <p:nvSpPr>
          <p:cNvPr id="9" name="footer-slide-number"/>
          <p:cNvSpPr/>
          <p:nvPr/>
        </p:nvSpPr>
        <p:spPr>
          <a:xfrm>
            <a:off x="10076670" y="6419088"/>
            <a:ext cx="1548097" cy="237744"/>
          </a:xfrm>
          <a:prstGeom prst="rect">
            <a:avLst/>
          </a:prstGeom>
          <a:noFill/>
          <a:ln/>
        </p:spPr>
        <p:txBody>
          <a:bodyPr wrap="square" lIns="254" tIns="254" rIns="254" bIns="254" rtlCol="0" anchor="ctr"/>
          <a:lstStyle/>
          <a:p>
            <a:pPr algn="r" indent="0" marL="0">
              <a:lnSpc>
                <a:spcPts val="1200"/>
              </a:lnSpc>
              <a:buNone/>
            </a:pPr>
            <a:r>
              <a:rPr lang="en-US" sz="1000" dirty="0">
                <a:solidFill>
                  <a:srgbClr val="9CA3AF"/>
                </a:solidFill>
                <a:latin typeface="Calibri" pitchFamily="34" charset="0"/>
                <a:ea typeface="Calibri" pitchFamily="34" charset="-122"/>
                <a:cs typeface="Calibri" pitchFamily="34" charset="-120"/>
              </a:rPr>
              <a:t>6 / 10</a:t>
            </a:r>
            <a:endParaRPr lang="en-US" sz="1000" dirty="0"/>
          </a:p>
        </p:txBody>
      </p:sp>
      <p:sp>
        <p:nvSpPr>
          <p:cNvPr id="10" name="diag-D1-q"/>
          <p:cNvSpPr/>
          <p:nvPr/>
        </p:nvSpPr>
        <p:spPr>
          <a:xfrm>
            <a:off x="566928" y="1536192"/>
            <a:ext cx="11057839" cy="786384"/>
          </a:xfrm>
          <a:prstGeom prst="roundRect">
            <a:avLst>
              <a:gd name="adj" fmla="val 12791"/>
            </a:avLst>
          </a:prstGeom>
          <a:solidFill>
            <a:srgbClr val="EAF1FE"/>
          </a:solidFill>
          <a:ln w="13970">
            <a:solidFill>
              <a:srgbClr val="2563EB"/>
            </a:solidFill>
            <a:prstDash val="solid"/>
            <a:headEnd type="none"/>
            <a:tailEnd type="none"/>
          </a:ln>
        </p:spPr>
      </p:sp>
      <p:sp>
        <p:nvSpPr>
          <p:cNvPr id="11" name="diag-D1-q-k"/>
          <p:cNvSpPr/>
          <p:nvPr/>
        </p:nvSpPr>
        <p:spPr>
          <a:xfrm>
            <a:off x="804672" y="1627632"/>
            <a:ext cx="1097280" cy="274320"/>
          </a:xfrm>
          <a:prstGeom prst="rect">
            <a:avLst/>
          </a:prstGeom>
          <a:noFill/>
          <a:ln/>
        </p:spPr>
        <p:txBody>
          <a:bodyPr wrap="square" lIns="254" tIns="254" rIns="254" bIns="254" rtlCol="0" anchor="ctr"/>
          <a:lstStyle/>
          <a:p>
            <a:pPr algn="l" indent="0" marL="0">
              <a:lnSpc>
                <a:spcPts val="1600"/>
              </a:lnSpc>
              <a:buNone/>
            </a:pPr>
            <a:r>
              <a:rPr lang="en-US" sz="1300" b="1" dirty="0">
                <a:solidFill>
                  <a:srgbClr val="2563EB"/>
                </a:solidFill>
                <a:latin typeface="Calibri" pitchFamily="34" charset="0"/>
                <a:ea typeface="Calibri" pitchFamily="34" charset="-122"/>
                <a:cs typeface="Calibri" pitchFamily="34" charset="-120"/>
              </a:rPr>
              <a:t>D1</a:t>
            </a:r>
            <a:endParaRPr lang="en-US" sz="1300" dirty="0"/>
          </a:p>
        </p:txBody>
      </p:sp>
      <p:sp>
        <p:nvSpPr>
          <p:cNvPr id="12" name="diag-D1-q-t"/>
          <p:cNvSpPr/>
          <p:nvPr/>
        </p:nvSpPr>
        <p:spPr>
          <a:xfrm>
            <a:off x="1801368" y="1627632"/>
            <a:ext cx="8040319" cy="603504"/>
          </a:xfrm>
          <a:prstGeom prst="rect">
            <a:avLst/>
          </a:prstGeom>
          <a:noFill/>
          <a:ln/>
        </p:spPr>
        <p:txBody>
          <a:bodyPr wrap="square" lIns="254" tIns="254" rIns="254" bIns="254" rtlCol="0" anchor="ctr"/>
          <a:lstStyle/>
          <a:p>
            <a:pPr algn="l" indent="0" marL="0">
              <a:lnSpc>
                <a:spcPts val="2000"/>
              </a:lnSpc>
              <a:buNone/>
            </a:pPr>
            <a:r>
              <a:rPr lang="en-US" sz="1700" b="1" dirty="0">
                <a:solidFill>
                  <a:srgbClr val="111827"/>
                </a:solidFill>
                <a:latin typeface="Calibri" pitchFamily="34" charset="0"/>
                <a:ea typeface="Calibri" pitchFamily="34" charset="-122"/>
                <a:cs typeface="Calibri" pitchFamily="34" charset="-120"/>
              </a:rPr>
              <a:t>Does the correction direction point toward the future feature?</a:t>
            </a:r>
            <a:endParaRPr lang="en-US" sz="1700" dirty="0"/>
          </a:p>
        </p:txBody>
      </p:sp>
      <p:sp>
        <p:nvSpPr>
          <p:cNvPr id="13" name="diag-D1-link-0"/>
          <p:cNvSpPr/>
          <p:nvPr/>
        </p:nvSpPr>
        <p:spPr>
          <a:xfrm>
            <a:off x="10024567" y="1773936"/>
            <a:ext cx="713232" cy="310896"/>
          </a:xfrm>
          <a:prstGeom prst="roundRect">
            <a:avLst>
              <a:gd name="adj" fmla="val 50000"/>
            </a:avLst>
          </a:prstGeom>
          <a:solidFill>
            <a:srgbClr val="FFFFFF"/>
          </a:solidFill>
          <a:ln w="13970">
            <a:solidFill>
              <a:srgbClr val="2563EB"/>
            </a:solidFill>
            <a:prstDash val="solid"/>
            <a:headEnd type="none"/>
            <a:tailEnd type="none"/>
          </a:ln>
        </p:spPr>
      </p:sp>
      <p:sp>
        <p:nvSpPr>
          <p:cNvPr id="14" name="diag-D1-link-0__label"/>
          <p:cNvSpPr/>
          <p:nvPr/>
        </p:nvSpPr>
        <p:spPr>
          <a:xfrm>
            <a:off x="10024567" y="1773936"/>
            <a:ext cx="713232" cy="310896"/>
          </a:xfrm>
          <a:prstGeom prst="rect">
            <a:avLst/>
          </a:prstGeom>
          <a:noFill/>
          <a:ln/>
        </p:spPr>
        <p:txBody>
          <a:bodyPr wrap="square" lIns="254" tIns="254" rIns="254" bIns="254" rtlCol="0" anchor="ctr"/>
          <a:lstStyle/>
          <a:p>
            <a:pPr algn="ctr" indent="0" marL="0">
              <a:lnSpc>
                <a:spcPts val="1200"/>
              </a:lnSpc>
              <a:buNone/>
            </a:pPr>
            <a:r>
              <a:rPr lang="en-US" sz="1000" b="1" dirty="0">
                <a:solidFill>
                  <a:srgbClr val="2563EB"/>
                </a:solidFill>
                <a:latin typeface="Calibri" pitchFamily="34" charset="0"/>
                <a:ea typeface="Calibri" pitchFamily="34" charset="-122"/>
                <a:cs typeface="Calibri" pitchFamily="34" charset="-120"/>
              </a:rPr>
              <a:t>tests C1</a:t>
            </a:r>
            <a:endParaRPr lang="en-US" sz="1000" dirty="0"/>
          </a:p>
        </p:txBody>
      </p:sp>
      <p:sp>
        <p:nvSpPr>
          <p:cNvPr id="15" name="diag-D1-measurement"/>
          <p:cNvSpPr/>
          <p:nvPr/>
        </p:nvSpPr>
        <p:spPr>
          <a:xfrm>
            <a:off x="566928" y="2505456"/>
            <a:ext cx="6302968" cy="1042416"/>
          </a:xfrm>
          <a:prstGeom prst="roundRect">
            <a:avLst>
              <a:gd name="adj" fmla="val 9649"/>
            </a:avLst>
          </a:prstGeom>
          <a:solidFill>
            <a:srgbClr val="F9FAFB"/>
          </a:solidFill>
          <a:ln w="13970">
            <a:solidFill>
              <a:srgbClr val="E5E7EB"/>
            </a:solidFill>
            <a:prstDash val="solid"/>
            <a:headEnd type="none"/>
            <a:tailEnd type="none"/>
          </a:ln>
        </p:spPr>
      </p:sp>
      <p:sp>
        <p:nvSpPr>
          <p:cNvPr id="16" name="diag-D1-measurement-k"/>
          <p:cNvSpPr/>
          <p:nvPr/>
        </p:nvSpPr>
        <p:spPr>
          <a:xfrm>
            <a:off x="768096" y="2596896"/>
            <a:ext cx="5900632" cy="237744"/>
          </a:xfrm>
          <a:prstGeom prst="rect">
            <a:avLst/>
          </a:prstGeom>
          <a:noFill/>
          <a:ln/>
        </p:spPr>
        <p:txBody>
          <a:bodyPr wrap="square" lIns="254" tIns="254" rIns="254" bIns="254" rtlCol="0" anchor="ctr"/>
          <a:lstStyle/>
          <a:p>
            <a:pPr algn="l" indent="0" marL="0">
              <a:lnSpc>
                <a:spcPts val="1200"/>
              </a:lnSpc>
              <a:buNone/>
            </a:pPr>
            <a:r>
              <a:rPr lang="en-US" sz="1000" b="1" dirty="0">
                <a:solidFill>
                  <a:srgbClr val="6B7280"/>
                </a:solidFill>
                <a:latin typeface="Calibri" pitchFamily="34" charset="0"/>
                <a:ea typeface="Calibri" pitchFamily="34" charset="-122"/>
                <a:cs typeface="Calibri" pitchFamily="34" charset="-120"/>
              </a:rPr>
              <a:t>MEASUREMENT</a:t>
            </a:r>
            <a:endParaRPr lang="en-US" sz="1000" dirty="0"/>
          </a:p>
        </p:txBody>
      </p:sp>
      <p:sp>
        <p:nvSpPr>
          <p:cNvPr id="17" name="diag-D1-measurement-t"/>
          <p:cNvSpPr/>
          <p:nvPr/>
        </p:nvSpPr>
        <p:spPr>
          <a:xfrm>
            <a:off x="768096" y="2871216"/>
            <a:ext cx="5900632" cy="585216"/>
          </a:xfrm>
          <a:prstGeom prst="rect">
            <a:avLst/>
          </a:prstGeom>
          <a:noFill/>
          <a:ln/>
        </p:spPr>
        <p:txBody>
          <a:bodyPr wrap="square" lIns="254" tIns="254" rIns="254" bIns="254" rtlCol="0" anchor="t"/>
          <a:lstStyle/>
          <a:p>
            <a:pPr algn="l" indent="0" marL="0">
              <a:lnSpc>
                <a:spcPts val="1800"/>
              </a:lnSpc>
              <a:buNone/>
            </a:pPr>
            <a:r>
              <a:rPr lang="en-US" sz="1500" dirty="0">
                <a:solidFill>
                  <a:srgbClr val="111827"/>
                </a:solidFill>
                <a:latin typeface="Consolas" pitchFamily="34" charset="0"/>
                <a:ea typeface="Consolas" pitchFamily="34" charset="-122"/>
                <a:cs typeface="Consolas" pitchFamily="34" charset="-120"/>
              </a:rPr>
              <a:t>cos(deltaZ, Z_d - Z_s) = 0.1168</a:t>
            </a:r>
            <a:endParaRPr lang="en-US" sz="1500" dirty="0"/>
          </a:p>
        </p:txBody>
      </p:sp>
      <p:sp>
        <p:nvSpPr>
          <p:cNvPr id="18" name="diag-D1-observation"/>
          <p:cNvSpPr/>
          <p:nvPr/>
        </p:nvSpPr>
        <p:spPr>
          <a:xfrm>
            <a:off x="566928" y="3639312"/>
            <a:ext cx="6302968" cy="1042416"/>
          </a:xfrm>
          <a:prstGeom prst="roundRect">
            <a:avLst>
              <a:gd name="adj" fmla="val 9649"/>
            </a:avLst>
          </a:prstGeom>
          <a:solidFill>
            <a:srgbClr val="FFFFFF"/>
          </a:solidFill>
          <a:ln w="13970">
            <a:solidFill>
              <a:srgbClr val="E5E7EB"/>
            </a:solidFill>
            <a:prstDash val="solid"/>
            <a:headEnd type="none"/>
            <a:tailEnd type="none"/>
          </a:ln>
        </p:spPr>
      </p:sp>
      <p:sp>
        <p:nvSpPr>
          <p:cNvPr id="19" name="diag-D1-observation-k"/>
          <p:cNvSpPr/>
          <p:nvPr/>
        </p:nvSpPr>
        <p:spPr>
          <a:xfrm>
            <a:off x="768096" y="3730752"/>
            <a:ext cx="5900632" cy="237744"/>
          </a:xfrm>
          <a:prstGeom prst="rect">
            <a:avLst/>
          </a:prstGeom>
          <a:noFill/>
          <a:ln/>
        </p:spPr>
        <p:txBody>
          <a:bodyPr wrap="square" lIns="254" tIns="254" rIns="254" bIns="254" rtlCol="0" anchor="ctr"/>
          <a:lstStyle/>
          <a:p>
            <a:pPr algn="l" indent="0" marL="0">
              <a:lnSpc>
                <a:spcPts val="1200"/>
              </a:lnSpc>
              <a:buNone/>
            </a:pPr>
            <a:r>
              <a:rPr lang="en-US" sz="1000" b="1" dirty="0">
                <a:solidFill>
                  <a:srgbClr val="374151"/>
                </a:solidFill>
                <a:latin typeface="Calibri" pitchFamily="34" charset="0"/>
                <a:ea typeface="Calibri" pitchFamily="34" charset="-122"/>
                <a:cs typeface="Calibri" pitchFamily="34" charset="-120"/>
              </a:rPr>
              <a:t>OBSERVATION</a:t>
            </a:r>
            <a:endParaRPr lang="en-US" sz="1000" dirty="0"/>
          </a:p>
        </p:txBody>
      </p:sp>
      <p:sp>
        <p:nvSpPr>
          <p:cNvPr id="20" name="diag-D1-observation-t"/>
          <p:cNvSpPr/>
          <p:nvPr/>
        </p:nvSpPr>
        <p:spPr>
          <a:xfrm>
            <a:off x="768096" y="4005072"/>
            <a:ext cx="5900632" cy="585216"/>
          </a:xfrm>
          <a:prstGeom prst="rect">
            <a:avLst/>
          </a:prstGeom>
          <a:noFill/>
          <a:ln/>
        </p:spPr>
        <p:txBody>
          <a:bodyPr wrap="square" lIns="254" tIns="254" rIns="254" bIns="254" rtlCol="0" anchor="t"/>
          <a:lstStyle/>
          <a:p>
            <a:pPr algn="l" indent="0" marL="0">
              <a:lnSpc>
                <a:spcPts val="1800"/>
              </a:lnSpc>
              <a:buNone/>
            </a:pPr>
            <a:r>
              <a:rPr lang="en-US" sz="1400" dirty="0">
                <a:solidFill>
                  <a:srgbClr val="111827"/>
                </a:solidFill>
                <a:latin typeface="Calibri" pitchFamily="34" charset="0"/>
                <a:ea typeface="Calibri" pitchFamily="34" charset="-122"/>
                <a:cs typeface="Calibri" pitchFamily="34" charset="-120"/>
              </a:rPr>
              <a:t>The correction direction is nearly orthogonal to the direction from the cached feature to the future feature</a:t>
            </a:r>
            <a:endParaRPr lang="en-US" sz="1400" dirty="0"/>
          </a:p>
        </p:txBody>
      </p:sp>
      <p:sp>
        <p:nvSpPr>
          <p:cNvPr id="21" name="diag-D1-interpretation"/>
          <p:cNvSpPr/>
          <p:nvPr/>
        </p:nvSpPr>
        <p:spPr>
          <a:xfrm>
            <a:off x="566928" y="4773168"/>
            <a:ext cx="6302968" cy="1042416"/>
          </a:xfrm>
          <a:prstGeom prst="roundRect">
            <a:avLst>
              <a:gd name="adj" fmla="val 9649"/>
            </a:avLst>
          </a:prstGeom>
          <a:solidFill>
            <a:srgbClr val="EAF1FE"/>
          </a:solidFill>
          <a:ln w="13970">
            <a:solidFill>
              <a:srgbClr val="2563EB"/>
            </a:solidFill>
            <a:prstDash val="solid"/>
            <a:headEnd type="none"/>
            <a:tailEnd type="none"/>
          </a:ln>
        </p:spPr>
      </p:sp>
      <p:sp>
        <p:nvSpPr>
          <p:cNvPr id="22" name="diag-D1-interpretation-k"/>
          <p:cNvSpPr/>
          <p:nvPr/>
        </p:nvSpPr>
        <p:spPr>
          <a:xfrm>
            <a:off x="768096" y="4864608"/>
            <a:ext cx="5900632" cy="237744"/>
          </a:xfrm>
          <a:prstGeom prst="rect">
            <a:avLst/>
          </a:prstGeom>
          <a:noFill/>
          <a:ln/>
        </p:spPr>
        <p:txBody>
          <a:bodyPr wrap="square" lIns="254" tIns="254" rIns="254" bIns="254" rtlCol="0" anchor="ctr"/>
          <a:lstStyle/>
          <a:p>
            <a:pPr algn="l" indent="0" marL="0">
              <a:lnSpc>
                <a:spcPts val="1200"/>
              </a:lnSpc>
              <a:buNone/>
            </a:pPr>
            <a:r>
              <a:rPr lang="en-US" sz="1000" b="1" dirty="0">
                <a:solidFill>
                  <a:srgbClr val="2563EB"/>
                </a:solidFill>
                <a:latin typeface="Calibri" pitchFamily="34" charset="0"/>
                <a:ea typeface="Calibri" pitchFamily="34" charset="-122"/>
                <a:cs typeface="Calibri" pitchFamily="34" charset="-120"/>
              </a:rPr>
              <a:t>INTERPRETATION</a:t>
            </a:r>
            <a:endParaRPr lang="en-US" sz="1000" dirty="0"/>
          </a:p>
        </p:txBody>
      </p:sp>
      <p:sp>
        <p:nvSpPr>
          <p:cNvPr id="23" name="diag-D1-interpretation-t"/>
          <p:cNvSpPr/>
          <p:nvPr/>
        </p:nvSpPr>
        <p:spPr>
          <a:xfrm>
            <a:off x="768096" y="5138928"/>
            <a:ext cx="5900632" cy="585216"/>
          </a:xfrm>
          <a:prstGeom prst="rect">
            <a:avLst/>
          </a:prstGeom>
          <a:noFill/>
          <a:ln/>
        </p:spPr>
        <p:txBody>
          <a:bodyPr wrap="square" lIns="254" tIns="254" rIns="254" bIns="254" rtlCol="0" anchor="t"/>
          <a:lstStyle/>
          <a:p>
            <a:pPr algn="l" indent="0" marL="0">
              <a:lnSpc>
                <a:spcPts val="1800"/>
              </a:lnSpc>
              <a:buNone/>
            </a:pPr>
            <a:r>
              <a:rPr lang="en-US" sz="1400" dirty="0">
                <a:solidFill>
                  <a:srgbClr val="111827"/>
                </a:solidFill>
                <a:latin typeface="Calibri" pitchFamily="34" charset="0"/>
                <a:ea typeface="Calibri" pitchFamily="34" charset="-122"/>
                <a:cs typeface="Calibri" pitchFamily="34" charset="-120"/>
              </a:rPr>
              <a:t>Output recovery may not require moving toward the exact future hidden state</a:t>
            </a:r>
            <a:endParaRPr lang="en-US" sz="1400" dirty="0"/>
          </a:p>
        </p:txBody>
      </p:sp>
      <p:sp>
        <p:nvSpPr>
          <p:cNvPr id="24" name="diag-D1-can_conclude"/>
          <p:cNvSpPr/>
          <p:nvPr/>
        </p:nvSpPr>
        <p:spPr>
          <a:xfrm>
            <a:off x="7201632" y="2505456"/>
            <a:ext cx="4423136" cy="1042416"/>
          </a:xfrm>
          <a:prstGeom prst="roundRect">
            <a:avLst>
              <a:gd name="adj" fmla="val 9649"/>
            </a:avLst>
          </a:prstGeom>
          <a:solidFill>
            <a:srgbClr val="DCFCE7"/>
          </a:solidFill>
          <a:ln w="13970">
            <a:solidFill>
              <a:srgbClr val="047857"/>
            </a:solidFill>
            <a:prstDash val="solid"/>
            <a:headEnd type="none"/>
            <a:tailEnd type="none"/>
          </a:ln>
        </p:spPr>
      </p:sp>
      <p:sp>
        <p:nvSpPr>
          <p:cNvPr id="25" name="diag-D1-can_conclude-k"/>
          <p:cNvSpPr/>
          <p:nvPr/>
        </p:nvSpPr>
        <p:spPr>
          <a:xfrm>
            <a:off x="7402800" y="2596896"/>
            <a:ext cx="4020800" cy="237744"/>
          </a:xfrm>
          <a:prstGeom prst="rect">
            <a:avLst/>
          </a:prstGeom>
          <a:noFill/>
          <a:ln/>
        </p:spPr>
        <p:txBody>
          <a:bodyPr wrap="square" lIns="254" tIns="254" rIns="254" bIns="254" rtlCol="0" anchor="ctr"/>
          <a:lstStyle/>
          <a:p>
            <a:pPr algn="l" indent="0" marL="0">
              <a:lnSpc>
                <a:spcPts val="1200"/>
              </a:lnSpc>
              <a:buNone/>
            </a:pPr>
            <a:r>
              <a:rPr lang="en-US" sz="1000" b="1" dirty="0">
                <a:solidFill>
                  <a:srgbClr val="047857"/>
                </a:solidFill>
                <a:latin typeface="Calibri" pitchFamily="34" charset="0"/>
                <a:ea typeface="Calibri" pitchFamily="34" charset="-122"/>
                <a:cs typeface="Calibri" pitchFamily="34" charset="-120"/>
              </a:rPr>
              <a:t>CAN CONCLUDE</a:t>
            </a:r>
            <a:endParaRPr lang="en-US" sz="1000" dirty="0"/>
          </a:p>
        </p:txBody>
      </p:sp>
      <p:sp>
        <p:nvSpPr>
          <p:cNvPr id="26" name="diag-D1-can_conclude-t"/>
          <p:cNvSpPr/>
          <p:nvPr/>
        </p:nvSpPr>
        <p:spPr>
          <a:xfrm>
            <a:off x="7402800" y="2871216"/>
            <a:ext cx="4020800" cy="585216"/>
          </a:xfrm>
          <a:prstGeom prst="rect">
            <a:avLst/>
          </a:prstGeom>
          <a:noFill/>
          <a:ln/>
        </p:spPr>
        <p:txBody>
          <a:bodyPr wrap="square" lIns="254" tIns="254" rIns="254" bIns="254" rtlCol="0" anchor="t"/>
          <a:lstStyle/>
          <a:p>
            <a:pPr algn="l" indent="0" marL="0">
              <a:lnSpc>
                <a:spcPts val="1700"/>
              </a:lnSpc>
              <a:buNone/>
            </a:pPr>
            <a:r>
              <a:rPr lang="en-US" sz="1200" dirty="0">
                <a:solidFill>
                  <a:srgbClr val="374151"/>
                </a:solidFill>
                <a:latin typeface="Calibri" pitchFamily="34" charset="0"/>
                <a:ea typeface="Calibri" pitchFamily="34" charset="-122"/>
                <a:cs typeface="Calibri" pitchFamily="34" charset="-120"/>
              </a:rPr>
              <a:t>C1 as stated is not supported</a:t>
            </a:r>
            <a:endParaRPr lang="en-US" sz="1200" dirty="0"/>
          </a:p>
        </p:txBody>
      </p:sp>
      <p:sp>
        <p:nvSpPr>
          <p:cNvPr id="27" name="diag-D1-cannot_conclude"/>
          <p:cNvSpPr/>
          <p:nvPr/>
        </p:nvSpPr>
        <p:spPr>
          <a:xfrm>
            <a:off x="7201632" y="3639312"/>
            <a:ext cx="4423136" cy="1042416"/>
          </a:xfrm>
          <a:prstGeom prst="roundRect">
            <a:avLst>
              <a:gd name="adj" fmla="val 9649"/>
            </a:avLst>
          </a:prstGeom>
          <a:solidFill>
            <a:srgbClr val="FEE2E2"/>
          </a:solidFill>
          <a:ln w="13970">
            <a:solidFill>
              <a:srgbClr val="B91C1C"/>
            </a:solidFill>
            <a:prstDash val="solid"/>
            <a:headEnd type="none"/>
            <a:tailEnd type="none"/>
          </a:ln>
        </p:spPr>
      </p:sp>
      <p:sp>
        <p:nvSpPr>
          <p:cNvPr id="28" name="diag-D1-cannot_conclude-k"/>
          <p:cNvSpPr/>
          <p:nvPr/>
        </p:nvSpPr>
        <p:spPr>
          <a:xfrm>
            <a:off x="7402800" y="3730752"/>
            <a:ext cx="4020800" cy="237744"/>
          </a:xfrm>
          <a:prstGeom prst="rect">
            <a:avLst/>
          </a:prstGeom>
          <a:noFill/>
          <a:ln/>
        </p:spPr>
        <p:txBody>
          <a:bodyPr wrap="square" lIns="254" tIns="254" rIns="254" bIns="254" rtlCol="0" anchor="ctr"/>
          <a:lstStyle/>
          <a:p>
            <a:pPr algn="l" indent="0" marL="0">
              <a:lnSpc>
                <a:spcPts val="1200"/>
              </a:lnSpc>
              <a:buNone/>
            </a:pPr>
            <a:r>
              <a:rPr lang="en-US" sz="1000" b="1" dirty="0">
                <a:solidFill>
                  <a:srgbClr val="B91C1C"/>
                </a:solidFill>
                <a:latin typeface="Calibri" pitchFamily="34" charset="0"/>
                <a:ea typeface="Calibri" pitchFamily="34" charset="-122"/>
                <a:cs typeface="Calibri" pitchFamily="34" charset="-120"/>
              </a:rPr>
              <a:t>CANNOT CONCLUDE</a:t>
            </a:r>
            <a:endParaRPr lang="en-US" sz="1000" dirty="0"/>
          </a:p>
        </p:txBody>
      </p:sp>
      <p:sp>
        <p:nvSpPr>
          <p:cNvPr id="29" name="diag-D1-cannot_conclude-t"/>
          <p:cNvSpPr/>
          <p:nvPr/>
        </p:nvSpPr>
        <p:spPr>
          <a:xfrm>
            <a:off x="7402800" y="4005072"/>
            <a:ext cx="4020800" cy="585216"/>
          </a:xfrm>
          <a:prstGeom prst="rect">
            <a:avLst/>
          </a:prstGeom>
          <a:noFill/>
          <a:ln/>
        </p:spPr>
        <p:txBody>
          <a:bodyPr wrap="square" lIns="254" tIns="254" rIns="254" bIns="254" rtlCol="0" anchor="t"/>
          <a:lstStyle/>
          <a:p>
            <a:pPr algn="l" indent="0" marL="0">
              <a:lnSpc>
                <a:spcPts val="1700"/>
              </a:lnSpc>
              <a:buNone/>
            </a:pPr>
            <a:r>
              <a:rPr lang="en-US" sz="1200" dirty="0">
                <a:solidFill>
                  <a:srgbClr val="374151"/>
                </a:solidFill>
                <a:latin typeface="Calibri" pitchFamily="34" charset="0"/>
                <a:ea typeface="Calibri" pitchFamily="34" charset="-122"/>
                <a:cs typeface="Calibri" pitchFamily="34" charset="-120"/>
              </a:rPr>
              <a:t>That the correction is uninformative, or that the method fails.</a:t>
            </a:r>
            <a:endParaRPr lang="en-US" sz="1200" dirty="0"/>
          </a:p>
        </p:txBody>
      </p:sp>
      <p:sp>
        <p:nvSpPr>
          <p:cNvPr id="30" name="diag-D1-alternative_explanation"/>
          <p:cNvSpPr/>
          <p:nvPr/>
        </p:nvSpPr>
        <p:spPr>
          <a:xfrm>
            <a:off x="7201632" y="4773168"/>
            <a:ext cx="4423136" cy="1042416"/>
          </a:xfrm>
          <a:prstGeom prst="roundRect">
            <a:avLst>
              <a:gd name="adj" fmla="val 9649"/>
            </a:avLst>
          </a:prstGeom>
          <a:solidFill>
            <a:srgbClr val="F9FAFB"/>
          </a:solidFill>
          <a:ln w="13970">
            <a:solidFill>
              <a:srgbClr val="6B7280"/>
            </a:solidFill>
            <a:prstDash val="solid"/>
            <a:headEnd type="none"/>
            <a:tailEnd type="none"/>
          </a:ln>
        </p:spPr>
      </p:sp>
      <p:sp>
        <p:nvSpPr>
          <p:cNvPr id="31" name="diag-D1-alternative_explanation-k"/>
          <p:cNvSpPr/>
          <p:nvPr/>
        </p:nvSpPr>
        <p:spPr>
          <a:xfrm>
            <a:off x="7402800" y="4864608"/>
            <a:ext cx="4020800" cy="237744"/>
          </a:xfrm>
          <a:prstGeom prst="rect">
            <a:avLst/>
          </a:prstGeom>
          <a:noFill/>
          <a:ln/>
        </p:spPr>
        <p:txBody>
          <a:bodyPr wrap="square" lIns="254" tIns="254" rIns="254" bIns="254" rtlCol="0" anchor="ctr"/>
          <a:lstStyle/>
          <a:p>
            <a:pPr algn="l" indent="0" marL="0">
              <a:lnSpc>
                <a:spcPts val="1200"/>
              </a:lnSpc>
              <a:buNone/>
            </a:pPr>
            <a:r>
              <a:rPr lang="en-US" sz="1000" b="1" dirty="0">
                <a:solidFill>
                  <a:srgbClr val="6B7280"/>
                </a:solidFill>
                <a:latin typeface="Calibri" pitchFamily="34" charset="0"/>
                <a:ea typeface="Calibri" pitchFamily="34" charset="-122"/>
                <a:cs typeface="Calibri" pitchFamily="34" charset="-120"/>
              </a:rPr>
              <a:t>ALTERNATIVE TARGETED</a:t>
            </a:r>
            <a:endParaRPr lang="en-US" sz="1000" dirty="0"/>
          </a:p>
        </p:txBody>
      </p:sp>
      <p:sp>
        <p:nvSpPr>
          <p:cNvPr id="32" name="diag-D1-alternative_explanation-t"/>
          <p:cNvSpPr/>
          <p:nvPr/>
        </p:nvSpPr>
        <p:spPr>
          <a:xfrm>
            <a:off x="7402800" y="5138928"/>
            <a:ext cx="4020800" cy="585216"/>
          </a:xfrm>
          <a:prstGeom prst="rect">
            <a:avLst/>
          </a:prstGeom>
          <a:noFill/>
          <a:ln/>
        </p:spPr>
        <p:txBody>
          <a:bodyPr wrap="square" lIns="254" tIns="254" rIns="254" bIns="254" rtlCol="0" anchor="t"/>
          <a:lstStyle/>
          <a:p>
            <a:pPr algn="l" indent="0" marL="0">
              <a:lnSpc>
                <a:spcPts val="1700"/>
              </a:lnSpc>
              <a:buNone/>
            </a:pPr>
            <a:r>
              <a:rPr lang="en-US" sz="1200" dirty="0">
                <a:solidFill>
                  <a:srgbClr val="374151"/>
                </a:solidFill>
                <a:latin typeface="Calibri" pitchFamily="34" charset="0"/>
                <a:ea typeface="Calibri" pitchFamily="34" charset="-122"/>
                <a:cs typeface="Calibri" pitchFamily="34" charset="-120"/>
              </a:rPr>
              <a:t>The correction may exploit a downstream-valid direction that is not the future-feature direction.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rgbClr val="FFFFFF"/>
          </a:solidFill>
          <a:ln/>
        </p:spPr>
      </p:sp>
      <p:sp>
        <p:nvSpPr>
          <p:cNvPr id="3" name="kicker"/>
          <p:cNvSpPr/>
          <p:nvPr/>
        </p:nvSpPr>
        <p:spPr>
          <a:xfrm>
            <a:off x="566928" y="365760"/>
            <a:ext cx="6855860" cy="237744"/>
          </a:xfrm>
          <a:prstGeom prst="rect">
            <a:avLst/>
          </a:prstGeom>
          <a:noFill/>
          <a:ln/>
        </p:spPr>
        <p:txBody>
          <a:bodyPr wrap="square" lIns="254" tIns="254" rIns="254" bIns="254" rtlCol="0" anchor="ctr"/>
          <a:lstStyle/>
          <a:p>
            <a:pPr algn="l" indent="0" marL="0">
              <a:lnSpc>
                <a:spcPts val="1400"/>
              </a:lnSpc>
              <a:buNone/>
            </a:pPr>
            <a:r>
              <a:rPr lang="en-US" sz="1200" b="1" dirty="0">
                <a:solidFill>
                  <a:srgbClr val="2563EB"/>
                </a:solidFill>
                <a:latin typeface="Calibri" pitchFamily="34" charset="0"/>
                <a:ea typeface="Calibri" pitchFamily="34" charset="-122"/>
                <a:cs typeface="Calibri" pitchFamily="34" charset="-120"/>
              </a:rPr>
              <a:t>COMPARISON</a:t>
            </a:r>
            <a:endParaRPr lang="en-US" sz="1200" dirty="0"/>
          </a:p>
        </p:txBody>
      </p:sp>
      <p:sp>
        <p:nvSpPr>
          <p:cNvPr id="4" name="header-meta"/>
          <p:cNvSpPr/>
          <p:nvPr/>
        </p:nvSpPr>
        <p:spPr>
          <a:xfrm>
            <a:off x="6648740" y="365760"/>
            <a:ext cx="4976028" cy="237744"/>
          </a:xfrm>
          <a:prstGeom prst="rect">
            <a:avLst/>
          </a:prstGeom>
          <a:noFill/>
          <a:ln/>
        </p:spPr>
        <p:txBody>
          <a:bodyPr wrap="square" lIns="254" tIns="254" rIns="254" bIns="254" rtlCol="0" anchor="ctr"/>
          <a:lstStyle/>
          <a:p>
            <a:pPr algn="r" indent="0" marL="0">
              <a:lnSpc>
                <a:spcPts val="1200"/>
              </a:lnSpc>
              <a:buNone/>
            </a:pPr>
            <a:r>
              <a:rPr lang="en-US" sz="1000" dirty="0">
                <a:solidFill>
                  <a:srgbClr val="6B7280"/>
                </a:solidFill>
                <a:latin typeface="Calibri" pitchFamily="34" charset="0"/>
                <a:ea typeface="Calibri" pitchFamily="34" charset="-122"/>
                <a:cs typeface="Calibri" pitchFamily="34" charset="-120"/>
              </a:rPr>
              <a:t>Cached Future-Feature Prediction  ·  Week 6</a:t>
            </a:r>
            <a:endParaRPr lang="en-US" sz="1000" dirty="0"/>
          </a:p>
        </p:txBody>
      </p:sp>
      <p:sp>
        <p:nvSpPr>
          <p:cNvPr id="5" name="title-main"/>
          <p:cNvSpPr/>
          <p:nvPr/>
        </p:nvSpPr>
        <p:spPr>
          <a:xfrm>
            <a:off x="566928" y="621792"/>
            <a:ext cx="11057839" cy="548640"/>
          </a:xfrm>
          <a:prstGeom prst="rect">
            <a:avLst/>
          </a:prstGeom>
          <a:noFill/>
          <a:ln/>
        </p:spPr>
        <p:txBody>
          <a:bodyPr wrap="square" lIns="254" tIns="254" rIns="254" bIns="254" rtlCol="0" anchor="ctr"/>
          <a:lstStyle/>
          <a:p>
            <a:pPr algn="l" indent="0" marL="0">
              <a:lnSpc>
                <a:spcPts val="3000"/>
              </a:lnSpc>
              <a:buNone/>
            </a:pPr>
            <a:r>
              <a:rPr lang="en-US" sz="2700" b="1" dirty="0">
                <a:solidFill>
                  <a:srgbClr val="111827"/>
                </a:solidFill>
                <a:latin typeface="Calibri" pitchFamily="34" charset="0"/>
                <a:ea typeface="Calibri" pitchFamily="34" charset="-122"/>
                <a:cs typeface="Calibri" pitchFamily="34" charset="-120"/>
              </a:rPr>
              <a:t>Comparison: competitor, last week, this week</a:t>
            </a:r>
            <a:endParaRPr lang="en-US" sz="2700" dirty="0"/>
          </a:p>
        </p:txBody>
      </p:sp>
      <p:sp>
        <p:nvSpPr>
          <p:cNvPr id="6" name="chrome-rule"/>
          <p:cNvSpPr/>
          <p:nvPr/>
        </p:nvSpPr>
        <p:spPr>
          <a:xfrm>
            <a:off x="566928" y="1243584"/>
            <a:ext cx="11057839" cy="20117"/>
          </a:xfrm>
          <a:prstGeom prst="rect">
            <a:avLst/>
          </a:prstGeom>
          <a:solidFill>
            <a:srgbClr val="E5E7EB"/>
          </a:solidFill>
          <a:ln/>
        </p:spPr>
      </p:sp>
      <p:sp>
        <p:nvSpPr>
          <p:cNvPr id="7" name="chrome-rule-accent"/>
          <p:cNvSpPr/>
          <p:nvPr/>
        </p:nvSpPr>
        <p:spPr>
          <a:xfrm>
            <a:off x="566928" y="1243584"/>
            <a:ext cx="1051560" cy="20117"/>
          </a:xfrm>
          <a:prstGeom prst="rect">
            <a:avLst/>
          </a:prstGeom>
          <a:solidFill>
            <a:srgbClr val="2563EB"/>
          </a:solidFill>
          <a:ln/>
        </p:spPr>
      </p:sp>
      <p:sp>
        <p:nvSpPr>
          <p:cNvPr id="8" name="footer-text"/>
          <p:cNvSpPr/>
          <p:nvPr/>
        </p:nvSpPr>
        <p:spPr>
          <a:xfrm>
            <a:off x="566928" y="6419088"/>
            <a:ext cx="8293379" cy="237744"/>
          </a:xfrm>
          <a:prstGeom prst="rect">
            <a:avLst/>
          </a:prstGeom>
          <a:noFill/>
          <a:ln/>
        </p:spPr>
        <p:txBody>
          <a:bodyPr wrap="square" lIns="254" tIns="254" rIns="254" bIns="254" rtlCol="0" anchor="ctr"/>
          <a:lstStyle/>
          <a:p>
            <a:pPr algn="l" indent="0" marL="0">
              <a:lnSpc>
                <a:spcPts val="1200"/>
              </a:lnSpc>
              <a:buNone/>
            </a:pPr>
            <a:r>
              <a:rPr lang="en-US" sz="1000" dirty="0">
                <a:solidFill>
                  <a:srgbClr val="9CA3AF"/>
                </a:solidFill>
                <a:latin typeface="Calibri" pitchFamily="34" charset="0"/>
                <a:ea typeface="Calibri" pitchFamily="34" charset="-122"/>
                <a:cs typeface="Calibri" pitchFamily="34" charset="-120"/>
              </a:rPr>
              <a:t>Cached Future-Feature Prediction · synthetic demo</a:t>
            </a:r>
            <a:endParaRPr lang="en-US" sz="1000" dirty="0"/>
          </a:p>
        </p:txBody>
      </p:sp>
      <p:sp>
        <p:nvSpPr>
          <p:cNvPr id="9" name="footer-slide-number"/>
          <p:cNvSpPr/>
          <p:nvPr/>
        </p:nvSpPr>
        <p:spPr>
          <a:xfrm>
            <a:off x="10076670" y="6419088"/>
            <a:ext cx="1548097" cy="237744"/>
          </a:xfrm>
          <a:prstGeom prst="rect">
            <a:avLst/>
          </a:prstGeom>
          <a:noFill/>
          <a:ln/>
        </p:spPr>
        <p:txBody>
          <a:bodyPr wrap="square" lIns="254" tIns="254" rIns="254" bIns="254" rtlCol="0" anchor="ctr"/>
          <a:lstStyle/>
          <a:p>
            <a:pPr algn="r" indent="0" marL="0">
              <a:lnSpc>
                <a:spcPts val="1200"/>
              </a:lnSpc>
              <a:buNone/>
            </a:pPr>
            <a:r>
              <a:rPr lang="en-US" sz="1000" dirty="0">
                <a:solidFill>
                  <a:srgbClr val="9CA3AF"/>
                </a:solidFill>
                <a:latin typeface="Calibri" pitchFamily="34" charset="0"/>
                <a:ea typeface="Calibri" pitchFamily="34" charset="-122"/>
                <a:cs typeface="Calibri" pitchFamily="34" charset="-120"/>
              </a:rPr>
              <a:t>7 / 10</a:t>
            </a:r>
            <a:endParaRPr lang="en-US" sz="1000" dirty="0"/>
          </a:p>
        </p:txBody>
      </p:sp>
      <p:sp>
        <p:nvSpPr>
          <p:cNvPr id="10" name="bench-corner"/>
          <p:cNvSpPr/>
          <p:nvPr/>
        </p:nvSpPr>
        <p:spPr>
          <a:xfrm>
            <a:off x="566928" y="1965960"/>
            <a:ext cx="2743200" cy="457200"/>
          </a:xfrm>
          <a:prstGeom prst="rect">
            <a:avLst/>
          </a:prstGeom>
          <a:noFill/>
          <a:ln/>
        </p:spPr>
        <p:txBody>
          <a:bodyPr wrap="square" lIns="254" tIns="254" rIns="254" bIns="254" rtlCol="0" anchor="ctr"/>
          <a:lstStyle/>
          <a:p>
            <a:pPr algn="l" indent="0" marL="0">
              <a:lnSpc>
                <a:spcPts val="1200"/>
              </a:lnSpc>
              <a:buNone/>
            </a:pPr>
            <a:r>
              <a:rPr lang="en-US" sz="1000" b="1" dirty="0">
                <a:solidFill>
                  <a:srgbClr val="6B7280"/>
                </a:solidFill>
                <a:latin typeface="Calibri" pitchFamily="34" charset="0"/>
                <a:ea typeface="Calibri" pitchFamily="34" charset="-122"/>
                <a:cs typeface="Calibri" pitchFamily="34" charset="-120"/>
              </a:rPr>
              <a:t>Method</a:t>
            </a:r>
            <a:endParaRPr lang="en-US" sz="1000" dirty="0"/>
          </a:p>
        </p:txBody>
      </p:sp>
      <p:sp>
        <p:nvSpPr>
          <p:cNvPr id="11" name="bench-metric-0"/>
          <p:cNvSpPr/>
          <p:nvPr/>
        </p:nvSpPr>
        <p:spPr>
          <a:xfrm>
            <a:off x="3310128" y="1965960"/>
            <a:ext cx="2634386" cy="457200"/>
          </a:xfrm>
          <a:prstGeom prst="rect">
            <a:avLst/>
          </a:prstGeom>
          <a:noFill/>
          <a:ln/>
        </p:spPr>
        <p:txBody>
          <a:bodyPr wrap="square" lIns="254" tIns="254" rIns="254" bIns="254" rtlCol="0" anchor="ctr"/>
          <a:lstStyle/>
          <a:p>
            <a:pPr algn="ctr" indent="0" marL="0">
              <a:lnSpc>
                <a:spcPts val="1400"/>
              </a:lnSpc>
              <a:buNone/>
            </a:pPr>
            <a:r>
              <a:rPr lang="en-US" sz="1150" b="1" dirty="0">
                <a:solidFill>
                  <a:srgbClr val="111827"/>
                </a:solidFill>
                <a:latin typeface="Calibri" pitchFamily="34" charset="0"/>
                <a:ea typeface="Calibri" pitchFamily="34" charset="-122"/>
                <a:cs typeface="Calibri" pitchFamily="34" charset="-120"/>
              </a:rPr>
              <a:t>Rollout cosine</a:t>
            </a:r>
            <a:endParaRPr lang="en-US" sz="1150" dirty="0"/>
          </a:p>
        </p:txBody>
      </p:sp>
      <p:sp>
        <p:nvSpPr>
          <p:cNvPr id="12" name="bench-metric-0-unit"/>
          <p:cNvSpPr/>
          <p:nvPr/>
        </p:nvSpPr>
        <p:spPr>
          <a:xfrm>
            <a:off x="3310128" y="2331720"/>
            <a:ext cx="2634386" cy="219456"/>
          </a:xfrm>
          <a:prstGeom prst="rect">
            <a:avLst/>
          </a:prstGeom>
          <a:noFill/>
          <a:ln/>
        </p:spPr>
        <p:txBody>
          <a:bodyPr wrap="square" lIns="254" tIns="254" rIns="254" bIns="254" rtlCol="0" anchor="ctr"/>
          <a:lstStyle/>
          <a:p>
            <a:pPr algn="ctr" indent="0" marL="0">
              <a:lnSpc>
                <a:spcPts val="1200"/>
              </a:lnSpc>
              <a:buNone/>
            </a:pPr>
            <a:r>
              <a:rPr lang="en-US" sz="1000" dirty="0">
                <a:solidFill>
                  <a:srgbClr val="9CA3AF"/>
                </a:solidFill>
                <a:latin typeface="Calibri" pitchFamily="34" charset="0"/>
                <a:ea typeface="Calibri" pitchFamily="34" charset="-122"/>
                <a:cs typeface="Calibri" pitchFamily="34" charset="-120"/>
              </a:rPr>
              <a:t>higher is better</a:t>
            </a:r>
            <a:endParaRPr lang="en-US" sz="1000" dirty="0"/>
          </a:p>
        </p:txBody>
      </p:sp>
      <p:sp>
        <p:nvSpPr>
          <p:cNvPr id="13" name="bench-metric-1"/>
          <p:cNvSpPr/>
          <p:nvPr/>
        </p:nvSpPr>
        <p:spPr>
          <a:xfrm>
            <a:off x="6081674" y="1965960"/>
            <a:ext cx="2634386" cy="457200"/>
          </a:xfrm>
          <a:prstGeom prst="rect">
            <a:avLst/>
          </a:prstGeom>
          <a:noFill/>
          <a:ln/>
        </p:spPr>
        <p:txBody>
          <a:bodyPr wrap="square" lIns="254" tIns="254" rIns="254" bIns="254" rtlCol="0" anchor="ctr"/>
          <a:lstStyle/>
          <a:p>
            <a:pPr algn="ctr" indent="0" marL="0">
              <a:lnSpc>
                <a:spcPts val="1400"/>
              </a:lnSpc>
              <a:buNone/>
            </a:pPr>
            <a:r>
              <a:rPr lang="en-US" sz="1150" b="1" dirty="0">
                <a:solidFill>
                  <a:srgbClr val="111827"/>
                </a:solidFill>
                <a:latin typeface="Calibri" pitchFamily="34" charset="0"/>
                <a:ea typeface="Calibri" pitchFamily="34" charset="-122"/>
                <a:cs typeface="Calibri" pitchFamily="34" charset="-120"/>
              </a:rPr>
              <a:t>Downstream acc.</a:t>
            </a:r>
            <a:endParaRPr lang="en-US" sz="1150" dirty="0"/>
          </a:p>
        </p:txBody>
      </p:sp>
      <p:sp>
        <p:nvSpPr>
          <p:cNvPr id="14" name="bench-metric-1-unit"/>
          <p:cNvSpPr/>
          <p:nvPr/>
        </p:nvSpPr>
        <p:spPr>
          <a:xfrm>
            <a:off x="6081674" y="2331720"/>
            <a:ext cx="2634386" cy="219456"/>
          </a:xfrm>
          <a:prstGeom prst="rect">
            <a:avLst/>
          </a:prstGeom>
          <a:noFill/>
          <a:ln/>
        </p:spPr>
        <p:txBody>
          <a:bodyPr wrap="square" lIns="254" tIns="254" rIns="254" bIns="254" rtlCol="0" anchor="ctr"/>
          <a:lstStyle/>
          <a:p>
            <a:pPr algn="ctr" indent="0" marL="0">
              <a:lnSpc>
                <a:spcPts val="1200"/>
              </a:lnSpc>
              <a:buNone/>
            </a:pPr>
            <a:r>
              <a:rPr lang="en-US" sz="1000" dirty="0">
                <a:solidFill>
                  <a:srgbClr val="9CA3AF"/>
                </a:solidFill>
                <a:latin typeface="Calibri" pitchFamily="34" charset="0"/>
                <a:ea typeface="Calibri" pitchFamily="34" charset="-122"/>
                <a:cs typeface="Calibri" pitchFamily="34" charset="-120"/>
              </a:rPr>
              <a:t>higher is better</a:t>
            </a:r>
            <a:endParaRPr lang="en-US" sz="1000" dirty="0"/>
          </a:p>
        </p:txBody>
      </p:sp>
      <p:sp>
        <p:nvSpPr>
          <p:cNvPr id="15" name="bench-vsep-1"/>
          <p:cNvSpPr/>
          <p:nvPr/>
        </p:nvSpPr>
        <p:spPr>
          <a:xfrm>
            <a:off x="6008522" y="1920240"/>
            <a:ext cx="10973" cy="2907792"/>
          </a:xfrm>
          <a:prstGeom prst="rect">
            <a:avLst/>
          </a:prstGeom>
          <a:solidFill>
            <a:srgbClr val="E5E7EB"/>
          </a:solidFill>
          <a:ln/>
        </p:spPr>
      </p:sp>
      <p:sp>
        <p:nvSpPr>
          <p:cNvPr id="16" name="bench-metric-2"/>
          <p:cNvSpPr/>
          <p:nvPr/>
        </p:nvSpPr>
        <p:spPr>
          <a:xfrm>
            <a:off x="8853221" y="1965960"/>
            <a:ext cx="2634386" cy="457200"/>
          </a:xfrm>
          <a:prstGeom prst="rect">
            <a:avLst/>
          </a:prstGeom>
          <a:noFill/>
          <a:ln/>
        </p:spPr>
        <p:txBody>
          <a:bodyPr wrap="square" lIns="254" tIns="254" rIns="254" bIns="254" rtlCol="0" anchor="ctr"/>
          <a:lstStyle/>
          <a:p>
            <a:pPr algn="ctr" indent="0" marL="0">
              <a:lnSpc>
                <a:spcPts val="1400"/>
              </a:lnSpc>
              <a:buNone/>
            </a:pPr>
            <a:r>
              <a:rPr lang="en-US" sz="1150" b="1" dirty="0">
                <a:solidFill>
                  <a:srgbClr val="111827"/>
                </a:solidFill>
                <a:latin typeface="Calibri" pitchFamily="34" charset="0"/>
                <a:ea typeface="Calibri" pitchFamily="34" charset="-122"/>
                <a:cs typeface="Calibri" pitchFamily="34" charset="-120"/>
              </a:rPr>
              <a:t>Feature recovery R2</a:t>
            </a:r>
            <a:endParaRPr lang="en-US" sz="1150" dirty="0"/>
          </a:p>
        </p:txBody>
      </p:sp>
      <p:sp>
        <p:nvSpPr>
          <p:cNvPr id="17" name="bench-metric-2-unit"/>
          <p:cNvSpPr/>
          <p:nvPr/>
        </p:nvSpPr>
        <p:spPr>
          <a:xfrm>
            <a:off x="8853221" y="2331720"/>
            <a:ext cx="2634386" cy="219456"/>
          </a:xfrm>
          <a:prstGeom prst="rect">
            <a:avLst/>
          </a:prstGeom>
          <a:noFill/>
          <a:ln/>
        </p:spPr>
        <p:txBody>
          <a:bodyPr wrap="square" lIns="254" tIns="254" rIns="254" bIns="254" rtlCol="0" anchor="ctr"/>
          <a:lstStyle/>
          <a:p>
            <a:pPr algn="ctr" indent="0" marL="0">
              <a:lnSpc>
                <a:spcPts val="1200"/>
              </a:lnSpc>
              <a:buNone/>
            </a:pPr>
            <a:r>
              <a:rPr lang="en-US" sz="1000" dirty="0">
                <a:solidFill>
                  <a:srgbClr val="9CA3AF"/>
                </a:solidFill>
                <a:latin typeface="Calibri" pitchFamily="34" charset="0"/>
                <a:ea typeface="Calibri" pitchFamily="34" charset="-122"/>
                <a:cs typeface="Calibri" pitchFamily="34" charset="-120"/>
              </a:rPr>
              <a:t>higher is better</a:t>
            </a:r>
            <a:endParaRPr lang="en-US" sz="1000" dirty="0"/>
          </a:p>
        </p:txBody>
      </p:sp>
      <p:sp>
        <p:nvSpPr>
          <p:cNvPr id="18" name="bench-vsep-2"/>
          <p:cNvSpPr/>
          <p:nvPr/>
        </p:nvSpPr>
        <p:spPr>
          <a:xfrm>
            <a:off x="8780069" y="1920240"/>
            <a:ext cx="10973" cy="2907792"/>
          </a:xfrm>
          <a:prstGeom prst="rect">
            <a:avLst/>
          </a:prstGeom>
          <a:solidFill>
            <a:srgbClr val="E5E7EB"/>
          </a:solidFill>
          <a:ln/>
        </p:spPr>
      </p:sp>
      <p:sp>
        <p:nvSpPr>
          <p:cNvPr id="19" name="bench-row-0-name"/>
          <p:cNvSpPr/>
          <p:nvPr/>
        </p:nvSpPr>
        <p:spPr>
          <a:xfrm>
            <a:off x="566928" y="2468880"/>
            <a:ext cx="2560320" cy="740664"/>
          </a:xfrm>
          <a:prstGeom prst="rect">
            <a:avLst/>
          </a:prstGeom>
          <a:noFill/>
          <a:ln/>
        </p:spPr>
        <p:txBody>
          <a:bodyPr wrap="square" lIns="254" tIns="254" rIns="254" bIns="254" rtlCol="0" anchor="ctr"/>
          <a:lstStyle/>
          <a:p>
            <a:pPr algn="l" indent="0" marL="0">
              <a:lnSpc>
                <a:spcPts val="1700"/>
              </a:lnSpc>
              <a:buNone/>
            </a:pPr>
            <a:r>
              <a:rPr lang="en-US" sz="1400" dirty="0">
                <a:solidFill>
                  <a:srgbClr val="111827"/>
                </a:solidFill>
                <a:latin typeface="Calibri" pitchFamily="34" charset="0"/>
                <a:ea typeface="Calibri" pitchFamily="34" charset="-122"/>
                <a:cs typeface="Calibri" pitchFamily="34" charset="-120"/>
              </a:rPr>
              <a:t>Cache reuse only</a:t>
            </a:r>
            <a:endParaRPr lang="en-US" sz="1400" dirty="0"/>
          </a:p>
        </p:txBody>
      </p:sp>
      <p:sp>
        <p:nvSpPr>
          <p:cNvPr id="20" name="bench-row-0-role"/>
          <p:cNvSpPr/>
          <p:nvPr/>
        </p:nvSpPr>
        <p:spPr>
          <a:xfrm>
            <a:off x="566928" y="2999232"/>
            <a:ext cx="2560320" cy="219456"/>
          </a:xfrm>
          <a:prstGeom prst="rect">
            <a:avLst/>
          </a:prstGeom>
          <a:noFill/>
          <a:ln/>
        </p:spPr>
        <p:txBody>
          <a:bodyPr wrap="square" lIns="254" tIns="254" rIns="254" bIns="254" rtlCol="0" anchor="ctr"/>
          <a:lstStyle/>
          <a:p>
            <a:pPr algn="l" indent="0" marL="0">
              <a:lnSpc>
                <a:spcPts val="1200"/>
              </a:lnSpc>
              <a:buNone/>
            </a:pPr>
            <a:r>
              <a:rPr lang="en-US" sz="1000" b="1" dirty="0">
                <a:solidFill>
                  <a:srgbClr val="9CA3AF"/>
                </a:solidFill>
                <a:latin typeface="Calibri" pitchFamily="34" charset="0"/>
                <a:ea typeface="Calibri" pitchFamily="34" charset="-122"/>
                <a:cs typeface="Calibri" pitchFamily="34" charset="-120"/>
              </a:rPr>
              <a:t>COMPETITOR</a:t>
            </a:r>
            <a:endParaRPr lang="en-US" sz="1000" dirty="0"/>
          </a:p>
        </p:txBody>
      </p:sp>
      <p:sp>
        <p:nvSpPr>
          <p:cNvPr id="21" name="bench-row-0-m0"/>
          <p:cNvSpPr/>
          <p:nvPr/>
        </p:nvSpPr>
        <p:spPr>
          <a:xfrm>
            <a:off x="3310128" y="2468880"/>
            <a:ext cx="2634386" cy="740664"/>
          </a:xfrm>
          <a:prstGeom prst="rect">
            <a:avLst/>
          </a:prstGeom>
          <a:noFill/>
          <a:ln/>
        </p:spPr>
        <p:txBody>
          <a:bodyPr wrap="square" lIns="254" tIns="254" rIns="254" bIns="254" rtlCol="0" anchor="ctr"/>
          <a:lstStyle/>
          <a:p>
            <a:pPr algn="ctr" indent="0" marL="0">
              <a:lnSpc>
                <a:spcPts val="2200"/>
              </a:lnSpc>
              <a:buNone/>
            </a:pPr>
            <a:r>
              <a:rPr lang="en-US" sz="1800" b="1" dirty="0">
                <a:solidFill>
                  <a:srgbClr val="374151"/>
                </a:solidFill>
                <a:latin typeface="Consolas" pitchFamily="34" charset="0"/>
                <a:ea typeface="Consolas" pitchFamily="34" charset="-122"/>
                <a:cs typeface="Consolas" pitchFamily="34" charset="-120"/>
              </a:rPr>
              <a:t>0.42</a:t>
            </a:r>
            <a:endParaRPr lang="en-US" sz="1800" dirty="0"/>
          </a:p>
        </p:txBody>
      </p:sp>
      <p:sp>
        <p:nvSpPr>
          <p:cNvPr id="22" name="bench-row-0-m1"/>
          <p:cNvSpPr/>
          <p:nvPr/>
        </p:nvSpPr>
        <p:spPr>
          <a:xfrm>
            <a:off x="6081674" y="2468880"/>
            <a:ext cx="2634386" cy="740664"/>
          </a:xfrm>
          <a:prstGeom prst="rect">
            <a:avLst/>
          </a:prstGeom>
          <a:noFill/>
          <a:ln/>
        </p:spPr>
        <p:txBody>
          <a:bodyPr wrap="square" lIns="254" tIns="254" rIns="254" bIns="254" rtlCol="0" anchor="ctr"/>
          <a:lstStyle/>
          <a:p>
            <a:pPr algn="ctr" indent="0" marL="0">
              <a:lnSpc>
                <a:spcPts val="2200"/>
              </a:lnSpc>
              <a:buNone/>
            </a:pPr>
            <a:r>
              <a:rPr lang="en-US" sz="1800" b="1" dirty="0">
                <a:solidFill>
                  <a:srgbClr val="374151"/>
                </a:solidFill>
                <a:latin typeface="Consolas" pitchFamily="34" charset="0"/>
                <a:ea typeface="Consolas" pitchFamily="34" charset="-122"/>
                <a:cs typeface="Consolas" pitchFamily="34" charset="-120"/>
              </a:rPr>
              <a:t>0.74</a:t>
            </a:r>
            <a:endParaRPr lang="en-US" sz="1800" dirty="0"/>
          </a:p>
        </p:txBody>
      </p:sp>
      <p:sp>
        <p:nvSpPr>
          <p:cNvPr id="23" name="bench-row-0-m2"/>
          <p:cNvSpPr/>
          <p:nvPr/>
        </p:nvSpPr>
        <p:spPr>
          <a:xfrm>
            <a:off x="8853221" y="2468880"/>
            <a:ext cx="2634386" cy="740664"/>
          </a:xfrm>
          <a:prstGeom prst="rect">
            <a:avLst/>
          </a:prstGeom>
          <a:noFill/>
          <a:ln/>
        </p:spPr>
        <p:txBody>
          <a:bodyPr wrap="square" lIns="254" tIns="254" rIns="254" bIns="254" rtlCol="0" anchor="ctr"/>
          <a:lstStyle/>
          <a:p>
            <a:pPr algn="ctr" indent="0" marL="0">
              <a:lnSpc>
                <a:spcPts val="2200"/>
              </a:lnSpc>
              <a:buNone/>
            </a:pPr>
            <a:r>
              <a:rPr lang="en-US" sz="1800" b="1" dirty="0">
                <a:solidFill>
                  <a:srgbClr val="374151"/>
                </a:solidFill>
                <a:latin typeface="Consolas" pitchFamily="34" charset="0"/>
                <a:ea typeface="Consolas" pitchFamily="34" charset="-122"/>
                <a:cs typeface="Consolas" pitchFamily="34" charset="-120"/>
              </a:rPr>
              <a:t>0.28</a:t>
            </a:r>
            <a:endParaRPr lang="en-US" sz="1800" dirty="0"/>
          </a:p>
        </p:txBody>
      </p:sp>
      <p:sp>
        <p:nvSpPr>
          <p:cNvPr id="24" name="bench-row-1-name"/>
          <p:cNvSpPr/>
          <p:nvPr/>
        </p:nvSpPr>
        <p:spPr>
          <a:xfrm>
            <a:off x="566928" y="3255264"/>
            <a:ext cx="2560320" cy="740664"/>
          </a:xfrm>
          <a:prstGeom prst="rect">
            <a:avLst/>
          </a:prstGeom>
          <a:noFill/>
          <a:ln/>
        </p:spPr>
        <p:txBody>
          <a:bodyPr wrap="square" lIns="254" tIns="254" rIns="254" bIns="254" rtlCol="0" anchor="ctr"/>
          <a:lstStyle/>
          <a:p>
            <a:pPr algn="l" indent="0" marL="0">
              <a:lnSpc>
                <a:spcPts val="1700"/>
              </a:lnSpc>
              <a:buNone/>
            </a:pPr>
            <a:r>
              <a:rPr lang="en-US" sz="1400" dirty="0">
                <a:solidFill>
                  <a:srgbClr val="111827"/>
                </a:solidFill>
                <a:latin typeface="Calibri" pitchFamily="34" charset="0"/>
                <a:ea typeface="Calibri" pitchFamily="34" charset="-122"/>
                <a:cs typeface="Calibri" pitchFamily="34" charset="-120"/>
              </a:rPr>
              <a:t>Ours (v3, last week)</a:t>
            </a:r>
            <a:endParaRPr lang="en-US" sz="1400" dirty="0"/>
          </a:p>
        </p:txBody>
      </p:sp>
      <p:sp>
        <p:nvSpPr>
          <p:cNvPr id="25" name="bench-row-1-role"/>
          <p:cNvSpPr/>
          <p:nvPr/>
        </p:nvSpPr>
        <p:spPr>
          <a:xfrm>
            <a:off x="566928" y="3785616"/>
            <a:ext cx="2560320" cy="219456"/>
          </a:xfrm>
          <a:prstGeom prst="rect">
            <a:avLst/>
          </a:prstGeom>
          <a:noFill/>
          <a:ln/>
        </p:spPr>
        <p:txBody>
          <a:bodyPr wrap="square" lIns="254" tIns="254" rIns="254" bIns="254" rtlCol="0" anchor="ctr"/>
          <a:lstStyle/>
          <a:p>
            <a:pPr algn="l" indent="0" marL="0">
              <a:lnSpc>
                <a:spcPts val="1200"/>
              </a:lnSpc>
              <a:buNone/>
            </a:pPr>
            <a:r>
              <a:rPr lang="en-US" sz="1000" b="1" dirty="0">
                <a:solidFill>
                  <a:srgbClr val="6B7280"/>
                </a:solidFill>
                <a:latin typeface="Calibri" pitchFamily="34" charset="0"/>
                <a:ea typeface="Calibri" pitchFamily="34" charset="-122"/>
                <a:cs typeface="Calibri" pitchFamily="34" charset="-120"/>
              </a:rPr>
              <a:t>OURS · LAST WEEK</a:t>
            </a:r>
            <a:endParaRPr lang="en-US" sz="1000" dirty="0"/>
          </a:p>
        </p:txBody>
      </p:sp>
      <p:sp>
        <p:nvSpPr>
          <p:cNvPr id="26" name="bench-row-1-m0"/>
          <p:cNvSpPr/>
          <p:nvPr/>
        </p:nvSpPr>
        <p:spPr>
          <a:xfrm>
            <a:off x="3310128" y="3255264"/>
            <a:ext cx="2634386" cy="740664"/>
          </a:xfrm>
          <a:prstGeom prst="rect">
            <a:avLst/>
          </a:prstGeom>
          <a:noFill/>
          <a:ln/>
        </p:spPr>
        <p:txBody>
          <a:bodyPr wrap="square" lIns="254" tIns="254" rIns="254" bIns="254" rtlCol="0" anchor="ctr"/>
          <a:lstStyle/>
          <a:p>
            <a:pPr algn="ctr" indent="0" marL="0">
              <a:lnSpc>
                <a:spcPts val="2200"/>
              </a:lnSpc>
              <a:buNone/>
            </a:pPr>
            <a:r>
              <a:rPr lang="en-US" sz="1800" b="1" dirty="0">
                <a:solidFill>
                  <a:srgbClr val="374151"/>
                </a:solidFill>
                <a:latin typeface="Consolas" pitchFamily="34" charset="0"/>
                <a:ea typeface="Consolas" pitchFamily="34" charset="-122"/>
                <a:cs typeface="Consolas" pitchFamily="34" charset="-120"/>
              </a:rPr>
              <a:t>0.51</a:t>
            </a:r>
            <a:endParaRPr lang="en-US" sz="1800" dirty="0"/>
          </a:p>
        </p:txBody>
      </p:sp>
      <p:sp>
        <p:nvSpPr>
          <p:cNvPr id="27" name="bench-row-1-m1"/>
          <p:cNvSpPr/>
          <p:nvPr/>
        </p:nvSpPr>
        <p:spPr>
          <a:xfrm>
            <a:off x="6081674" y="3255264"/>
            <a:ext cx="2634386" cy="740664"/>
          </a:xfrm>
          <a:prstGeom prst="rect">
            <a:avLst/>
          </a:prstGeom>
          <a:noFill/>
          <a:ln/>
        </p:spPr>
        <p:txBody>
          <a:bodyPr wrap="square" lIns="254" tIns="254" rIns="254" bIns="254" rtlCol="0" anchor="ctr"/>
          <a:lstStyle/>
          <a:p>
            <a:pPr algn="ctr" indent="0" marL="0">
              <a:lnSpc>
                <a:spcPts val="2200"/>
              </a:lnSpc>
              <a:buNone/>
            </a:pPr>
            <a:r>
              <a:rPr lang="en-US" sz="1800" b="1" dirty="0">
                <a:solidFill>
                  <a:srgbClr val="374151"/>
                </a:solidFill>
                <a:latin typeface="Consolas" pitchFamily="34" charset="0"/>
                <a:ea typeface="Consolas" pitchFamily="34" charset="-122"/>
                <a:cs typeface="Consolas" pitchFamily="34" charset="-120"/>
              </a:rPr>
              <a:t>0.83</a:t>
            </a:r>
            <a:endParaRPr lang="en-US" sz="1800" dirty="0"/>
          </a:p>
        </p:txBody>
      </p:sp>
      <p:sp>
        <p:nvSpPr>
          <p:cNvPr id="28" name="bench-row-1-m2"/>
          <p:cNvSpPr/>
          <p:nvPr/>
        </p:nvSpPr>
        <p:spPr>
          <a:xfrm>
            <a:off x="8853221" y="3255264"/>
            <a:ext cx="2634386" cy="740664"/>
          </a:xfrm>
          <a:prstGeom prst="rect">
            <a:avLst/>
          </a:prstGeom>
          <a:noFill/>
          <a:ln/>
        </p:spPr>
        <p:txBody>
          <a:bodyPr wrap="square" lIns="254" tIns="254" rIns="254" bIns="254" rtlCol="0" anchor="ctr"/>
          <a:lstStyle/>
          <a:p>
            <a:pPr algn="ctr" indent="0" marL="0">
              <a:lnSpc>
                <a:spcPts val="2200"/>
              </a:lnSpc>
              <a:buNone/>
            </a:pPr>
            <a:r>
              <a:rPr lang="en-US" sz="1800" b="1" dirty="0">
                <a:solidFill>
                  <a:srgbClr val="374151"/>
                </a:solidFill>
                <a:latin typeface="Consolas" pitchFamily="34" charset="0"/>
                <a:ea typeface="Consolas" pitchFamily="34" charset="-122"/>
                <a:cs typeface="Consolas" pitchFamily="34" charset="-120"/>
              </a:rPr>
              <a:t>0.30</a:t>
            </a:r>
            <a:endParaRPr lang="en-US" sz="1800" dirty="0"/>
          </a:p>
        </p:txBody>
      </p:sp>
      <p:sp>
        <p:nvSpPr>
          <p:cNvPr id="29" name="bench-row-current"/>
          <p:cNvSpPr/>
          <p:nvPr/>
        </p:nvSpPr>
        <p:spPr>
          <a:xfrm>
            <a:off x="457200" y="3986784"/>
            <a:ext cx="11277295" cy="749808"/>
          </a:xfrm>
          <a:prstGeom prst="roundRect">
            <a:avLst>
              <a:gd name="adj" fmla="val 12195"/>
            </a:avLst>
          </a:prstGeom>
          <a:solidFill>
            <a:srgbClr val="EAF1FE"/>
          </a:solidFill>
          <a:ln w="13970">
            <a:solidFill>
              <a:srgbClr val="2563EB"/>
            </a:solidFill>
            <a:prstDash val="solid"/>
            <a:headEnd type="none"/>
            <a:tailEnd type="none"/>
          </a:ln>
        </p:spPr>
      </p:sp>
      <p:sp>
        <p:nvSpPr>
          <p:cNvPr id="30" name="bench-row-2-name"/>
          <p:cNvSpPr/>
          <p:nvPr/>
        </p:nvSpPr>
        <p:spPr>
          <a:xfrm>
            <a:off x="566928" y="4041648"/>
            <a:ext cx="2560320" cy="740664"/>
          </a:xfrm>
          <a:prstGeom prst="rect">
            <a:avLst/>
          </a:prstGeom>
          <a:noFill/>
          <a:ln/>
        </p:spPr>
        <p:txBody>
          <a:bodyPr wrap="square" lIns="254" tIns="254" rIns="254" bIns="254" rtlCol="0" anchor="ctr"/>
          <a:lstStyle/>
          <a:p>
            <a:pPr algn="l" indent="0" marL="0">
              <a:lnSpc>
                <a:spcPts val="1700"/>
              </a:lnSpc>
              <a:buNone/>
            </a:pPr>
            <a:r>
              <a:rPr lang="en-US" sz="1400" b="1" dirty="0">
                <a:solidFill>
                  <a:srgbClr val="111827"/>
                </a:solidFill>
                <a:latin typeface="Calibri" pitchFamily="34" charset="0"/>
                <a:ea typeface="Calibri" pitchFamily="34" charset="-122"/>
                <a:cs typeface="Calibri" pitchFamily="34" charset="-120"/>
              </a:rPr>
              <a:t>Ours (v4, this week)</a:t>
            </a:r>
            <a:endParaRPr lang="en-US" sz="1400" dirty="0"/>
          </a:p>
        </p:txBody>
      </p:sp>
      <p:sp>
        <p:nvSpPr>
          <p:cNvPr id="31" name="bench-row-2-role"/>
          <p:cNvSpPr/>
          <p:nvPr/>
        </p:nvSpPr>
        <p:spPr>
          <a:xfrm>
            <a:off x="566928" y="4572000"/>
            <a:ext cx="2560320" cy="219456"/>
          </a:xfrm>
          <a:prstGeom prst="rect">
            <a:avLst/>
          </a:prstGeom>
          <a:noFill/>
          <a:ln/>
        </p:spPr>
        <p:txBody>
          <a:bodyPr wrap="square" lIns="254" tIns="254" rIns="254" bIns="254" rtlCol="0" anchor="ctr"/>
          <a:lstStyle/>
          <a:p>
            <a:pPr algn="l" indent="0" marL="0">
              <a:lnSpc>
                <a:spcPts val="1200"/>
              </a:lnSpc>
              <a:buNone/>
            </a:pPr>
            <a:r>
              <a:rPr lang="en-US" sz="1000" b="1" dirty="0">
                <a:solidFill>
                  <a:srgbClr val="2563EB"/>
                </a:solidFill>
                <a:latin typeface="Calibri" pitchFamily="34" charset="0"/>
                <a:ea typeface="Calibri" pitchFamily="34" charset="-122"/>
                <a:cs typeface="Calibri" pitchFamily="34" charset="-120"/>
              </a:rPr>
              <a:t>OURS · THIS WEEK</a:t>
            </a:r>
            <a:endParaRPr lang="en-US" sz="1000" dirty="0"/>
          </a:p>
        </p:txBody>
      </p:sp>
      <p:sp>
        <p:nvSpPr>
          <p:cNvPr id="32" name="bench-row-2-m0"/>
          <p:cNvSpPr/>
          <p:nvPr/>
        </p:nvSpPr>
        <p:spPr>
          <a:xfrm>
            <a:off x="3310128" y="4041648"/>
            <a:ext cx="2634386" cy="740664"/>
          </a:xfrm>
          <a:prstGeom prst="rect">
            <a:avLst/>
          </a:prstGeom>
          <a:noFill/>
          <a:ln/>
        </p:spPr>
        <p:txBody>
          <a:bodyPr wrap="square" lIns="254" tIns="254" rIns="254" bIns="254" rtlCol="0" anchor="ctr"/>
          <a:lstStyle/>
          <a:p>
            <a:pPr algn="ctr" indent="0" marL="0">
              <a:lnSpc>
                <a:spcPts val="2500"/>
              </a:lnSpc>
              <a:buNone/>
            </a:pPr>
            <a:r>
              <a:rPr lang="en-US" sz="2100" b="1" dirty="0">
                <a:solidFill>
                  <a:srgbClr val="2563EB"/>
                </a:solidFill>
                <a:latin typeface="Consolas" pitchFamily="34" charset="0"/>
                <a:ea typeface="Consolas" pitchFamily="34" charset="-122"/>
                <a:cs typeface="Consolas" pitchFamily="34" charset="-120"/>
              </a:rPr>
              <a:t>0.58</a:t>
            </a:r>
            <a:endParaRPr lang="en-US" sz="2100" dirty="0"/>
          </a:p>
        </p:txBody>
      </p:sp>
      <p:sp>
        <p:nvSpPr>
          <p:cNvPr id="33" name="bench-row-2-m0-delta"/>
          <p:cNvSpPr/>
          <p:nvPr/>
        </p:nvSpPr>
        <p:spPr>
          <a:xfrm>
            <a:off x="3310128" y="4535424"/>
            <a:ext cx="2634386" cy="237744"/>
          </a:xfrm>
          <a:prstGeom prst="rect">
            <a:avLst/>
          </a:prstGeom>
          <a:noFill/>
          <a:ln/>
        </p:spPr>
        <p:txBody>
          <a:bodyPr wrap="square" lIns="254" tIns="254" rIns="254" bIns="254" rtlCol="0" anchor="ctr"/>
          <a:lstStyle/>
          <a:p>
            <a:pPr algn="ctr" indent="0" marL="0">
              <a:lnSpc>
                <a:spcPts val="1200"/>
              </a:lnSpc>
              <a:buNone/>
            </a:pPr>
            <a:r>
              <a:rPr lang="en-US" sz="1000" b="1" dirty="0">
                <a:solidFill>
                  <a:srgbClr val="047857"/>
                </a:solidFill>
                <a:latin typeface="Calibri" pitchFamily="34" charset="0"/>
                <a:ea typeface="Calibri" pitchFamily="34" charset="-122"/>
                <a:cs typeface="Calibri" pitchFamily="34" charset="-120"/>
              </a:rPr>
              <a:t>+0.07</a:t>
            </a:r>
            <a:endParaRPr lang="en-US" sz="1000" dirty="0"/>
          </a:p>
        </p:txBody>
      </p:sp>
      <p:sp>
        <p:nvSpPr>
          <p:cNvPr id="34" name="bench-row-2-m1"/>
          <p:cNvSpPr/>
          <p:nvPr/>
        </p:nvSpPr>
        <p:spPr>
          <a:xfrm>
            <a:off x="6081674" y="4041648"/>
            <a:ext cx="2634386" cy="740664"/>
          </a:xfrm>
          <a:prstGeom prst="rect">
            <a:avLst/>
          </a:prstGeom>
          <a:noFill/>
          <a:ln/>
        </p:spPr>
        <p:txBody>
          <a:bodyPr wrap="square" lIns="254" tIns="254" rIns="254" bIns="254" rtlCol="0" anchor="ctr"/>
          <a:lstStyle/>
          <a:p>
            <a:pPr algn="ctr" indent="0" marL="0">
              <a:lnSpc>
                <a:spcPts val="2500"/>
              </a:lnSpc>
              <a:buNone/>
            </a:pPr>
            <a:r>
              <a:rPr lang="en-US" sz="2100" b="1" dirty="0">
                <a:solidFill>
                  <a:srgbClr val="2563EB"/>
                </a:solidFill>
                <a:latin typeface="Consolas" pitchFamily="34" charset="0"/>
                <a:ea typeface="Consolas" pitchFamily="34" charset="-122"/>
                <a:cs typeface="Consolas" pitchFamily="34" charset="-120"/>
              </a:rPr>
              <a:t>0.91</a:t>
            </a:r>
            <a:endParaRPr lang="en-US" sz="2100" dirty="0"/>
          </a:p>
        </p:txBody>
      </p:sp>
      <p:sp>
        <p:nvSpPr>
          <p:cNvPr id="35" name="bench-row-2-m1-delta"/>
          <p:cNvSpPr/>
          <p:nvPr/>
        </p:nvSpPr>
        <p:spPr>
          <a:xfrm>
            <a:off x="6081674" y="4535424"/>
            <a:ext cx="2634386" cy="237744"/>
          </a:xfrm>
          <a:prstGeom prst="rect">
            <a:avLst/>
          </a:prstGeom>
          <a:noFill/>
          <a:ln/>
        </p:spPr>
        <p:txBody>
          <a:bodyPr wrap="square" lIns="254" tIns="254" rIns="254" bIns="254" rtlCol="0" anchor="ctr"/>
          <a:lstStyle/>
          <a:p>
            <a:pPr algn="ctr" indent="0" marL="0">
              <a:lnSpc>
                <a:spcPts val="1200"/>
              </a:lnSpc>
              <a:buNone/>
            </a:pPr>
            <a:r>
              <a:rPr lang="en-US" sz="1000" b="1" dirty="0">
                <a:solidFill>
                  <a:srgbClr val="047857"/>
                </a:solidFill>
                <a:latin typeface="Calibri" pitchFamily="34" charset="0"/>
                <a:ea typeface="Calibri" pitchFamily="34" charset="-122"/>
                <a:cs typeface="Calibri" pitchFamily="34" charset="-120"/>
              </a:rPr>
              <a:t>+0.08</a:t>
            </a:r>
            <a:endParaRPr lang="en-US" sz="1000" dirty="0"/>
          </a:p>
        </p:txBody>
      </p:sp>
      <p:sp>
        <p:nvSpPr>
          <p:cNvPr id="36" name="bench-row-2-m2"/>
          <p:cNvSpPr/>
          <p:nvPr/>
        </p:nvSpPr>
        <p:spPr>
          <a:xfrm>
            <a:off x="8853221" y="4041648"/>
            <a:ext cx="2634386" cy="740664"/>
          </a:xfrm>
          <a:prstGeom prst="rect">
            <a:avLst/>
          </a:prstGeom>
          <a:noFill/>
          <a:ln/>
        </p:spPr>
        <p:txBody>
          <a:bodyPr wrap="square" lIns="254" tIns="254" rIns="254" bIns="254" rtlCol="0" anchor="ctr"/>
          <a:lstStyle/>
          <a:p>
            <a:pPr algn="ctr" indent="0" marL="0">
              <a:lnSpc>
                <a:spcPts val="2500"/>
              </a:lnSpc>
              <a:buNone/>
            </a:pPr>
            <a:r>
              <a:rPr lang="en-US" sz="2100" b="1" dirty="0">
                <a:solidFill>
                  <a:srgbClr val="2563EB"/>
                </a:solidFill>
                <a:latin typeface="Consolas" pitchFamily="34" charset="0"/>
                <a:ea typeface="Consolas" pitchFamily="34" charset="-122"/>
                <a:cs typeface="Consolas" pitchFamily="34" charset="-120"/>
              </a:rPr>
              <a:t>0.34</a:t>
            </a:r>
            <a:endParaRPr lang="en-US" sz="2100" dirty="0"/>
          </a:p>
        </p:txBody>
      </p:sp>
      <p:sp>
        <p:nvSpPr>
          <p:cNvPr id="37" name="bench-row-2-m2-delta"/>
          <p:cNvSpPr/>
          <p:nvPr/>
        </p:nvSpPr>
        <p:spPr>
          <a:xfrm>
            <a:off x="8853221" y="4535424"/>
            <a:ext cx="2634386" cy="237744"/>
          </a:xfrm>
          <a:prstGeom prst="rect">
            <a:avLst/>
          </a:prstGeom>
          <a:noFill/>
          <a:ln/>
        </p:spPr>
        <p:txBody>
          <a:bodyPr wrap="square" lIns="254" tIns="254" rIns="254" bIns="254" rtlCol="0" anchor="ctr"/>
          <a:lstStyle/>
          <a:p>
            <a:pPr algn="ctr" indent="0" marL="0">
              <a:lnSpc>
                <a:spcPts val="1200"/>
              </a:lnSpc>
              <a:buNone/>
            </a:pPr>
            <a:r>
              <a:rPr lang="en-US" sz="1000" b="1" dirty="0">
                <a:solidFill>
                  <a:srgbClr val="047857"/>
                </a:solidFill>
                <a:latin typeface="Calibri" pitchFamily="34" charset="0"/>
                <a:ea typeface="Calibri" pitchFamily="34" charset="-122"/>
                <a:cs typeface="Calibri" pitchFamily="34" charset="-120"/>
              </a:rPr>
              <a:t>+0.04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rgbClr val="FFFFFF"/>
          </a:solidFill>
          <a:ln/>
        </p:spPr>
      </p:sp>
      <p:sp>
        <p:nvSpPr>
          <p:cNvPr id="3" name="kicker"/>
          <p:cNvSpPr/>
          <p:nvPr/>
        </p:nvSpPr>
        <p:spPr>
          <a:xfrm>
            <a:off x="566928" y="365760"/>
            <a:ext cx="6855860" cy="237744"/>
          </a:xfrm>
          <a:prstGeom prst="rect">
            <a:avLst/>
          </a:prstGeom>
          <a:noFill/>
          <a:ln/>
        </p:spPr>
        <p:txBody>
          <a:bodyPr wrap="square" lIns="254" tIns="254" rIns="254" bIns="254" rtlCol="0" anchor="ctr"/>
          <a:lstStyle/>
          <a:p>
            <a:pPr algn="l" indent="0" marL="0">
              <a:lnSpc>
                <a:spcPts val="1400"/>
              </a:lnSpc>
              <a:buNone/>
            </a:pPr>
            <a:r>
              <a:rPr lang="en-US" sz="1200" b="1" dirty="0">
                <a:solidFill>
                  <a:srgbClr val="2563EB"/>
                </a:solidFill>
                <a:latin typeface="Calibri" pitchFamily="34" charset="0"/>
                <a:ea typeface="Calibri" pitchFamily="34" charset="-122"/>
                <a:cs typeface="Calibri" pitchFamily="34" charset="-120"/>
              </a:rPr>
              <a:t>CLAIM UPDATE</a:t>
            </a:r>
            <a:endParaRPr lang="en-US" sz="1200" dirty="0"/>
          </a:p>
        </p:txBody>
      </p:sp>
      <p:sp>
        <p:nvSpPr>
          <p:cNvPr id="4" name="header-meta"/>
          <p:cNvSpPr/>
          <p:nvPr/>
        </p:nvSpPr>
        <p:spPr>
          <a:xfrm>
            <a:off x="6648740" y="365760"/>
            <a:ext cx="4976028" cy="237744"/>
          </a:xfrm>
          <a:prstGeom prst="rect">
            <a:avLst/>
          </a:prstGeom>
          <a:noFill/>
          <a:ln/>
        </p:spPr>
        <p:txBody>
          <a:bodyPr wrap="square" lIns="254" tIns="254" rIns="254" bIns="254" rtlCol="0" anchor="ctr"/>
          <a:lstStyle/>
          <a:p>
            <a:pPr algn="r" indent="0" marL="0">
              <a:lnSpc>
                <a:spcPts val="1200"/>
              </a:lnSpc>
              <a:buNone/>
            </a:pPr>
            <a:r>
              <a:rPr lang="en-US" sz="1000" dirty="0">
                <a:solidFill>
                  <a:srgbClr val="6B7280"/>
                </a:solidFill>
                <a:latin typeface="Calibri" pitchFamily="34" charset="0"/>
                <a:ea typeface="Calibri" pitchFamily="34" charset="-122"/>
                <a:cs typeface="Calibri" pitchFamily="34" charset="-120"/>
              </a:rPr>
              <a:t>Cached Future-Feature Prediction  ·  Week 6</a:t>
            </a:r>
            <a:endParaRPr lang="en-US" sz="1000" dirty="0"/>
          </a:p>
        </p:txBody>
      </p:sp>
      <p:sp>
        <p:nvSpPr>
          <p:cNvPr id="5" name="title-main"/>
          <p:cNvSpPr/>
          <p:nvPr/>
        </p:nvSpPr>
        <p:spPr>
          <a:xfrm>
            <a:off x="566928" y="621792"/>
            <a:ext cx="11057839" cy="548640"/>
          </a:xfrm>
          <a:prstGeom prst="rect">
            <a:avLst/>
          </a:prstGeom>
          <a:noFill/>
          <a:ln/>
        </p:spPr>
        <p:txBody>
          <a:bodyPr wrap="square" lIns="254" tIns="254" rIns="254" bIns="254" rtlCol="0" anchor="ctr"/>
          <a:lstStyle/>
          <a:p>
            <a:pPr algn="l" indent="0" marL="0">
              <a:lnSpc>
                <a:spcPts val="3000"/>
              </a:lnSpc>
              <a:buNone/>
            </a:pPr>
            <a:r>
              <a:rPr lang="en-US" sz="2700" b="1" dirty="0">
                <a:solidFill>
                  <a:srgbClr val="111827"/>
                </a:solidFill>
                <a:latin typeface="Calibri" pitchFamily="34" charset="0"/>
                <a:ea typeface="Calibri" pitchFamily="34" charset="-122"/>
                <a:cs typeface="Calibri" pitchFamily="34" charset="-120"/>
              </a:rPr>
              <a:t>What this week does to our claims</a:t>
            </a:r>
            <a:endParaRPr lang="en-US" sz="2700" dirty="0"/>
          </a:p>
        </p:txBody>
      </p:sp>
      <p:sp>
        <p:nvSpPr>
          <p:cNvPr id="6" name="chrome-rule"/>
          <p:cNvSpPr/>
          <p:nvPr/>
        </p:nvSpPr>
        <p:spPr>
          <a:xfrm>
            <a:off x="566928" y="1243584"/>
            <a:ext cx="11057839" cy="20117"/>
          </a:xfrm>
          <a:prstGeom prst="rect">
            <a:avLst/>
          </a:prstGeom>
          <a:solidFill>
            <a:srgbClr val="E5E7EB"/>
          </a:solidFill>
          <a:ln/>
        </p:spPr>
      </p:sp>
      <p:sp>
        <p:nvSpPr>
          <p:cNvPr id="7" name="chrome-rule-accent"/>
          <p:cNvSpPr/>
          <p:nvPr/>
        </p:nvSpPr>
        <p:spPr>
          <a:xfrm>
            <a:off x="566928" y="1243584"/>
            <a:ext cx="1051560" cy="20117"/>
          </a:xfrm>
          <a:prstGeom prst="rect">
            <a:avLst/>
          </a:prstGeom>
          <a:solidFill>
            <a:srgbClr val="2563EB"/>
          </a:solidFill>
          <a:ln/>
        </p:spPr>
      </p:sp>
      <p:sp>
        <p:nvSpPr>
          <p:cNvPr id="8" name="footer-text"/>
          <p:cNvSpPr/>
          <p:nvPr/>
        </p:nvSpPr>
        <p:spPr>
          <a:xfrm>
            <a:off x="566928" y="6419088"/>
            <a:ext cx="8293379" cy="237744"/>
          </a:xfrm>
          <a:prstGeom prst="rect">
            <a:avLst/>
          </a:prstGeom>
          <a:noFill/>
          <a:ln/>
        </p:spPr>
        <p:txBody>
          <a:bodyPr wrap="square" lIns="254" tIns="254" rIns="254" bIns="254" rtlCol="0" anchor="ctr"/>
          <a:lstStyle/>
          <a:p>
            <a:pPr algn="l" indent="0" marL="0">
              <a:lnSpc>
                <a:spcPts val="1200"/>
              </a:lnSpc>
              <a:buNone/>
            </a:pPr>
            <a:r>
              <a:rPr lang="en-US" sz="1000" dirty="0">
                <a:solidFill>
                  <a:srgbClr val="9CA3AF"/>
                </a:solidFill>
                <a:latin typeface="Calibri" pitchFamily="34" charset="0"/>
                <a:ea typeface="Calibri" pitchFamily="34" charset="-122"/>
                <a:cs typeface="Calibri" pitchFamily="34" charset="-120"/>
              </a:rPr>
              <a:t>Cached Future-Feature Prediction · synthetic demo</a:t>
            </a:r>
            <a:endParaRPr lang="en-US" sz="1000" dirty="0"/>
          </a:p>
        </p:txBody>
      </p:sp>
      <p:sp>
        <p:nvSpPr>
          <p:cNvPr id="9" name="footer-slide-number"/>
          <p:cNvSpPr/>
          <p:nvPr/>
        </p:nvSpPr>
        <p:spPr>
          <a:xfrm>
            <a:off x="10076670" y="6419088"/>
            <a:ext cx="1548097" cy="237744"/>
          </a:xfrm>
          <a:prstGeom prst="rect">
            <a:avLst/>
          </a:prstGeom>
          <a:noFill/>
          <a:ln/>
        </p:spPr>
        <p:txBody>
          <a:bodyPr wrap="square" lIns="254" tIns="254" rIns="254" bIns="254" rtlCol="0" anchor="ctr"/>
          <a:lstStyle/>
          <a:p>
            <a:pPr algn="r" indent="0" marL="0">
              <a:lnSpc>
                <a:spcPts val="1200"/>
              </a:lnSpc>
              <a:buNone/>
            </a:pPr>
            <a:r>
              <a:rPr lang="en-US" sz="1000" dirty="0">
                <a:solidFill>
                  <a:srgbClr val="9CA3AF"/>
                </a:solidFill>
                <a:latin typeface="Calibri" pitchFamily="34" charset="0"/>
                <a:ea typeface="Calibri" pitchFamily="34" charset="-122"/>
                <a:cs typeface="Calibri" pitchFamily="34" charset="-120"/>
              </a:rPr>
              <a:t>8 / 10</a:t>
            </a:r>
            <a:endParaRPr lang="en-US" sz="1000" dirty="0"/>
          </a:p>
        </p:txBody>
      </p:sp>
      <p:sp>
        <p:nvSpPr>
          <p:cNvPr id="10" name="claimdelta-C1"/>
          <p:cNvSpPr/>
          <p:nvPr/>
        </p:nvSpPr>
        <p:spPr>
          <a:xfrm>
            <a:off x="566928" y="1627632"/>
            <a:ext cx="11057839" cy="1417320"/>
          </a:xfrm>
          <a:prstGeom prst="roundRect">
            <a:avLst>
              <a:gd name="adj" fmla="val 7097"/>
            </a:avLst>
          </a:prstGeom>
          <a:solidFill>
            <a:srgbClr val="F9FAFB"/>
          </a:solidFill>
          <a:ln w="13970">
            <a:solidFill>
              <a:srgbClr val="E5E7EB"/>
            </a:solidFill>
            <a:prstDash val="solid"/>
            <a:headEnd type="none"/>
            <a:tailEnd type="none"/>
          </a:ln>
        </p:spPr>
      </p:sp>
      <p:sp>
        <p:nvSpPr>
          <p:cNvPr id="11" name="claimdelta-C1-id"/>
          <p:cNvSpPr/>
          <p:nvPr/>
        </p:nvSpPr>
        <p:spPr>
          <a:xfrm>
            <a:off x="786384" y="1755648"/>
            <a:ext cx="1097280" cy="310896"/>
          </a:xfrm>
          <a:prstGeom prst="rect">
            <a:avLst/>
          </a:prstGeom>
          <a:noFill/>
          <a:ln/>
        </p:spPr>
        <p:txBody>
          <a:bodyPr wrap="square" lIns="254" tIns="254" rIns="254" bIns="254" rtlCol="0" anchor="ctr"/>
          <a:lstStyle/>
          <a:p>
            <a:pPr algn="l" indent="0" marL="0">
              <a:lnSpc>
                <a:spcPts val="1900"/>
              </a:lnSpc>
              <a:buNone/>
            </a:pPr>
            <a:r>
              <a:rPr lang="en-US" sz="1600" b="1" dirty="0">
                <a:solidFill>
                  <a:srgbClr val="111827"/>
                </a:solidFill>
                <a:latin typeface="Calibri" pitchFamily="34" charset="0"/>
                <a:ea typeface="Calibri" pitchFamily="34" charset="-122"/>
                <a:cs typeface="Calibri" pitchFamily="34" charset="-120"/>
              </a:rPr>
              <a:t>C1</a:t>
            </a:r>
            <a:endParaRPr lang="en-US" sz="1600" dirty="0"/>
          </a:p>
        </p:txBody>
      </p:sp>
      <p:sp>
        <p:nvSpPr>
          <p:cNvPr id="12" name="claimdelta-C1-stmt"/>
          <p:cNvSpPr/>
          <p:nvPr/>
        </p:nvSpPr>
        <p:spPr>
          <a:xfrm>
            <a:off x="786384" y="2084832"/>
            <a:ext cx="6855860" cy="868680"/>
          </a:xfrm>
          <a:prstGeom prst="rect">
            <a:avLst/>
          </a:prstGeom>
          <a:noFill/>
          <a:ln/>
        </p:spPr>
        <p:txBody>
          <a:bodyPr wrap="square" lIns="254" tIns="254" rIns="254" bIns="254" rtlCol="0" anchor="t"/>
          <a:lstStyle/>
          <a:p>
            <a:pPr algn="l" indent="0" marL="0">
              <a:lnSpc>
                <a:spcPts val="1800"/>
              </a:lnSpc>
              <a:buNone/>
            </a:pPr>
            <a:r>
              <a:rPr lang="en-US" sz="1400" dirty="0">
                <a:solidFill>
                  <a:srgbClr val="374151"/>
                </a:solidFill>
                <a:latin typeface="Calibri" pitchFamily="34" charset="0"/>
                <a:ea typeface="Calibri" pitchFamily="34" charset="-122"/>
                <a:cs typeface="Calibri" pitchFamily="34" charset="-120"/>
              </a:rPr>
              <a:t>The learned correction approximates the true future feature.</a:t>
            </a:r>
            <a:endParaRPr lang="en-US" sz="1400" dirty="0"/>
          </a:p>
        </p:txBody>
      </p:sp>
      <p:sp>
        <p:nvSpPr>
          <p:cNvPr id="13" name="claimdelta-C1-prev"/>
          <p:cNvSpPr/>
          <p:nvPr/>
        </p:nvSpPr>
        <p:spPr>
          <a:xfrm>
            <a:off x="7921447" y="2180844"/>
            <a:ext cx="1508760" cy="310896"/>
          </a:xfrm>
          <a:prstGeom prst="roundRect">
            <a:avLst>
              <a:gd name="adj" fmla="val 50000"/>
            </a:avLst>
          </a:prstGeom>
          <a:solidFill>
            <a:srgbClr val="FFFFFF"/>
          </a:solidFill>
          <a:ln w="13970">
            <a:solidFill>
              <a:srgbClr val="2563EB"/>
            </a:solidFill>
            <a:prstDash val="solid"/>
            <a:headEnd type="none"/>
            <a:tailEnd type="none"/>
          </a:ln>
        </p:spPr>
      </p:sp>
      <p:sp>
        <p:nvSpPr>
          <p:cNvPr id="14" name="claimdelta-C1-prev__label"/>
          <p:cNvSpPr/>
          <p:nvPr/>
        </p:nvSpPr>
        <p:spPr>
          <a:xfrm>
            <a:off x="7921447" y="2180844"/>
            <a:ext cx="1508760" cy="310896"/>
          </a:xfrm>
          <a:prstGeom prst="rect">
            <a:avLst/>
          </a:prstGeom>
          <a:noFill/>
          <a:ln/>
        </p:spPr>
        <p:txBody>
          <a:bodyPr wrap="square" lIns="254" tIns="254" rIns="254" bIns="254" rtlCol="0" anchor="ctr"/>
          <a:lstStyle/>
          <a:p>
            <a:pPr algn="ctr" indent="0" marL="0">
              <a:lnSpc>
                <a:spcPts val="1200"/>
              </a:lnSpc>
              <a:buNone/>
            </a:pPr>
            <a:r>
              <a:rPr lang="en-US" sz="1000" b="1" dirty="0">
                <a:solidFill>
                  <a:srgbClr val="2563EB"/>
                </a:solidFill>
                <a:latin typeface="Calibri" pitchFamily="34" charset="0"/>
                <a:ea typeface="Calibri" pitchFamily="34" charset="-122"/>
                <a:cs typeface="Calibri" pitchFamily="34" charset="-120"/>
              </a:rPr>
              <a:t>plausible</a:t>
            </a:r>
            <a:endParaRPr lang="en-US" sz="1000" dirty="0"/>
          </a:p>
        </p:txBody>
      </p:sp>
      <p:sp>
        <p:nvSpPr>
          <p:cNvPr id="15" name="claimdelta-C1-arr"/>
          <p:cNvSpPr/>
          <p:nvPr/>
        </p:nvSpPr>
        <p:spPr>
          <a:xfrm>
            <a:off x="9475927" y="2336292"/>
            <a:ext cx="502920" cy="0"/>
          </a:xfrm>
          <a:prstGeom prst="line">
            <a:avLst/>
          </a:prstGeom>
          <a:noFill/>
          <a:ln w="13970">
            <a:solidFill>
              <a:srgbClr val="374151"/>
            </a:solidFill>
            <a:prstDash val="solid"/>
            <a:headEnd type="none"/>
            <a:tailEnd type="triangle"/>
          </a:ln>
        </p:spPr>
      </p:sp>
      <p:sp>
        <p:nvSpPr>
          <p:cNvPr id="16" name="claimdelta-C1-curr"/>
          <p:cNvSpPr/>
          <p:nvPr/>
        </p:nvSpPr>
        <p:spPr>
          <a:xfrm>
            <a:off x="10088575" y="2180844"/>
            <a:ext cx="1508760" cy="310896"/>
          </a:xfrm>
          <a:prstGeom prst="roundRect">
            <a:avLst>
              <a:gd name="adj" fmla="val 50000"/>
            </a:avLst>
          </a:prstGeom>
          <a:solidFill>
            <a:srgbClr val="FFFFFF"/>
          </a:solidFill>
          <a:ln w="13970">
            <a:solidFill>
              <a:srgbClr val="B91C1C"/>
            </a:solidFill>
            <a:prstDash val="solid"/>
            <a:headEnd type="none"/>
            <a:tailEnd type="none"/>
          </a:ln>
        </p:spPr>
      </p:sp>
      <p:sp>
        <p:nvSpPr>
          <p:cNvPr id="17" name="claimdelta-C1-curr__label"/>
          <p:cNvSpPr/>
          <p:nvPr/>
        </p:nvSpPr>
        <p:spPr>
          <a:xfrm>
            <a:off x="10088575" y="2180844"/>
            <a:ext cx="1508760" cy="310896"/>
          </a:xfrm>
          <a:prstGeom prst="rect">
            <a:avLst/>
          </a:prstGeom>
          <a:noFill/>
          <a:ln/>
        </p:spPr>
        <p:txBody>
          <a:bodyPr wrap="square" lIns="254" tIns="254" rIns="254" bIns="254" rtlCol="0" anchor="ctr"/>
          <a:lstStyle/>
          <a:p>
            <a:pPr algn="ctr" indent="0" marL="0">
              <a:lnSpc>
                <a:spcPts val="1200"/>
              </a:lnSpc>
              <a:buNone/>
            </a:pPr>
            <a:r>
              <a:rPr lang="en-US" sz="1000" b="1" dirty="0">
                <a:solidFill>
                  <a:srgbClr val="B91C1C"/>
                </a:solidFill>
                <a:latin typeface="Calibri" pitchFamily="34" charset="0"/>
                <a:ea typeface="Calibri" pitchFamily="34" charset="-122"/>
                <a:cs typeface="Calibri" pitchFamily="34" charset="-120"/>
              </a:rPr>
              <a:t>weakened</a:t>
            </a:r>
            <a:endParaRPr lang="en-US" sz="1000" dirty="0"/>
          </a:p>
        </p:txBody>
      </p:sp>
      <p:sp>
        <p:nvSpPr>
          <p:cNvPr id="18" name="claimdelta-C1-note"/>
          <p:cNvSpPr/>
          <p:nvPr/>
        </p:nvSpPr>
        <p:spPr>
          <a:xfrm>
            <a:off x="7643945" y="2642616"/>
            <a:ext cx="3317352" cy="329184"/>
          </a:xfrm>
          <a:prstGeom prst="rect">
            <a:avLst/>
          </a:prstGeom>
          <a:noFill/>
          <a:ln/>
        </p:spPr>
        <p:txBody>
          <a:bodyPr wrap="square" lIns="254" tIns="254" rIns="254" bIns="254" rtlCol="0" anchor="ctr"/>
          <a:lstStyle/>
          <a:p>
            <a:pPr algn="l" indent="0" marL="0">
              <a:lnSpc>
                <a:spcPts val="1200"/>
              </a:lnSpc>
              <a:buNone/>
            </a:pPr>
            <a:r>
              <a:rPr lang="en-US" sz="1000" dirty="0">
                <a:solidFill>
                  <a:srgbClr val="6B7280"/>
                </a:solidFill>
                <a:latin typeface="Calibri" pitchFamily="34" charset="0"/>
                <a:ea typeface="Calibri" pitchFamily="34" charset="-122"/>
                <a:cs typeface="Calibri" pitchFamily="34" charset="-120"/>
              </a:rPr>
              <a:t>D1: cos 0.117</a:t>
            </a:r>
            <a:endParaRPr lang="en-US" sz="1000" dirty="0"/>
          </a:p>
        </p:txBody>
      </p:sp>
      <p:sp>
        <p:nvSpPr>
          <p:cNvPr id="19" name="claimdelta-C2"/>
          <p:cNvSpPr/>
          <p:nvPr/>
        </p:nvSpPr>
        <p:spPr>
          <a:xfrm>
            <a:off x="566928" y="3154680"/>
            <a:ext cx="11057839" cy="1417320"/>
          </a:xfrm>
          <a:prstGeom prst="roundRect">
            <a:avLst>
              <a:gd name="adj" fmla="val 7097"/>
            </a:avLst>
          </a:prstGeom>
          <a:solidFill>
            <a:srgbClr val="F9FAFB"/>
          </a:solidFill>
          <a:ln w="13970">
            <a:solidFill>
              <a:srgbClr val="E5E7EB"/>
            </a:solidFill>
            <a:prstDash val="solid"/>
            <a:headEnd type="none"/>
            <a:tailEnd type="none"/>
          </a:ln>
        </p:spPr>
      </p:sp>
      <p:sp>
        <p:nvSpPr>
          <p:cNvPr id="20" name="claimdelta-C2-id"/>
          <p:cNvSpPr/>
          <p:nvPr/>
        </p:nvSpPr>
        <p:spPr>
          <a:xfrm>
            <a:off x="786384" y="3282696"/>
            <a:ext cx="1097280" cy="310896"/>
          </a:xfrm>
          <a:prstGeom prst="rect">
            <a:avLst/>
          </a:prstGeom>
          <a:noFill/>
          <a:ln/>
        </p:spPr>
        <p:txBody>
          <a:bodyPr wrap="square" lIns="254" tIns="254" rIns="254" bIns="254" rtlCol="0" anchor="ctr"/>
          <a:lstStyle/>
          <a:p>
            <a:pPr algn="l" indent="0" marL="0">
              <a:lnSpc>
                <a:spcPts val="1900"/>
              </a:lnSpc>
              <a:buNone/>
            </a:pPr>
            <a:r>
              <a:rPr lang="en-US" sz="1600" b="1" dirty="0">
                <a:solidFill>
                  <a:srgbClr val="111827"/>
                </a:solidFill>
                <a:latin typeface="Calibri" pitchFamily="34" charset="0"/>
                <a:ea typeface="Calibri" pitchFamily="34" charset="-122"/>
                <a:cs typeface="Calibri" pitchFamily="34" charset="-120"/>
              </a:rPr>
              <a:t>C2</a:t>
            </a:r>
            <a:endParaRPr lang="en-US" sz="1600" dirty="0"/>
          </a:p>
        </p:txBody>
      </p:sp>
      <p:sp>
        <p:nvSpPr>
          <p:cNvPr id="21" name="claimdelta-C2-stmt"/>
          <p:cNvSpPr/>
          <p:nvPr/>
        </p:nvSpPr>
        <p:spPr>
          <a:xfrm>
            <a:off x="786384" y="3611880"/>
            <a:ext cx="6855860" cy="868680"/>
          </a:xfrm>
          <a:prstGeom prst="rect">
            <a:avLst/>
          </a:prstGeom>
          <a:noFill/>
          <a:ln/>
        </p:spPr>
        <p:txBody>
          <a:bodyPr wrap="square" lIns="254" tIns="254" rIns="254" bIns="254" rtlCol="0" anchor="t"/>
          <a:lstStyle/>
          <a:p>
            <a:pPr algn="l" indent="0" marL="0">
              <a:lnSpc>
                <a:spcPts val="1800"/>
              </a:lnSpc>
              <a:buNone/>
            </a:pPr>
            <a:r>
              <a:rPr lang="en-US" sz="1400" dirty="0">
                <a:solidFill>
                  <a:srgbClr val="374151"/>
                </a:solidFill>
                <a:latin typeface="Calibri" pitchFamily="34" charset="0"/>
                <a:ea typeface="Calibri" pitchFamily="34" charset="-122"/>
                <a:cs typeface="Calibri" pitchFamily="34" charset="-120"/>
              </a:rPr>
              <a:t>An alternative downstream-valid pre-image may be sufficient; output recovery does not require feature recovery.</a:t>
            </a:r>
            <a:endParaRPr lang="en-US" sz="1400" dirty="0"/>
          </a:p>
        </p:txBody>
      </p:sp>
      <p:sp>
        <p:nvSpPr>
          <p:cNvPr id="22" name="claimdelta-C2-prev"/>
          <p:cNvSpPr/>
          <p:nvPr/>
        </p:nvSpPr>
        <p:spPr>
          <a:xfrm>
            <a:off x="7921447" y="3707892"/>
            <a:ext cx="1508760" cy="310896"/>
          </a:xfrm>
          <a:prstGeom prst="roundRect">
            <a:avLst>
              <a:gd name="adj" fmla="val 50000"/>
            </a:avLst>
          </a:prstGeom>
          <a:solidFill>
            <a:srgbClr val="FFFFFF"/>
          </a:solidFill>
          <a:ln w="13970">
            <a:solidFill>
              <a:srgbClr val="9CA3AF"/>
            </a:solidFill>
            <a:prstDash val="solid"/>
            <a:headEnd type="none"/>
            <a:tailEnd type="none"/>
          </a:ln>
        </p:spPr>
      </p:sp>
      <p:sp>
        <p:nvSpPr>
          <p:cNvPr id="23" name="claimdelta-C2-prev__label"/>
          <p:cNvSpPr/>
          <p:nvPr/>
        </p:nvSpPr>
        <p:spPr>
          <a:xfrm>
            <a:off x="7921447" y="3707892"/>
            <a:ext cx="1508760" cy="310896"/>
          </a:xfrm>
          <a:prstGeom prst="rect">
            <a:avLst/>
          </a:prstGeom>
          <a:noFill/>
          <a:ln/>
        </p:spPr>
        <p:txBody>
          <a:bodyPr wrap="square" lIns="254" tIns="254" rIns="254" bIns="254" rtlCol="0" anchor="ctr"/>
          <a:lstStyle/>
          <a:p>
            <a:pPr algn="ctr" indent="0" marL="0">
              <a:lnSpc>
                <a:spcPts val="1200"/>
              </a:lnSpc>
              <a:buNone/>
            </a:pPr>
            <a:r>
              <a:rPr lang="en-US" sz="1000" b="1" dirty="0">
                <a:solidFill>
                  <a:srgbClr val="9CA3AF"/>
                </a:solidFill>
                <a:latin typeface="Calibri" pitchFamily="34" charset="0"/>
                <a:ea typeface="Calibri" pitchFamily="34" charset="-122"/>
                <a:cs typeface="Calibri" pitchFamily="34" charset="-120"/>
              </a:rPr>
              <a:t>absent</a:t>
            </a:r>
            <a:endParaRPr lang="en-US" sz="1000" dirty="0"/>
          </a:p>
        </p:txBody>
      </p:sp>
      <p:sp>
        <p:nvSpPr>
          <p:cNvPr id="24" name="claimdelta-C2-arr"/>
          <p:cNvSpPr/>
          <p:nvPr/>
        </p:nvSpPr>
        <p:spPr>
          <a:xfrm>
            <a:off x="9475927" y="3863340"/>
            <a:ext cx="502920" cy="0"/>
          </a:xfrm>
          <a:prstGeom prst="line">
            <a:avLst/>
          </a:prstGeom>
          <a:noFill/>
          <a:ln w="13970">
            <a:solidFill>
              <a:srgbClr val="374151"/>
            </a:solidFill>
            <a:prstDash val="solid"/>
            <a:headEnd type="none"/>
            <a:tailEnd type="triangle"/>
          </a:ln>
        </p:spPr>
      </p:sp>
      <p:sp>
        <p:nvSpPr>
          <p:cNvPr id="25" name="claimdelta-C2-curr"/>
          <p:cNvSpPr/>
          <p:nvPr/>
        </p:nvSpPr>
        <p:spPr>
          <a:xfrm>
            <a:off x="10088575" y="3707892"/>
            <a:ext cx="1508760" cy="310896"/>
          </a:xfrm>
          <a:prstGeom prst="roundRect">
            <a:avLst>
              <a:gd name="adj" fmla="val 50000"/>
            </a:avLst>
          </a:prstGeom>
          <a:solidFill>
            <a:srgbClr val="FFFFFF"/>
          </a:solidFill>
          <a:ln w="13970">
            <a:solidFill>
              <a:srgbClr val="B45309"/>
            </a:solidFill>
            <a:prstDash val="solid"/>
            <a:headEnd type="none"/>
            <a:tailEnd type="none"/>
          </a:ln>
        </p:spPr>
      </p:sp>
      <p:sp>
        <p:nvSpPr>
          <p:cNvPr id="26" name="claimdelta-C2-curr__label"/>
          <p:cNvSpPr/>
          <p:nvPr/>
        </p:nvSpPr>
        <p:spPr>
          <a:xfrm>
            <a:off x="10088575" y="3707892"/>
            <a:ext cx="1508760" cy="310896"/>
          </a:xfrm>
          <a:prstGeom prst="rect">
            <a:avLst/>
          </a:prstGeom>
          <a:noFill/>
          <a:ln/>
        </p:spPr>
        <p:txBody>
          <a:bodyPr wrap="square" lIns="254" tIns="254" rIns="254" bIns="254" rtlCol="0" anchor="ctr"/>
          <a:lstStyle/>
          <a:p>
            <a:pPr algn="ctr" indent="0" marL="0">
              <a:lnSpc>
                <a:spcPts val="1200"/>
              </a:lnSpc>
              <a:buNone/>
            </a:pPr>
            <a:r>
              <a:rPr lang="en-US" sz="1000" b="1" dirty="0">
                <a:solidFill>
                  <a:srgbClr val="B45309"/>
                </a:solidFill>
                <a:latin typeface="Calibri" pitchFamily="34" charset="0"/>
                <a:ea typeface="Calibri" pitchFamily="34" charset="-122"/>
                <a:cs typeface="Calibri" pitchFamily="34" charset="-120"/>
              </a:rPr>
              <a:t>emerging</a:t>
            </a:r>
            <a:endParaRPr lang="en-US" sz="1000" dirty="0"/>
          </a:p>
        </p:txBody>
      </p:sp>
      <p:sp>
        <p:nvSpPr>
          <p:cNvPr id="27" name="claimdelta-C2-note"/>
          <p:cNvSpPr/>
          <p:nvPr/>
        </p:nvSpPr>
        <p:spPr>
          <a:xfrm>
            <a:off x="7643945" y="4169664"/>
            <a:ext cx="3317352" cy="329184"/>
          </a:xfrm>
          <a:prstGeom prst="rect">
            <a:avLst/>
          </a:prstGeom>
          <a:noFill/>
          <a:ln/>
        </p:spPr>
        <p:txBody>
          <a:bodyPr wrap="square" lIns="254" tIns="254" rIns="254" bIns="254" rtlCol="0" anchor="ctr"/>
          <a:lstStyle/>
          <a:p>
            <a:pPr algn="l" indent="0" marL="0">
              <a:lnSpc>
                <a:spcPts val="1200"/>
              </a:lnSpc>
              <a:buNone/>
            </a:pPr>
            <a:r>
              <a:rPr lang="en-US" sz="1000" dirty="0">
                <a:solidFill>
                  <a:srgbClr val="6B7280"/>
                </a:solidFill>
                <a:latin typeface="Calibri" pitchFamily="34" charset="0"/>
                <a:ea typeface="Calibri" pitchFamily="34" charset="-122"/>
                <a:cs typeface="Calibri" pitchFamily="34" charset="-120"/>
              </a:rPr>
              <a:t>D2: high output, low feature recovery</a:t>
            </a:r>
            <a:endParaRPr lang="en-US" sz="1000" dirty="0"/>
          </a:p>
        </p:txBody>
      </p:sp>
      <p:sp>
        <p:nvSpPr>
          <p:cNvPr id="28" name="claimdelta-note"/>
          <p:cNvSpPr/>
          <p:nvPr/>
        </p:nvSpPr>
        <p:spPr>
          <a:xfrm>
            <a:off x="566928" y="4727448"/>
            <a:ext cx="11057839" cy="548640"/>
          </a:xfrm>
          <a:prstGeom prst="rect">
            <a:avLst/>
          </a:prstGeom>
          <a:noFill/>
          <a:ln/>
        </p:spPr>
        <p:txBody>
          <a:bodyPr wrap="square" lIns="254" tIns="254" rIns="254" bIns="254" rtlCol="0" anchor="t"/>
          <a:lstStyle/>
          <a:p>
            <a:pPr algn="l" indent="0" marL="0">
              <a:lnSpc>
                <a:spcPts val="1400"/>
              </a:lnSpc>
              <a:buNone/>
            </a:pPr>
            <a:r>
              <a:rPr lang="en-US" sz="1150" dirty="0">
                <a:solidFill>
                  <a:srgbClr val="6B7280"/>
                </a:solidFill>
                <a:latin typeface="Calibri" pitchFamily="34" charset="0"/>
                <a:ea typeface="Calibri" pitchFamily="34" charset="-122"/>
                <a:cs typeface="Calibri" pitchFamily="34" charset="-120"/>
              </a:rPr>
              <a:t>Neither claim is refuted or confirmed; both remain under test.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rgbClr val="FFFFFF"/>
          </a:solidFill>
          <a:ln/>
        </p:spPr>
      </p:sp>
      <p:sp>
        <p:nvSpPr>
          <p:cNvPr id="3" name="kicker"/>
          <p:cNvSpPr/>
          <p:nvPr/>
        </p:nvSpPr>
        <p:spPr>
          <a:xfrm>
            <a:off x="566928" y="365760"/>
            <a:ext cx="6855860" cy="237744"/>
          </a:xfrm>
          <a:prstGeom prst="rect">
            <a:avLst/>
          </a:prstGeom>
          <a:noFill/>
          <a:ln/>
        </p:spPr>
        <p:txBody>
          <a:bodyPr wrap="square" lIns="254" tIns="254" rIns="254" bIns="254" rtlCol="0" anchor="ctr"/>
          <a:lstStyle/>
          <a:p>
            <a:pPr algn="l" indent="0" marL="0">
              <a:lnSpc>
                <a:spcPts val="1400"/>
              </a:lnSpc>
              <a:buNone/>
            </a:pPr>
            <a:r>
              <a:rPr lang="en-US" sz="1200" b="1" dirty="0">
                <a:solidFill>
                  <a:srgbClr val="2563EB"/>
                </a:solidFill>
                <a:latin typeface="Calibri" pitchFamily="34" charset="0"/>
                <a:ea typeface="Calibri" pitchFamily="34" charset="-122"/>
                <a:cs typeface="Calibri" pitchFamily="34" charset="-120"/>
              </a:rPr>
              <a:t>DIAGNOSTIC</a:t>
            </a:r>
            <a:endParaRPr lang="en-US" sz="1200" dirty="0"/>
          </a:p>
        </p:txBody>
      </p:sp>
      <p:sp>
        <p:nvSpPr>
          <p:cNvPr id="4" name="header-meta"/>
          <p:cNvSpPr/>
          <p:nvPr/>
        </p:nvSpPr>
        <p:spPr>
          <a:xfrm>
            <a:off x="6648740" y="365760"/>
            <a:ext cx="4976028" cy="237744"/>
          </a:xfrm>
          <a:prstGeom prst="rect">
            <a:avLst/>
          </a:prstGeom>
          <a:noFill/>
          <a:ln/>
        </p:spPr>
        <p:txBody>
          <a:bodyPr wrap="square" lIns="254" tIns="254" rIns="254" bIns="254" rtlCol="0" anchor="ctr"/>
          <a:lstStyle/>
          <a:p>
            <a:pPr algn="r" indent="0" marL="0">
              <a:lnSpc>
                <a:spcPts val="1200"/>
              </a:lnSpc>
              <a:buNone/>
            </a:pPr>
            <a:r>
              <a:rPr lang="en-US" sz="1000" dirty="0">
                <a:solidFill>
                  <a:srgbClr val="6B7280"/>
                </a:solidFill>
                <a:latin typeface="Calibri" pitchFamily="34" charset="0"/>
                <a:ea typeface="Calibri" pitchFamily="34" charset="-122"/>
                <a:cs typeface="Calibri" pitchFamily="34" charset="-120"/>
              </a:rPr>
              <a:t>Cached Future-Feature Prediction  ·  Week 6</a:t>
            </a:r>
            <a:endParaRPr lang="en-US" sz="1000" dirty="0"/>
          </a:p>
        </p:txBody>
      </p:sp>
      <p:sp>
        <p:nvSpPr>
          <p:cNvPr id="5" name="title-main"/>
          <p:cNvSpPr/>
          <p:nvPr/>
        </p:nvSpPr>
        <p:spPr>
          <a:xfrm>
            <a:off x="566928" y="621792"/>
            <a:ext cx="11057839" cy="548640"/>
          </a:xfrm>
          <a:prstGeom prst="rect">
            <a:avLst/>
          </a:prstGeom>
          <a:noFill/>
          <a:ln/>
        </p:spPr>
        <p:txBody>
          <a:bodyPr wrap="square" lIns="254" tIns="254" rIns="254" bIns="254" rtlCol="0" anchor="ctr"/>
          <a:lstStyle/>
          <a:p>
            <a:pPr algn="l" indent="0" marL="0">
              <a:lnSpc>
                <a:spcPts val="3000"/>
              </a:lnSpc>
              <a:buNone/>
            </a:pPr>
            <a:r>
              <a:rPr lang="en-US" sz="2700" b="1" dirty="0">
                <a:solidFill>
                  <a:srgbClr val="111827"/>
                </a:solidFill>
                <a:latin typeface="Calibri" pitchFamily="34" charset="0"/>
                <a:ea typeface="Calibri" pitchFamily="34" charset="-122"/>
                <a:cs typeface="Calibri" pitchFamily="34" charset="-120"/>
              </a:rPr>
              <a:t>Diagnostic D2: does output recovery require feature recovery?</a:t>
            </a:r>
            <a:endParaRPr lang="en-US" sz="2700" dirty="0"/>
          </a:p>
        </p:txBody>
      </p:sp>
      <p:sp>
        <p:nvSpPr>
          <p:cNvPr id="6" name="chrome-rule"/>
          <p:cNvSpPr/>
          <p:nvPr/>
        </p:nvSpPr>
        <p:spPr>
          <a:xfrm>
            <a:off x="566928" y="1243584"/>
            <a:ext cx="11057839" cy="20117"/>
          </a:xfrm>
          <a:prstGeom prst="rect">
            <a:avLst/>
          </a:prstGeom>
          <a:solidFill>
            <a:srgbClr val="E5E7EB"/>
          </a:solidFill>
          <a:ln/>
        </p:spPr>
      </p:sp>
      <p:sp>
        <p:nvSpPr>
          <p:cNvPr id="7" name="chrome-rule-accent"/>
          <p:cNvSpPr/>
          <p:nvPr/>
        </p:nvSpPr>
        <p:spPr>
          <a:xfrm>
            <a:off x="566928" y="1243584"/>
            <a:ext cx="1051560" cy="20117"/>
          </a:xfrm>
          <a:prstGeom prst="rect">
            <a:avLst/>
          </a:prstGeom>
          <a:solidFill>
            <a:srgbClr val="2563EB"/>
          </a:solidFill>
          <a:ln/>
        </p:spPr>
      </p:sp>
      <p:sp>
        <p:nvSpPr>
          <p:cNvPr id="8" name="footer-text"/>
          <p:cNvSpPr/>
          <p:nvPr/>
        </p:nvSpPr>
        <p:spPr>
          <a:xfrm>
            <a:off x="566928" y="6419088"/>
            <a:ext cx="8293379" cy="237744"/>
          </a:xfrm>
          <a:prstGeom prst="rect">
            <a:avLst/>
          </a:prstGeom>
          <a:noFill/>
          <a:ln/>
        </p:spPr>
        <p:txBody>
          <a:bodyPr wrap="square" lIns="254" tIns="254" rIns="254" bIns="254" rtlCol="0" anchor="ctr"/>
          <a:lstStyle/>
          <a:p>
            <a:pPr algn="l" indent="0" marL="0">
              <a:lnSpc>
                <a:spcPts val="1200"/>
              </a:lnSpc>
              <a:buNone/>
            </a:pPr>
            <a:r>
              <a:rPr lang="en-US" sz="1000" dirty="0">
                <a:solidFill>
                  <a:srgbClr val="9CA3AF"/>
                </a:solidFill>
                <a:latin typeface="Calibri" pitchFamily="34" charset="0"/>
                <a:ea typeface="Calibri" pitchFamily="34" charset="-122"/>
                <a:cs typeface="Calibri" pitchFamily="34" charset="-120"/>
              </a:rPr>
              <a:t>Cached Future-Feature Prediction · synthetic demo</a:t>
            </a:r>
            <a:endParaRPr lang="en-US" sz="1000" dirty="0"/>
          </a:p>
        </p:txBody>
      </p:sp>
      <p:sp>
        <p:nvSpPr>
          <p:cNvPr id="9" name="footer-slide-number"/>
          <p:cNvSpPr/>
          <p:nvPr/>
        </p:nvSpPr>
        <p:spPr>
          <a:xfrm>
            <a:off x="10076670" y="6419088"/>
            <a:ext cx="1548097" cy="237744"/>
          </a:xfrm>
          <a:prstGeom prst="rect">
            <a:avLst/>
          </a:prstGeom>
          <a:noFill/>
          <a:ln/>
        </p:spPr>
        <p:txBody>
          <a:bodyPr wrap="square" lIns="254" tIns="254" rIns="254" bIns="254" rtlCol="0" anchor="ctr"/>
          <a:lstStyle/>
          <a:p>
            <a:pPr algn="r" indent="0" marL="0">
              <a:lnSpc>
                <a:spcPts val="1200"/>
              </a:lnSpc>
              <a:buNone/>
            </a:pPr>
            <a:r>
              <a:rPr lang="en-US" sz="1000" dirty="0">
                <a:solidFill>
                  <a:srgbClr val="9CA3AF"/>
                </a:solidFill>
                <a:latin typeface="Calibri" pitchFamily="34" charset="0"/>
                <a:ea typeface="Calibri" pitchFamily="34" charset="-122"/>
                <a:cs typeface="Calibri" pitchFamily="34" charset="-120"/>
              </a:rPr>
              <a:t>9 / 10</a:t>
            </a:r>
            <a:endParaRPr lang="en-US" sz="1000" dirty="0"/>
          </a:p>
        </p:txBody>
      </p:sp>
      <p:sp>
        <p:nvSpPr>
          <p:cNvPr id="10" name="diag-D2-q"/>
          <p:cNvSpPr/>
          <p:nvPr/>
        </p:nvSpPr>
        <p:spPr>
          <a:xfrm>
            <a:off x="566928" y="1536192"/>
            <a:ext cx="11057839" cy="786384"/>
          </a:xfrm>
          <a:prstGeom prst="roundRect">
            <a:avLst>
              <a:gd name="adj" fmla="val 12791"/>
            </a:avLst>
          </a:prstGeom>
          <a:solidFill>
            <a:srgbClr val="EAF1FE"/>
          </a:solidFill>
          <a:ln w="13970">
            <a:solidFill>
              <a:srgbClr val="2563EB"/>
            </a:solidFill>
            <a:prstDash val="solid"/>
            <a:headEnd type="none"/>
            <a:tailEnd type="none"/>
          </a:ln>
        </p:spPr>
      </p:sp>
      <p:sp>
        <p:nvSpPr>
          <p:cNvPr id="11" name="diag-D2-q-k"/>
          <p:cNvSpPr/>
          <p:nvPr/>
        </p:nvSpPr>
        <p:spPr>
          <a:xfrm>
            <a:off x="804672" y="1627632"/>
            <a:ext cx="1097280" cy="274320"/>
          </a:xfrm>
          <a:prstGeom prst="rect">
            <a:avLst/>
          </a:prstGeom>
          <a:noFill/>
          <a:ln/>
        </p:spPr>
        <p:txBody>
          <a:bodyPr wrap="square" lIns="254" tIns="254" rIns="254" bIns="254" rtlCol="0" anchor="ctr"/>
          <a:lstStyle/>
          <a:p>
            <a:pPr algn="l" indent="0" marL="0">
              <a:lnSpc>
                <a:spcPts val="1600"/>
              </a:lnSpc>
              <a:buNone/>
            </a:pPr>
            <a:r>
              <a:rPr lang="en-US" sz="1300" b="1" dirty="0">
                <a:solidFill>
                  <a:srgbClr val="2563EB"/>
                </a:solidFill>
                <a:latin typeface="Calibri" pitchFamily="34" charset="0"/>
                <a:ea typeface="Calibri" pitchFamily="34" charset="-122"/>
                <a:cs typeface="Calibri" pitchFamily="34" charset="-120"/>
              </a:rPr>
              <a:t>D2</a:t>
            </a:r>
            <a:endParaRPr lang="en-US" sz="1300" dirty="0"/>
          </a:p>
        </p:txBody>
      </p:sp>
      <p:sp>
        <p:nvSpPr>
          <p:cNvPr id="12" name="diag-D2-q-t"/>
          <p:cNvSpPr/>
          <p:nvPr/>
        </p:nvSpPr>
        <p:spPr>
          <a:xfrm>
            <a:off x="1801368" y="1627632"/>
            <a:ext cx="8040319" cy="603504"/>
          </a:xfrm>
          <a:prstGeom prst="rect">
            <a:avLst/>
          </a:prstGeom>
          <a:noFill/>
          <a:ln/>
        </p:spPr>
        <p:txBody>
          <a:bodyPr wrap="square" lIns="254" tIns="254" rIns="254" bIns="254" rtlCol="0" anchor="ctr"/>
          <a:lstStyle/>
          <a:p>
            <a:pPr algn="l" indent="0" marL="0">
              <a:lnSpc>
                <a:spcPts val="2000"/>
              </a:lnSpc>
              <a:buNone/>
            </a:pPr>
            <a:r>
              <a:rPr lang="en-US" sz="1700" b="1" dirty="0">
                <a:solidFill>
                  <a:srgbClr val="111827"/>
                </a:solidFill>
                <a:latin typeface="Calibri" pitchFamily="34" charset="0"/>
                <a:ea typeface="Calibri" pitchFamily="34" charset="-122"/>
                <a:cs typeface="Calibri" pitchFamily="34" charset="-120"/>
              </a:rPr>
              <a:t>Does output recovery require feature recovery?</a:t>
            </a:r>
            <a:endParaRPr lang="en-US" sz="1700" dirty="0"/>
          </a:p>
        </p:txBody>
      </p:sp>
      <p:sp>
        <p:nvSpPr>
          <p:cNvPr id="13" name="diag-D2-link-0"/>
          <p:cNvSpPr/>
          <p:nvPr/>
        </p:nvSpPr>
        <p:spPr>
          <a:xfrm>
            <a:off x="10024567" y="1773936"/>
            <a:ext cx="713232" cy="310896"/>
          </a:xfrm>
          <a:prstGeom prst="roundRect">
            <a:avLst>
              <a:gd name="adj" fmla="val 50000"/>
            </a:avLst>
          </a:prstGeom>
          <a:solidFill>
            <a:srgbClr val="FFFFFF"/>
          </a:solidFill>
          <a:ln w="13970">
            <a:solidFill>
              <a:srgbClr val="2563EB"/>
            </a:solidFill>
            <a:prstDash val="solid"/>
            <a:headEnd type="none"/>
            <a:tailEnd type="none"/>
          </a:ln>
        </p:spPr>
      </p:sp>
      <p:sp>
        <p:nvSpPr>
          <p:cNvPr id="14" name="diag-D2-link-0__label"/>
          <p:cNvSpPr/>
          <p:nvPr/>
        </p:nvSpPr>
        <p:spPr>
          <a:xfrm>
            <a:off x="10024567" y="1773936"/>
            <a:ext cx="713232" cy="310896"/>
          </a:xfrm>
          <a:prstGeom prst="rect">
            <a:avLst/>
          </a:prstGeom>
          <a:noFill/>
          <a:ln/>
        </p:spPr>
        <p:txBody>
          <a:bodyPr wrap="square" lIns="254" tIns="254" rIns="254" bIns="254" rtlCol="0" anchor="ctr"/>
          <a:lstStyle/>
          <a:p>
            <a:pPr algn="ctr" indent="0" marL="0">
              <a:lnSpc>
                <a:spcPts val="1200"/>
              </a:lnSpc>
              <a:buNone/>
            </a:pPr>
            <a:r>
              <a:rPr lang="en-US" sz="1000" b="1" dirty="0">
                <a:solidFill>
                  <a:srgbClr val="2563EB"/>
                </a:solidFill>
                <a:latin typeface="Calibri" pitchFamily="34" charset="0"/>
                <a:ea typeface="Calibri" pitchFamily="34" charset="-122"/>
                <a:cs typeface="Calibri" pitchFamily="34" charset="-120"/>
              </a:rPr>
              <a:t>tests C2</a:t>
            </a:r>
            <a:endParaRPr lang="en-US" sz="1000" dirty="0"/>
          </a:p>
        </p:txBody>
      </p:sp>
      <p:sp>
        <p:nvSpPr>
          <p:cNvPr id="15" name="diag-D2-measurement"/>
          <p:cNvSpPr/>
          <p:nvPr/>
        </p:nvSpPr>
        <p:spPr>
          <a:xfrm>
            <a:off x="566928" y="2505456"/>
            <a:ext cx="6302968" cy="1042416"/>
          </a:xfrm>
          <a:prstGeom prst="roundRect">
            <a:avLst>
              <a:gd name="adj" fmla="val 9649"/>
            </a:avLst>
          </a:prstGeom>
          <a:solidFill>
            <a:srgbClr val="F9FAFB"/>
          </a:solidFill>
          <a:ln w="13970">
            <a:solidFill>
              <a:srgbClr val="E5E7EB"/>
            </a:solidFill>
            <a:prstDash val="solid"/>
            <a:headEnd type="none"/>
            <a:tailEnd type="none"/>
          </a:ln>
        </p:spPr>
      </p:sp>
      <p:sp>
        <p:nvSpPr>
          <p:cNvPr id="16" name="diag-D2-measurement-k"/>
          <p:cNvSpPr/>
          <p:nvPr/>
        </p:nvSpPr>
        <p:spPr>
          <a:xfrm>
            <a:off x="768096" y="2596896"/>
            <a:ext cx="5900632" cy="237744"/>
          </a:xfrm>
          <a:prstGeom prst="rect">
            <a:avLst/>
          </a:prstGeom>
          <a:noFill/>
          <a:ln/>
        </p:spPr>
        <p:txBody>
          <a:bodyPr wrap="square" lIns="254" tIns="254" rIns="254" bIns="254" rtlCol="0" anchor="ctr"/>
          <a:lstStyle/>
          <a:p>
            <a:pPr algn="l" indent="0" marL="0">
              <a:lnSpc>
                <a:spcPts val="1200"/>
              </a:lnSpc>
              <a:buNone/>
            </a:pPr>
            <a:r>
              <a:rPr lang="en-US" sz="1000" b="1" dirty="0">
                <a:solidFill>
                  <a:srgbClr val="6B7280"/>
                </a:solidFill>
                <a:latin typeface="Calibri" pitchFamily="34" charset="0"/>
                <a:ea typeface="Calibri" pitchFamily="34" charset="-122"/>
                <a:cs typeface="Calibri" pitchFamily="34" charset="-120"/>
              </a:rPr>
              <a:t>MEASUREMENT</a:t>
            </a:r>
            <a:endParaRPr lang="en-US" sz="1000" dirty="0"/>
          </a:p>
        </p:txBody>
      </p:sp>
      <p:sp>
        <p:nvSpPr>
          <p:cNvPr id="17" name="diag-D2-measurement-t"/>
          <p:cNvSpPr/>
          <p:nvPr/>
        </p:nvSpPr>
        <p:spPr>
          <a:xfrm>
            <a:off x="768096" y="2871216"/>
            <a:ext cx="5900632" cy="585216"/>
          </a:xfrm>
          <a:prstGeom prst="rect">
            <a:avLst/>
          </a:prstGeom>
          <a:noFill/>
          <a:ln/>
        </p:spPr>
        <p:txBody>
          <a:bodyPr wrap="square" lIns="254" tIns="254" rIns="254" bIns="254" rtlCol="0" anchor="t"/>
          <a:lstStyle/>
          <a:p>
            <a:pPr algn="l" indent="0" marL="0">
              <a:lnSpc>
                <a:spcPts val="1800"/>
              </a:lnSpc>
              <a:buNone/>
            </a:pPr>
            <a:r>
              <a:rPr lang="en-US" sz="1500" dirty="0">
                <a:solidFill>
                  <a:srgbClr val="111827"/>
                </a:solidFill>
                <a:latin typeface="Consolas" pitchFamily="34" charset="0"/>
                <a:ea typeface="Consolas" pitchFamily="34" charset="-122"/>
                <a:cs typeface="Consolas" pitchFamily="34" charset="-120"/>
              </a:rPr>
              <a:t>linear probe R^2 for recovering Z_d from the corrected feature = 0.34; downstream accuracy = 0.91</a:t>
            </a:r>
            <a:endParaRPr lang="en-US" sz="1500" dirty="0"/>
          </a:p>
        </p:txBody>
      </p:sp>
      <p:sp>
        <p:nvSpPr>
          <p:cNvPr id="18" name="diag-D2-observation"/>
          <p:cNvSpPr/>
          <p:nvPr/>
        </p:nvSpPr>
        <p:spPr>
          <a:xfrm>
            <a:off x="566928" y="3639312"/>
            <a:ext cx="6302968" cy="1042416"/>
          </a:xfrm>
          <a:prstGeom prst="roundRect">
            <a:avLst>
              <a:gd name="adj" fmla="val 9649"/>
            </a:avLst>
          </a:prstGeom>
          <a:solidFill>
            <a:srgbClr val="FFFFFF"/>
          </a:solidFill>
          <a:ln w="13970">
            <a:solidFill>
              <a:srgbClr val="E5E7EB"/>
            </a:solidFill>
            <a:prstDash val="solid"/>
            <a:headEnd type="none"/>
            <a:tailEnd type="none"/>
          </a:ln>
        </p:spPr>
      </p:sp>
      <p:sp>
        <p:nvSpPr>
          <p:cNvPr id="19" name="diag-D2-observation-k"/>
          <p:cNvSpPr/>
          <p:nvPr/>
        </p:nvSpPr>
        <p:spPr>
          <a:xfrm>
            <a:off x="768096" y="3730752"/>
            <a:ext cx="5900632" cy="237744"/>
          </a:xfrm>
          <a:prstGeom prst="rect">
            <a:avLst/>
          </a:prstGeom>
          <a:noFill/>
          <a:ln/>
        </p:spPr>
        <p:txBody>
          <a:bodyPr wrap="square" lIns="254" tIns="254" rIns="254" bIns="254" rtlCol="0" anchor="ctr"/>
          <a:lstStyle/>
          <a:p>
            <a:pPr algn="l" indent="0" marL="0">
              <a:lnSpc>
                <a:spcPts val="1200"/>
              </a:lnSpc>
              <a:buNone/>
            </a:pPr>
            <a:r>
              <a:rPr lang="en-US" sz="1000" b="1" dirty="0">
                <a:solidFill>
                  <a:srgbClr val="374151"/>
                </a:solidFill>
                <a:latin typeface="Calibri" pitchFamily="34" charset="0"/>
                <a:ea typeface="Calibri" pitchFamily="34" charset="-122"/>
                <a:cs typeface="Calibri" pitchFamily="34" charset="-120"/>
              </a:rPr>
              <a:t>OBSERVATION</a:t>
            </a:r>
            <a:endParaRPr lang="en-US" sz="1000" dirty="0"/>
          </a:p>
        </p:txBody>
      </p:sp>
      <p:sp>
        <p:nvSpPr>
          <p:cNvPr id="20" name="diag-D2-observation-t"/>
          <p:cNvSpPr/>
          <p:nvPr/>
        </p:nvSpPr>
        <p:spPr>
          <a:xfrm>
            <a:off x="768096" y="4005072"/>
            <a:ext cx="5900632" cy="585216"/>
          </a:xfrm>
          <a:prstGeom prst="rect">
            <a:avLst/>
          </a:prstGeom>
          <a:noFill/>
          <a:ln/>
        </p:spPr>
        <p:txBody>
          <a:bodyPr wrap="square" lIns="254" tIns="254" rIns="254" bIns="254" rtlCol="0" anchor="t"/>
          <a:lstStyle/>
          <a:p>
            <a:pPr algn="l" indent="0" marL="0">
              <a:lnSpc>
                <a:spcPts val="1800"/>
              </a:lnSpc>
              <a:buNone/>
            </a:pPr>
            <a:r>
              <a:rPr lang="en-US" sz="1400" dirty="0">
                <a:solidFill>
                  <a:srgbClr val="111827"/>
                </a:solidFill>
                <a:latin typeface="Calibri" pitchFamily="34" charset="0"/>
                <a:ea typeface="Calibri" pitchFamily="34" charset="-122"/>
                <a:cs typeface="Calibri" pitchFamily="34" charset="-120"/>
              </a:rPr>
              <a:t>Downstream accuracy is high while feature recovery remains low.</a:t>
            </a:r>
            <a:endParaRPr lang="en-US" sz="1400" dirty="0"/>
          </a:p>
        </p:txBody>
      </p:sp>
      <p:sp>
        <p:nvSpPr>
          <p:cNvPr id="21" name="diag-D2-interpretation"/>
          <p:cNvSpPr/>
          <p:nvPr/>
        </p:nvSpPr>
        <p:spPr>
          <a:xfrm>
            <a:off x="566928" y="4773168"/>
            <a:ext cx="6302968" cy="1042416"/>
          </a:xfrm>
          <a:prstGeom prst="roundRect">
            <a:avLst>
              <a:gd name="adj" fmla="val 9649"/>
            </a:avLst>
          </a:prstGeom>
          <a:solidFill>
            <a:srgbClr val="EAF1FE"/>
          </a:solidFill>
          <a:ln w="13970">
            <a:solidFill>
              <a:srgbClr val="2563EB"/>
            </a:solidFill>
            <a:prstDash val="solid"/>
            <a:headEnd type="none"/>
            <a:tailEnd type="none"/>
          </a:ln>
        </p:spPr>
      </p:sp>
      <p:sp>
        <p:nvSpPr>
          <p:cNvPr id="22" name="diag-D2-interpretation-k"/>
          <p:cNvSpPr/>
          <p:nvPr/>
        </p:nvSpPr>
        <p:spPr>
          <a:xfrm>
            <a:off x="768096" y="4864608"/>
            <a:ext cx="5900632" cy="237744"/>
          </a:xfrm>
          <a:prstGeom prst="rect">
            <a:avLst/>
          </a:prstGeom>
          <a:noFill/>
          <a:ln/>
        </p:spPr>
        <p:txBody>
          <a:bodyPr wrap="square" lIns="254" tIns="254" rIns="254" bIns="254" rtlCol="0" anchor="ctr"/>
          <a:lstStyle/>
          <a:p>
            <a:pPr algn="l" indent="0" marL="0">
              <a:lnSpc>
                <a:spcPts val="1200"/>
              </a:lnSpc>
              <a:buNone/>
            </a:pPr>
            <a:r>
              <a:rPr lang="en-US" sz="1000" b="1" dirty="0">
                <a:solidFill>
                  <a:srgbClr val="2563EB"/>
                </a:solidFill>
                <a:latin typeface="Calibri" pitchFamily="34" charset="0"/>
                <a:ea typeface="Calibri" pitchFamily="34" charset="-122"/>
                <a:cs typeface="Calibri" pitchFamily="34" charset="-120"/>
              </a:rPr>
              <a:t>INTERPRETATION</a:t>
            </a:r>
            <a:endParaRPr lang="en-US" sz="1000" dirty="0"/>
          </a:p>
        </p:txBody>
      </p:sp>
      <p:sp>
        <p:nvSpPr>
          <p:cNvPr id="23" name="diag-D2-interpretation-t"/>
          <p:cNvSpPr/>
          <p:nvPr/>
        </p:nvSpPr>
        <p:spPr>
          <a:xfrm>
            <a:off x="768096" y="5138928"/>
            <a:ext cx="5900632" cy="585216"/>
          </a:xfrm>
          <a:prstGeom prst="rect">
            <a:avLst/>
          </a:prstGeom>
          <a:noFill/>
          <a:ln/>
        </p:spPr>
        <p:txBody>
          <a:bodyPr wrap="square" lIns="254" tIns="254" rIns="254" bIns="254" rtlCol="0" anchor="t"/>
          <a:lstStyle/>
          <a:p>
            <a:pPr algn="l" indent="0" marL="0">
              <a:lnSpc>
                <a:spcPts val="1800"/>
              </a:lnSpc>
              <a:buNone/>
            </a:pPr>
            <a:r>
              <a:rPr lang="en-US" sz="1400" dirty="0">
                <a:solidFill>
                  <a:srgbClr val="111827"/>
                </a:solidFill>
                <a:latin typeface="Calibri" pitchFamily="34" charset="0"/>
                <a:ea typeface="Calibri" pitchFamily="34" charset="-122"/>
                <a:cs typeface="Calibri" pitchFamily="34" charset="-120"/>
              </a:rPr>
              <a:t>A downstream-valid pre-image that is not the true future feature may be sufficient.</a:t>
            </a:r>
            <a:endParaRPr lang="en-US" sz="1400" dirty="0"/>
          </a:p>
        </p:txBody>
      </p:sp>
      <p:sp>
        <p:nvSpPr>
          <p:cNvPr id="24" name="diag-D2-can_conclude"/>
          <p:cNvSpPr/>
          <p:nvPr/>
        </p:nvSpPr>
        <p:spPr>
          <a:xfrm>
            <a:off x="7201632" y="2505456"/>
            <a:ext cx="4423136" cy="1042416"/>
          </a:xfrm>
          <a:prstGeom prst="roundRect">
            <a:avLst>
              <a:gd name="adj" fmla="val 9649"/>
            </a:avLst>
          </a:prstGeom>
          <a:solidFill>
            <a:srgbClr val="DCFCE7"/>
          </a:solidFill>
          <a:ln w="13970">
            <a:solidFill>
              <a:srgbClr val="047857"/>
            </a:solidFill>
            <a:prstDash val="solid"/>
            <a:headEnd type="none"/>
            <a:tailEnd type="none"/>
          </a:ln>
        </p:spPr>
      </p:sp>
      <p:sp>
        <p:nvSpPr>
          <p:cNvPr id="25" name="diag-D2-can_conclude-k"/>
          <p:cNvSpPr/>
          <p:nvPr/>
        </p:nvSpPr>
        <p:spPr>
          <a:xfrm>
            <a:off x="7402800" y="2596896"/>
            <a:ext cx="4020800" cy="237744"/>
          </a:xfrm>
          <a:prstGeom prst="rect">
            <a:avLst/>
          </a:prstGeom>
          <a:noFill/>
          <a:ln/>
        </p:spPr>
        <p:txBody>
          <a:bodyPr wrap="square" lIns="254" tIns="254" rIns="254" bIns="254" rtlCol="0" anchor="ctr"/>
          <a:lstStyle/>
          <a:p>
            <a:pPr algn="l" indent="0" marL="0">
              <a:lnSpc>
                <a:spcPts val="1200"/>
              </a:lnSpc>
              <a:buNone/>
            </a:pPr>
            <a:r>
              <a:rPr lang="en-US" sz="1000" b="1" dirty="0">
                <a:solidFill>
                  <a:srgbClr val="047857"/>
                </a:solidFill>
                <a:latin typeface="Calibri" pitchFamily="34" charset="0"/>
                <a:ea typeface="Calibri" pitchFamily="34" charset="-122"/>
                <a:cs typeface="Calibri" pitchFamily="34" charset="-120"/>
              </a:rPr>
              <a:t>CAN CONCLUDE</a:t>
            </a:r>
            <a:endParaRPr lang="en-US" sz="1000" dirty="0"/>
          </a:p>
        </p:txBody>
      </p:sp>
      <p:sp>
        <p:nvSpPr>
          <p:cNvPr id="26" name="diag-D2-can_conclude-t"/>
          <p:cNvSpPr/>
          <p:nvPr/>
        </p:nvSpPr>
        <p:spPr>
          <a:xfrm>
            <a:off x="7402800" y="2871216"/>
            <a:ext cx="4020800" cy="585216"/>
          </a:xfrm>
          <a:prstGeom prst="rect">
            <a:avLst/>
          </a:prstGeom>
          <a:noFill/>
          <a:ln/>
        </p:spPr>
        <p:txBody>
          <a:bodyPr wrap="square" lIns="254" tIns="254" rIns="254" bIns="254" rtlCol="0" anchor="t"/>
          <a:lstStyle/>
          <a:p>
            <a:pPr algn="l" indent="0" marL="0">
              <a:lnSpc>
                <a:spcPts val="1700"/>
              </a:lnSpc>
              <a:buNone/>
            </a:pPr>
            <a:r>
              <a:rPr lang="en-US" sz="1200" dirty="0">
                <a:solidFill>
                  <a:srgbClr val="374151"/>
                </a:solidFill>
                <a:latin typeface="Calibri" pitchFamily="34" charset="0"/>
                <a:ea typeface="Calibri" pitchFamily="34" charset="-122"/>
                <a:cs typeface="Calibri" pitchFamily="34" charset="-120"/>
              </a:rPr>
              <a:t>Output recovery can occur without strong feature recovery in this setup.</a:t>
            </a:r>
            <a:endParaRPr lang="en-US" sz="1200" dirty="0"/>
          </a:p>
        </p:txBody>
      </p:sp>
      <p:sp>
        <p:nvSpPr>
          <p:cNvPr id="27" name="diag-D2-cannot_conclude"/>
          <p:cNvSpPr/>
          <p:nvPr/>
        </p:nvSpPr>
        <p:spPr>
          <a:xfrm>
            <a:off x="7201632" y="3639312"/>
            <a:ext cx="4423136" cy="1042416"/>
          </a:xfrm>
          <a:prstGeom prst="roundRect">
            <a:avLst>
              <a:gd name="adj" fmla="val 9649"/>
            </a:avLst>
          </a:prstGeom>
          <a:solidFill>
            <a:srgbClr val="FEE2E2"/>
          </a:solidFill>
          <a:ln w="13970">
            <a:solidFill>
              <a:srgbClr val="B91C1C"/>
            </a:solidFill>
            <a:prstDash val="solid"/>
            <a:headEnd type="none"/>
            <a:tailEnd type="none"/>
          </a:ln>
        </p:spPr>
      </p:sp>
      <p:sp>
        <p:nvSpPr>
          <p:cNvPr id="28" name="diag-D2-cannot_conclude-k"/>
          <p:cNvSpPr/>
          <p:nvPr/>
        </p:nvSpPr>
        <p:spPr>
          <a:xfrm>
            <a:off x="7402800" y="3730752"/>
            <a:ext cx="4020800" cy="237744"/>
          </a:xfrm>
          <a:prstGeom prst="rect">
            <a:avLst/>
          </a:prstGeom>
          <a:noFill/>
          <a:ln/>
        </p:spPr>
        <p:txBody>
          <a:bodyPr wrap="square" lIns="254" tIns="254" rIns="254" bIns="254" rtlCol="0" anchor="ctr"/>
          <a:lstStyle/>
          <a:p>
            <a:pPr algn="l" indent="0" marL="0">
              <a:lnSpc>
                <a:spcPts val="1200"/>
              </a:lnSpc>
              <a:buNone/>
            </a:pPr>
            <a:r>
              <a:rPr lang="en-US" sz="1000" b="1" dirty="0">
                <a:solidFill>
                  <a:srgbClr val="B91C1C"/>
                </a:solidFill>
                <a:latin typeface="Calibri" pitchFamily="34" charset="0"/>
                <a:ea typeface="Calibri" pitchFamily="34" charset="-122"/>
                <a:cs typeface="Calibri" pitchFamily="34" charset="-120"/>
              </a:rPr>
              <a:t>CANNOT CONCLUDE</a:t>
            </a:r>
            <a:endParaRPr lang="en-US" sz="1000" dirty="0"/>
          </a:p>
        </p:txBody>
      </p:sp>
      <p:sp>
        <p:nvSpPr>
          <p:cNvPr id="29" name="diag-D2-cannot_conclude-t"/>
          <p:cNvSpPr/>
          <p:nvPr/>
        </p:nvSpPr>
        <p:spPr>
          <a:xfrm>
            <a:off x="7402800" y="4005072"/>
            <a:ext cx="4020800" cy="585216"/>
          </a:xfrm>
          <a:prstGeom prst="rect">
            <a:avLst/>
          </a:prstGeom>
          <a:noFill/>
          <a:ln/>
        </p:spPr>
        <p:txBody>
          <a:bodyPr wrap="square" lIns="254" tIns="254" rIns="254" bIns="254" rtlCol="0" anchor="t"/>
          <a:lstStyle/>
          <a:p>
            <a:pPr algn="l" indent="0" marL="0">
              <a:lnSpc>
                <a:spcPts val="1700"/>
              </a:lnSpc>
              <a:buNone/>
            </a:pPr>
            <a:r>
              <a:rPr lang="en-US" sz="1200" dirty="0">
                <a:solidFill>
                  <a:srgbClr val="374151"/>
                </a:solidFill>
                <a:latin typeface="Calibri" pitchFamily="34" charset="0"/>
                <a:ea typeface="Calibri" pitchFamily="34" charset="-122"/>
                <a:cs typeface="Calibri" pitchFamily="34" charset="-120"/>
              </a:rPr>
              <a:t>That no valid feature recovery exists, or that the probe is a complete measurement.</a:t>
            </a:r>
            <a:endParaRPr lang="en-US" sz="1200" dirty="0"/>
          </a:p>
        </p:txBody>
      </p:sp>
      <p:sp>
        <p:nvSpPr>
          <p:cNvPr id="30" name="diag-D2-alternative_explanation"/>
          <p:cNvSpPr/>
          <p:nvPr/>
        </p:nvSpPr>
        <p:spPr>
          <a:xfrm>
            <a:off x="7201632" y="4773168"/>
            <a:ext cx="4423136" cy="1042416"/>
          </a:xfrm>
          <a:prstGeom prst="roundRect">
            <a:avLst>
              <a:gd name="adj" fmla="val 9649"/>
            </a:avLst>
          </a:prstGeom>
          <a:solidFill>
            <a:srgbClr val="F9FAFB"/>
          </a:solidFill>
          <a:ln w="13970">
            <a:solidFill>
              <a:srgbClr val="6B7280"/>
            </a:solidFill>
            <a:prstDash val="solid"/>
            <a:headEnd type="none"/>
            <a:tailEnd type="none"/>
          </a:ln>
        </p:spPr>
      </p:sp>
      <p:sp>
        <p:nvSpPr>
          <p:cNvPr id="31" name="diag-D2-alternative_explanation-k"/>
          <p:cNvSpPr/>
          <p:nvPr/>
        </p:nvSpPr>
        <p:spPr>
          <a:xfrm>
            <a:off x="7402800" y="4864608"/>
            <a:ext cx="4020800" cy="237744"/>
          </a:xfrm>
          <a:prstGeom prst="rect">
            <a:avLst/>
          </a:prstGeom>
          <a:noFill/>
          <a:ln/>
        </p:spPr>
        <p:txBody>
          <a:bodyPr wrap="square" lIns="254" tIns="254" rIns="254" bIns="254" rtlCol="0" anchor="ctr"/>
          <a:lstStyle/>
          <a:p>
            <a:pPr algn="l" indent="0" marL="0">
              <a:lnSpc>
                <a:spcPts val="1200"/>
              </a:lnSpc>
              <a:buNone/>
            </a:pPr>
            <a:r>
              <a:rPr lang="en-US" sz="1000" b="1" dirty="0">
                <a:solidFill>
                  <a:srgbClr val="6B7280"/>
                </a:solidFill>
                <a:latin typeface="Calibri" pitchFamily="34" charset="0"/>
                <a:ea typeface="Calibri" pitchFamily="34" charset="-122"/>
                <a:cs typeface="Calibri" pitchFamily="34" charset="-120"/>
              </a:rPr>
              <a:t>ALTERNATIVE TARGETED</a:t>
            </a:r>
            <a:endParaRPr lang="en-US" sz="1000" dirty="0"/>
          </a:p>
        </p:txBody>
      </p:sp>
      <p:sp>
        <p:nvSpPr>
          <p:cNvPr id="32" name="diag-D2-alternative_explanation-t"/>
          <p:cNvSpPr/>
          <p:nvPr/>
        </p:nvSpPr>
        <p:spPr>
          <a:xfrm>
            <a:off x="7402800" y="5138928"/>
            <a:ext cx="4020800" cy="585216"/>
          </a:xfrm>
          <a:prstGeom prst="rect">
            <a:avLst/>
          </a:prstGeom>
          <a:noFill/>
          <a:ln/>
        </p:spPr>
        <p:txBody>
          <a:bodyPr wrap="square" lIns="254" tIns="254" rIns="254" bIns="254" rtlCol="0" anchor="t"/>
          <a:lstStyle/>
          <a:p>
            <a:pPr algn="l" indent="0" marL="0">
              <a:lnSpc>
                <a:spcPts val="1700"/>
              </a:lnSpc>
              <a:buNone/>
            </a:pPr>
            <a:r>
              <a:rPr lang="en-US" sz="1200" dirty="0">
                <a:solidFill>
                  <a:srgbClr val="374151"/>
                </a:solidFill>
                <a:latin typeface="Calibri" pitchFamily="34" charset="0"/>
                <a:ea typeface="Calibri" pitchFamily="34" charset="-122"/>
                <a:cs typeface="Calibri" pitchFamily="34" charset="-120"/>
              </a:rPr>
              <a:t>The probe may fail to decode information that is present in the feature.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rgbClr val="FFFFFF"/>
          </a:solidFill>
          <a:ln/>
        </p:spPr>
      </p:sp>
      <p:sp>
        <p:nvSpPr>
          <p:cNvPr id="3" name="kicker"/>
          <p:cNvSpPr/>
          <p:nvPr/>
        </p:nvSpPr>
        <p:spPr>
          <a:xfrm>
            <a:off x="566928" y="365760"/>
            <a:ext cx="6855860" cy="237744"/>
          </a:xfrm>
          <a:prstGeom prst="rect">
            <a:avLst/>
          </a:prstGeom>
          <a:noFill/>
          <a:ln/>
        </p:spPr>
        <p:txBody>
          <a:bodyPr wrap="square" lIns="254" tIns="254" rIns="254" bIns="254" rtlCol="0" anchor="ctr"/>
          <a:lstStyle/>
          <a:p>
            <a:pPr algn="l" indent="0" marL="0">
              <a:lnSpc>
                <a:spcPts val="1400"/>
              </a:lnSpc>
              <a:buNone/>
            </a:pPr>
            <a:r>
              <a:rPr lang="en-US" sz="1200" b="1" dirty="0">
                <a:solidFill>
                  <a:srgbClr val="2563EB"/>
                </a:solidFill>
                <a:latin typeface="Calibri" pitchFamily="34" charset="0"/>
                <a:ea typeface="Calibri" pitchFamily="34" charset="-122"/>
                <a:cs typeface="Calibri" pitchFamily="34" charset="-120"/>
              </a:rPr>
              <a:t>LIMITATIONS</a:t>
            </a:r>
            <a:endParaRPr lang="en-US" sz="1200" dirty="0"/>
          </a:p>
        </p:txBody>
      </p:sp>
      <p:sp>
        <p:nvSpPr>
          <p:cNvPr id="4" name="header-meta"/>
          <p:cNvSpPr/>
          <p:nvPr/>
        </p:nvSpPr>
        <p:spPr>
          <a:xfrm>
            <a:off x="6648740" y="365760"/>
            <a:ext cx="4976028" cy="237744"/>
          </a:xfrm>
          <a:prstGeom prst="rect">
            <a:avLst/>
          </a:prstGeom>
          <a:noFill/>
          <a:ln/>
        </p:spPr>
        <p:txBody>
          <a:bodyPr wrap="square" lIns="254" tIns="254" rIns="254" bIns="254" rtlCol="0" anchor="ctr"/>
          <a:lstStyle/>
          <a:p>
            <a:pPr algn="r" indent="0" marL="0">
              <a:lnSpc>
                <a:spcPts val="1200"/>
              </a:lnSpc>
              <a:buNone/>
            </a:pPr>
            <a:r>
              <a:rPr lang="en-US" sz="1000" dirty="0">
                <a:solidFill>
                  <a:srgbClr val="6B7280"/>
                </a:solidFill>
                <a:latin typeface="Calibri" pitchFamily="34" charset="0"/>
                <a:ea typeface="Calibri" pitchFamily="34" charset="-122"/>
                <a:cs typeface="Calibri" pitchFamily="34" charset="-120"/>
              </a:rPr>
              <a:t>Cached Future-Feature Prediction  ·  Week 6</a:t>
            </a:r>
            <a:endParaRPr lang="en-US" sz="1000" dirty="0"/>
          </a:p>
        </p:txBody>
      </p:sp>
      <p:sp>
        <p:nvSpPr>
          <p:cNvPr id="5" name="title-main"/>
          <p:cNvSpPr/>
          <p:nvPr/>
        </p:nvSpPr>
        <p:spPr>
          <a:xfrm>
            <a:off x="566928" y="621792"/>
            <a:ext cx="11057839" cy="548640"/>
          </a:xfrm>
          <a:prstGeom prst="rect">
            <a:avLst/>
          </a:prstGeom>
          <a:noFill/>
          <a:ln/>
        </p:spPr>
        <p:txBody>
          <a:bodyPr wrap="square" lIns="254" tIns="254" rIns="254" bIns="254" rtlCol="0" anchor="ctr"/>
          <a:lstStyle/>
          <a:p>
            <a:pPr algn="l" indent="0" marL="0">
              <a:lnSpc>
                <a:spcPts val="3000"/>
              </a:lnSpc>
              <a:buNone/>
            </a:pPr>
            <a:r>
              <a:rPr lang="en-US" sz="2700" b="1" dirty="0">
                <a:solidFill>
                  <a:srgbClr val="111827"/>
                </a:solidFill>
                <a:latin typeface="Calibri" pitchFamily="34" charset="0"/>
                <a:ea typeface="Calibri" pitchFamily="34" charset="-122"/>
                <a:cs typeface="Calibri" pitchFamily="34" charset="-120"/>
              </a:rPr>
              <a:t>Limitations and open questions</a:t>
            </a:r>
            <a:endParaRPr lang="en-US" sz="2700" dirty="0"/>
          </a:p>
        </p:txBody>
      </p:sp>
      <p:sp>
        <p:nvSpPr>
          <p:cNvPr id="6" name="chrome-rule"/>
          <p:cNvSpPr/>
          <p:nvPr/>
        </p:nvSpPr>
        <p:spPr>
          <a:xfrm>
            <a:off x="566928" y="1243584"/>
            <a:ext cx="11057839" cy="20117"/>
          </a:xfrm>
          <a:prstGeom prst="rect">
            <a:avLst/>
          </a:prstGeom>
          <a:solidFill>
            <a:srgbClr val="E5E7EB"/>
          </a:solidFill>
          <a:ln/>
        </p:spPr>
      </p:sp>
      <p:sp>
        <p:nvSpPr>
          <p:cNvPr id="7" name="chrome-rule-accent"/>
          <p:cNvSpPr/>
          <p:nvPr/>
        </p:nvSpPr>
        <p:spPr>
          <a:xfrm>
            <a:off x="566928" y="1243584"/>
            <a:ext cx="1051560" cy="20117"/>
          </a:xfrm>
          <a:prstGeom prst="rect">
            <a:avLst/>
          </a:prstGeom>
          <a:solidFill>
            <a:srgbClr val="2563EB"/>
          </a:solidFill>
          <a:ln/>
        </p:spPr>
      </p:sp>
      <p:sp>
        <p:nvSpPr>
          <p:cNvPr id="8" name="footer-text"/>
          <p:cNvSpPr/>
          <p:nvPr/>
        </p:nvSpPr>
        <p:spPr>
          <a:xfrm>
            <a:off x="566928" y="6419088"/>
            <a:ext cx="8293379" cy="237744"/>
          </a:xfrm>
          <a:prstGeom prst="rect">
            <a:avLst/>
          </a:prstGeom>
          <a:noFill/>
          <a:ln/>
        </p:spPr>
        <p:txBody>
          <a:bodyPr wrap="square" lIns="254" tIns="254" rIns="254" bIns="254" rtlCol="0" anchor="ctr"/>
          <a:lstStyle/>
          <a:p>
            <a:pPr algn="l" indent="0" marL="0">
              <a:lnSpc>
                <a:spcPts val="1200"/>
              </a:lnSpc>
              <a:buNone/>
            </a:pPr>
            <a:r>
              <a:rPr lang="en-US" sz="1000" dirty="0">
                <a:solidFill>
                  <a:srgbClr val="9CA3AF"/>
                </a:solidFill>
                <a:latin typeface="Calibri" pitchFamily="34" charset="0"/>
                <a:ea typeface="Calibri" pitchFamily="34" charset="-122"/>
                <a:cs typeface="Calibri" pitchFamily="34" charset="-120"/>
              </a:rPr>
              <a:t>Cached Future-Feature Prediction · synthetic demo</a:t>
            </a:r>
            <a:endParaRPr lang="en-US" sz="1000" dirty="0"/>
          </a:p>
        </p:txBody>
      </p:sp>
      <p:sp>
        <p:nvSpPr>
          <p:cNvPr id="9" name="footer-slide-number"/>
          <p:cNvSpPr/>
          <p:nvPr/>
        </p:nvSpPr>
        <p:spPr>
          <a:xfrm>
            <a:off x="10076670" y="6419088"/>
            <a:ext cx="1548097" cy="237744"/>
          </a:xfrm>
          <a:prstGeom prst="rect">
            <a:avLst/>
          </a:prstGeom>
          <a:noFill/>
          <a:ln/>
        </p:spPr>
        <p:txBody>
          <a:bodyPr wrap="square" lIns="254" tIns="254" rIns="254" bIns="254" rtlCol="0" anchor="ctr"/>
          <a:lstStyle/>
          <a:p>
            <a:pPr algn="r" indent="0" marL="0">
              <a:lnSpc>
                <a:spcPts val="1200"/>
              </a:lnSpc>
              <a:buNone/>
            </a:pPr>
            <a:r>
              <a:rPr lang="en-US" sz="1000" dirty="0">
                <a:solidFill>
                  <a:srgbClr val="9CA3AF"/>
                </a:solidFill>
                <a:latin typeface="Calibri" pitchFamily="34" charset="0"/>
                <a:ea typeface="Calibri" pitchFamily="34" charset="-122"/>
                <a:cs typeface="Calibri" pitchFamily="34" charset="-120"/>
              </a:rPr>
              <a:t>10 / 10</a:t>
            </a:r>
            <a:endParaRPr lang="en-US" sz="1000" dirty="0"/>
          </a:p>
        </p:txBody>
      </p:sp>
      <p:sp>
        <p:nvSpPr>
          <p:cNvPr id="10" name="lim-panel"/>
          <p:cNvSpPr/>
          <p:nvPr/>
        </p:nvSpPr>
        <p:spPr>
          <a:xfrm>
            <a:off x="566928" y="1572768"/>
            <a:ext cx="5750076" cy="4297680"/>
          </a:xfrm>
          <a:prstGeom prst="roundRect">
            <a:avLst>
              <a:gd name="adj" fmla="val 2340"/>
            </a:avLst>
          </a:prstGeom>
          <a:solidFill>
            <a:srgbClr val="F9FAFB"/>
          </a:solidFill>
          <a:ln w="13970">
            <a:solidFill>
              <a:srgbClr val="E5E7EB"/>
            </a:solidFill>
            <a:prstDash val="solid"/>
            <a:headEnd type="none"/>
            <a:tailEnd type="none"/>
          </a:ln>
        </p:spPr>
      </p:sp>
      <p:sp>
        <p:nvSpPr>
          <p:cNvPr id="11" name="lim-panel__title"/>
          <p:cNvSpPr/>
          <p:nvPr/>
        </p:nvSpPr>
        <p:spPr>
          <a:xfrm>
            <a:off x="768096" y="1719072"/>
            <a:ext cx="5347740" cy="274320"/>
          </a:xfrm>
          <a:prstGeom prst="rect">
            <a:avLst/>
          </a:prstGeom>
          <a:noFill/>
          <a:ln/>
        </p:spPr>
        <p:txBody>
          <a:bodyPr wrap="square" lIns="254" tIns="254" rIns="254" bIns="254" rtlCol="0" anchor="ctr"/>
          <a:lstStyle/>
          <a:p>
            <a:pPr algn="l" indent="0" marL="0">
              <a:lnSpc>
                <a:spcPts val="1700"/>
              </a:lnSpc>
              <a:buNone/>
            </a:pPr>
            <a:r>
              <a:rPr lang="en-US" sz="1400" b="1" dirty="0">
                <a:solidFill>
                  <a:srgbClr val="111827"/>
                </a:solidFill>
                <a:latin typeface="Calibri" pitchFamily="34" charset="0"/>
                <a:ea typeface="Calibri" pitchFamily="34" charset="-122"/>
                <a:cs typeface="Calibri" pitchFamily="34" charset="-120"/>
              </a:rPr>
              <a:t>Current limitations</a:t>
            </a:r>
            <a:endParaRPr lang="en-US" sz="1400" dirty="0"/>
          </a:p>
        </p:txBody>
      </p:sp>
      <p:sp>
        <p:nvSpPr>
          <p:cNvPr id="12" name="lim-0-n"/>
          <p:cNvSpPr/>
          <p:nvPr/>
        </p:nvSpPr>
        <p:spPr>
          <a:xfrm>
            <a:off x="804672" y="2231136"/>
            <a:ext cx="365760" cy="365760"/>
          </a:xfrm>
          <a:prstGeom prst="rect">
            <a:avLst/>
          </a:prstGeom>
          <a:noFill/>
          <a:ln/>
        </p:spPr>
        <p:txBody>
          <a:bodyPr wrap="square" lIns="254" tIns="254" rIns="254" bIns="254" rtlCol="0" anchor="ctr"/>
          <a:lstStyle/>
          <a:p>
            <a:pPr algn="l" indent="0" marL="0">
              <a:lnSpc>
                <a:spcPts val="1800"/>
              </a:lnSpc>
              <a:buNone/>
            </a:pPr>
            <a:r>
              <a:rPr lang="en-US" sz="1500" b="1" dirty="0">
                <a:solidFill>
                  <a:srgbClr val="B91C1C"/>
                </a:solidFill>
                <a:latin typeface="Calibri" pitchFamily="34" charset="0"/>
                <a:ea typeface="Calibri" pitchFamily="34" charset="-122"/>
                <a:cs typeface="Calibri" pitchFamily="34" charset="-120"/>
              </a:rPr>
              <a:t>1</a:t>
            </a:r>
            <a:endParaRPr lang="en-US" sz="1500" dirty="0"/>
          </a:p>
        </p:txBody>
      </p:sp>
      <p:sp>
        <p:nvSpPr>
          <p:cNvPr id="13" name="lim-0"/>
          <p:cNvSpPr/>
          <p:nvPr/>
        </p:nvSpPr>
        <p:spPr>
          <a:xfrm>
            <a:off x="1188720" y="2231136"/>
            <a:ext cx="4872252" cy="786384"/>
          </a:xfrm>
          <a:prstGeom prst="rect">
            <a:avLst/>
          </a:prstGeom>
          <a:noFill/>
          <a:ln/>
        </p:spPr>
        <p:txBody>
          <a:bodyPr wrap="square" lIns="254" tIns="254" rIns="254" bIns="254" rtlCol="0" anchor="t"/>
          <a:lstStyle/>
          <a:p>
            <a:pPr algn="l" indent="0" marL="0">
              <a:lnSpc>
                <a:spcPts val="1700"/>
              </a:lnSpc>
              <a:buNone/>
            </a:pPr>
            <a:r>
              <a:rPr lang="en-US" sz="1400" dirty="0">
                <a:solidFill>
                  <a:srgbClr val="374151"/>
                </a:solidFill>
                <a:latin typeface="Calibri" pitchFamily="34" charset="0"/>
                <a:ea typeface="Calibri" pitchFamily="34" charset="-122"/>
                <a:cs typeface="Calibri" pitchFamily="34" charset="-120"/>
              </a:rPr>
              <a:t>Alternative valid pre-images have not been directly characterized.</a:t>
            </a:r>
            <a:endParaRPr lang="en-US" sz="1400" dirty="0"/>
          </a:p>
        </p:txBody>
      </p:sp>
      <p:sp>
        <p:nvSpPr>
          <p:cNvPr id="14" name="lim-1-n"/>
          <p:cNvSpPr/>
          <p:nvPr/>
        </p:nvSpPr>
        <p:spPr>
          <a:xfrm>
            <a:off x="804672" y="3127248"/>
            <a:ext cx="365760" cy="365760"/>
          </a:xfrm>
          <a:prstGeom prst="rect">
            <a:avLst/>
          </a:prstGeom>
          <a:noFill/>
          <a:ln/>
        </p:spPr>
        <p:txBody>
          <a:bodyPr wrap="square" lIns="254" tIns="254" rIns="254" bIns="254" rtlCol="0" anchor="ctr"/>
          <a:lstStyle/>
          <a:p>
            <a:pPr algn="l" indent="0" marL="0">
              <a:lnSpc>
                <a:spcPts val="1800"/>
              </a:lnSpc>
              <a:buNone/>
            </a:pPr>
            <a:r>
              <a:rPr lang="en-US" sz="1500" b="1" dirty="0">
                <a:solidFill>
                  <a:srgbClr val="B91C1C"/>
                </a:solidFill>
                <a:latin typeface="Calibri" pitchFamily="34" charset="0"/>
                <a:ea typeface="Calibri" pitchFamily="34" charset="-122"/>
                <a:cs typeface="Calibri" pitchFamily="34" charset="-120"/>
              </a:rPr>
              <a:t>2</a:t>
            </a:r>
            <a:endParaRPr lang="en-US" sz="1500" dirty="0"/>
          </a:p>
        </p:txBody>
      </p:sp>
      <p:sp>
        <p:nvSpPr>
          <p:cNvPr id="15" name="lim-1"/>
          <p:cNvSpPr/>
          <p:nvPr/>
        </p:nvSpPr>
        <p:spPr>
          <a:xfrm>
            <a:off x="1188720" y="3127248"/>
            <a:ext cx="4872252" cy="786384"/>
          </a:xfrm>
          <a:prstGeom prst="rect">
            <a:avLst/>
          </a:prstGeom>
          <a:noFill/>
          <a:ln/>
        </p:spPr>
        <p:txBody>
          <a:bodyPr wrap="square" lIns="254" tIns="254" rIns="254" bIns="254" rtlCol="0" anchor="t"/>
          <a:lstStyle/>
          <a:p>
            <a:pPr algn="l" indent="0" marL="0">
              <a:lnSpc>
                <a:spcPts val="1700"/>
              </a:lnSpc>
              <a:buNone/>
            </a:pPr>
            <a:r>
              <a:rPr lang="en-US" sz="1400" dirty="0">
                <a:solidFill>
                  <a:srgbClr val="374151"/>
                </a:solidFill>
                <a:latin typeface="Calibri" pitchFamily="34" charset="0"/>
                <a:ea typeface="Calibri" pitchFamily="34" charset="-122"/>
                <a:cs typeface="Calibri" pitchFamily="34" charset="-120"/>
              </a:rPr>
              <a:t>Feature recovery is measured with a single linear probe.</a:t>
            </a:r>
            <a:endParaRPr lang="en-US" sz="1400" dirty="0"/>
          </a:p>
        </p:txBody>
      </p:sp>
      <p:sp>
        <p:nvSpPr>
          <p:cNvPr id="16" name="lim-open"/>
          <p:cNvSpPr/>
          <p:nvPr/>
        </p:nvSpPr>
        <p:spPr>
          <a:xfrm>
            <a:off x="6648740" y="1572768"/>
            <a:ext cx="4976028" cy="4297680"/>
          </a:xfrm>
          <a:prstGeom prst="roundRect">
            <a:avLst>
              <a:gd name="adj" fmla="val 2340"/>
            </a:avLst>
          </a:prstGeom>
          <a:solidFill>
            <a:srgbClr val="F9FAFB"/>
          </a:solidFill>
          <a:ln w="13970">
            <a:solidFill>
              <a:srgbClr val="E5E7EB"/>
            </a:solidFill>
            <a:prstDash val="solid"/>
            <a:headEnd type="none"/>
            <a:tailEnd type="none"/>
          </a:ln>
        </p:spPr>
      </p:sp>
      <p:sp>
        <p:nvSpPr>
          <p:cNvPr id="17" name="lim-open__title"/>
          <p:cNvSpPr/>
          <p:nvPr/>
        </p:nvSpPr>
        <p:spPr>
          <a:xfrm>
            <a:off x="6849908" y="1719072"/>
            <a:ext cx="4573692" cy="274320"/>
          </a:xfrm>
          <a:prstGeom prst="rect">
            <a:avLst/>
          </a:prstGeom>
          <a:noFill/>
          <a:ln/>
        </p:spPr>
        <p:txBody>
          <a:bodyPr wrap="square" lIns="254" tIns="254" rIns="254" bIns="254" rtlCol="0" anchor="ctr"/>
          <a:lstStyle/>
          <a:p>
            <a:pPr algn="l" indent="0" marL="0">
              <a:lnSpc>
                <a:spcPts val="1700"/>
              </a:lnSpc>
              <a:buNone/>
            </a:pPr>
            <a:r>
              <a:rPr lang="en-US" sz="1400" b="1" dirty="0">
                <a:solidFill>
                  <a:srgbClr val="111827"/>
                </a:solidFill>
                <a:latin typeface="Calibri" pitchFamily="34" charset="0"/>
                <a:ea typeface="Calibri" pitchFamily="34" charset="-122"/>
                <a:cs typeface="Calibri" pitchFamily="34" charset="-120"/>
              </a:rPr>
              <a:t>Open questions</a:t>
            </a:r>
            <a:endParaRPr lang="en-US" sz="1400" dirty="0"/>
          </a:p>
        </p:txBody>
      </p:sp>
      <p:sp>
        <p:nvSpPr>
          <p:cNvPr id="18" name="lim-open-0-q"/>
          <p:cNvSpPr/>
          <p:nvPr/>
        </p:nvSpPr>
        <p:spPr>
          <a:xfrm>
            <a:off x="6886484" y="2231136"/>
            <a:ext cx="365760" cy="365760"/>
          </a:xfrm>
          <a:prstGeom prst="rect">
            <a:avLst/>
          </a:prstGeom>
          <a:noFill/>
          <a:ln/>
        </p:spPr>
        <p:txBody>
          <a:bodyPr wrap="square" lIns="254" tIns="254" rIns="254" bIns="254" rtlCol="0" anchor="ctr"/>
          <a:lstStyle/>
          <a:p>
            <a:pPr algn="l" indent="0" marL="0">
              <a:lnSpc>
                <a:spcPts val="1900"/>
              </a:lnSpc>
              <a:buNone/>
            </a:pPr>
            <a:r>
              <a:rPr lang="en-US" sz="1600" b="1" dirty="0">
                <a:solidFill>
                  <a:srgbClr val="2563EB"/>
                </a:solidFill>
                <a:latin typeface="Calibri" pitchFamily="34" charset="0"/>
                <a:ea typeface="Calibri" pitchFamily="34" charset="-122"/>
                <a:cs typeface="Calibri" pitchFamily="34" charset="-120"/>
              </a:rPr>
              <a:t>?</a:t>
            </a:r>
            <a:endParaRPr lang="en-US" sz="1600" dirty="0"/>
          </a:p>
        </p:txBody>
      </p:sp>
      <p:sp>
        <p:nvSpPr>
          <p:cNvPr id="19" name="lim-open-0"/>
          <p:cNvSpPr/>
          <p:nvPr/>
        </p:nvSpPr>
        <p:spPr>
          <a:xfrm>
            <a:off x="7270532" y="2231136"/>
            <a:ext cx="4098204" cy="786384"/>
          </a:xfrm>
          <a:prstGeom prst="rect">
            <a:avLst/>
          </a:prstGeom>
          <a:noFill/>
          <a:ln/>
        </p:spPr>
        <p:txBody>
          <a:bodyPr wrap="square" lIns="254" tIns="254" rIns="254" bIns="254" rtlCol="0" anchor="t"/>
          <a:lstStyle/>
          <a:p>
            <a:pPr algn="l" indent="0" marL="0">
              <a:lnSpc>
                <a:spcPts val="1700"/>
              </a:lnSpc>
              <a:buNone/>
            </a:pPr>
            <a:r>
              <a:rPr lang="en-US" sz="1400" dirty="0">
                <a:solidFill>
                  <a:srgbClr val="374151"/>
                </a:solidFill>
                <a:latin typeface="Calibri" pitchFamily="34" charset="0"/>
                <a:ea typeface="Calibri" pitchFamily="34" charset="-122"/>
                <a:cs typeface="Calibri" pitchFamily="34" charset="-120"/>
              </a:rPr>
              <a:t>Can we characterize downstream-valid pre-images without the oracle?</a:t>
            </a:r>
            <a:endParaRPr lang="en-US" sz="1400" dirty="0"/>
          </a:p>
        </p:txBody>
      </p:sp>
      <p:sp>
        <p:nvSpPr>
          <p:cNvPr id="20" name="lim-open-1-q"/>
          <p:cNvSpPr/>
          <p:nvPr/>
        </p:nvSpPr>
        <p:spPr>
          <a:xfrm>
            <a:off x="6886484" y="3127248"/>
            <a:ext cx="365760" cy="365760"/>
          </a:xfrm>
          <a:prstGeom prst="rect">
            <a:avLst/>
          </a:prstGeom>
          <a:noFill/>
          <a:ln/>
        </p:spPr>
        <p:txBody>
          <a:bodyPr wrap="square" lIns="254" tIns="254" rIns="254" bIns="254" rtlCol="0" anchor="ctr"/>
          <a:lstStyle/>
          <a:p>
            <a:pPr algn="l" indent="0" marL="0">
              <a:lnSpc>
                <a:spcPts val="1900"/>
              </a:lnSpc>
              <a:buNone/>
            </a:pPr>
            <a:r>
              <a:rPr lang="en-US" sz="1600" b="1" dirty="0">
                <a:solidFill>
                  <a:srgbClr val="2563EB"/>
                </a:solidFill>
                <a:latin typeface="Calibri" pitchFamily="34" charset="0"/>
                <a:ea typeface="Calibri" pitchFamily="34" charset="-122"/>
                <a:cs typeface="Calibri" pitchFamily="34" charset="-120"/>
              </a:rPr>
              <a:t>?</a:t>
            </a:r>
            <a:endParaRPr lang="en-US" sz="1600" dirty="0"/>
          </a:p>
        </p:txBody>
      </p:sp>
      <p:sp>
        <p:nvSpPr>
          <p:cNvPr id="21" name="lim-open-1"/>
          <p:cNvSpPr/>
          <p:nvPr/>
        </p:nvSpPr>
        <p:spPr>
          <a:xfrm>
            <a:off x="7270532" y="3127248"/>
            <a:ext cx="4098204" cy="786384"/>
          </a:xfrm>
          <a:prstGeom prst="rect">
            <a:avLst/>
          </a:prstGeom>
          <a:noFill/>
          <a:ln/>
        </p:spPr>
        <p:txBody>
          <a:bodyPr wrap="square" lIns="254" tIns="254" rIns="254" bIns="254" rtlCol="0" anchor="t"/>
          <a:lstStyle/>
          <a:p>
            <a:pPr algn="l" indent="0" marL="0">
              <a:lnSpc>
                <a:spcPts val="1700"/>
              </a:lnSpc>
              <a:buNone/>
            </a:pPr>
            <a:r>
              <a:rPr lang="en-US" sz="1400" dirty="0">
                <a:solidFill>
                  <a:srgbClr val="374151"/>
                </a:solidFill>
                <a:latin typeface="Calibri" pitchFamily="34" charset="0"/>
                <a:ea typeface="Calibri" pitchFamily="34" charset="-122"/>
                <a:cs typeface="Calibri" pitchFamily="34" charset="-120"/>
              </a:rPr>
              <a:t>Does the correction generalize to horizons beyond the training horizon?</a:t>
            </a:r>
            <a:endParaRPr lang="en-US" sz="1400" dirty="0"/>
          </a:p>
        </p:txBody>
      </p:sp>
      <p:sp>
        <p:nvSpPr>
          <p:cNvPr id="22" name="lim-open-2-q"/>
          <p:cNvSpPr/>
          <p:nvPr/>
        </p:nvSpPr>
        <p:spPr>
          <a:xfrm>
            <a:off x="6886484" y="4023360"/>
            <a:ext cx="365760" cy="365760"/>
          </a:xfrm>
          <a:prstGeom prst="rect">
            <a:avLst/>
          </a:prstGeom>
          <a:noFill/>
          <a:ln/>
        </p:spPr>
        <p:txBody>
          <a:bodyPr wrap="square" lIns="254" tIns="254" rIns="254" bIns="254" rtlCol="0" anchor="ctr"/>
          <a:lstStyle/>
          <a:p>
            <a:pPr algn="l" indent="0" marL="0">
              <a:lnSpc>
                <a:spcPts val="1900"/>
              </a:lnSpc>
              <a:buNone/>
            </a:pPr>
            <a:r>
              <a:rPr lang="en-US" sz="1600" b="1" dirty="0">
                <a:solidFill>
                  <a:srgbClr val="2563EB"/>
                </a:solidFill>
                <a:latin typeface="Calibri" pitchFamily="34" charset="0"/>
                <a:ea typeface="Calibri" pitchFamily="34" charset="-122"/>
                <a:cs typeface="Calibri" pitchFamily="34" charset="-120"/>
              </a:rPr>
              <a:t>?</a:t>
            </a:r>
            <a:endParaRPr lang="en-US" sz="1600" dirty="0"/>
          </a:p>
        </p:txBody>
      </p:sp>
      <p:sp>
        <p:nvSpPr>
          <p:cNvPr id="23" name="lim-open-2"/>
          <p:cNvSpPr/>
          <p:nvPr/>
        </p:nvSpPr>
        <p:spPr>
          <a:xfrm>
            <a:off x="7270532" y="4023360"/>
            <a:ext cx="4098204" cy="786384"/>
          </a:xfrm>
          <a:prstGeom prst="rect">
            <a:avLst/>
          </a:prstGeom>
          <a:noFill/>
          <a:ln/>
        </p:spPr>
        <p:txBody>
          <a:bodyPr wrap="square" lIns="254" tIns="254" rIns="254" bIns="254" rtlCol="0" anchor="t"/>
          <a:lstStyle/>
          <a:p>
            <a:pPr algn="l" indent="0" marL="0">
              <a:lnSpc>
                <a:spcPts val="1700"/>
              </a:lnSpc>
              <a:buNone/>
            </a:pPr>
            <a:r>
              <a:rPr lang="en-US" sz="1400" dirty="0">
                <a:solidFill>
                  <a:srgbClr val="374151"/>
                </a:solidFill>
                <a:latin typeface="Calibri" pitchFamily="34" charset="0"/>
                <a:ea typeface="Calibri" pitchFamily="34" charset="-122"/>
                <a:cs typeface="Calibri" pitchFamily="34" charset="-120"/>
              </a:rPr>
              <a:t>Would the same orthogonality appear for other cached-feature tasks?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weekly-research-slides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Cached Future-Feature Prediction</dc:title>
  <dc:subject/>
  <dc:creator>weekly-research-slides</dc:creator>
  <cp:lastModifiedBy>weekly-research-slides</cp:lastModifiedBy>
  <cp:revision>1</cp:revision>
  <dcterms:created xsi:type="dcterms:W3CDTF">2026-09-19T20:04:02Z</dcterms:created>
  <dcterms:modified xsi:type="dcterms:W3CDTF">2026-09-19T20:04:02Z</dcterms:modified>
</cp:coreProperties>
</file>