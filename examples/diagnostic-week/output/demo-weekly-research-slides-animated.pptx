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the week's question. Do not re-explain the problem; the group knows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20-30 seconds. Keep it compressed because familiarity is 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delta matters here. Point at the two new pieces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three objects here. They keep exactly these positions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 permanence is deliberate. Z_s, Z~, and Z_d keep identical positions between slides 4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bands in order. The measurement is not the observation; the observation is not the interpretation.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delta. Do not hide the weak feature-recovery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weakened claim is a result, not a failure. C2 is new this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 targets the alternative explanation for C1. Keep the probe limitation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 here. The mentor discussion happens after the deck; no thank-you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accent"/>
          <p:cNvSpPr/>
          <p:nvPr/>
        </p:nvSpPr>
        <p:spPr>
          <a:xfrm>
            <a:off x="658368" y="2148840"/>
            <a:ext cx="822960" cy="4572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4" name="title-project"/>
          <p:cNvSpPr/>
          <p:nvPr/>
        </p:nvSpPr>
        <p:spPr>
          <a:xfrm>
            <a:off x="658368" y="2286000"/>
            <a:ext cx="652497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</a:t>
            </a:r>
            <a:endParaRPr lang="en-US" sz="1500" dirty="0"/>
          </a:p>
        </p:txBody>
      </p:sp>
      <p:sp>
        <p:nvSpPr>
          <p:cNvPr id="5" name="title-main"/>
          <p:cNvSpPr/>
          <p:nvPr/>
        </p:nvSpPr>
        <p:spPr>
          <a:xfrm>
            <a:off x="658368" y="2651760"/>
            <a:ext cx="6307476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correction recover the future feature?</a:t>
            </a:r>
            <a:endParaRPr lang="en-US" sz="3200" dirty="0"/>
          </a:p>
        </p:txBody>
      </p:sp>
      <p:sp>
        <p:nvSpPr>
          <p:cNvPr id="6" name="title-question"/>
          <p:cNvSpPr/>
          <p:nvPr/>
        </p:nvSpPr>
        <p:spPr>
          <a:xfrm>
            <a:off x="658368" y="4224528"/>
            <a:ext cx="598122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an oracle diagnostic splits feature recovery from output recovery, and claim C1 weakens.</a:t>
            </a:r>
            <a:endParaRPr lang="en-US" sz="1600" dirty="0"/>
          </a:p>
        </p:txBody>
      </p:sp>
      <p:sp>
        <p:nvSpPr>
          <p:cNvPr id="7" name="title-byline"/>
          <p:cNvSpPr/>
          <p:nvPr/>
        </p:nvSpPr>
        <p:spPr>
          <a:xfrm>
            <a:off x="658368" y="5440680"/>
            <a:ext cx="598122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research update · synthetic demo · version 0.1</a:t>
            </a:r>
            <a:endParaRPr lang="en-US" sz="1100" dirty="0"/>
          </a:p>
        </p:txBody>
      </p:sp>
      <p:sp>
        <p:nvSpPr>
          <p:cNvPr id="8" name="motif-zs"/>
          <p:cNvSpPr/>
          <p:nvPr/>
        </p:nvSpPr>
        <p:spPr>
          <a:xfrm>
            <a:off x="7452360" y="3840480"/>
            <a:ext cx="1051560" cy="10515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9" name="motif-zs__label"/>
          <p:cNvSpPr/>
          <p:nvPr/>
        </p:nvSpPr>
        <p:spPr>
          <a:xfrm>
            <a:off x="7452360" y="3840480"/>
            <a:ext cx="10515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Z_s</a:t>
            </a:r>
            <a:endParaRPr lang="en-US" sz="1400" dirty="0"/>
          </a:p>
        </p:txBody>
      </p:sp>
      <p:sp>
        <p:nvSpPr>
          <p:cNvPr id="10" name="motif-ztilde"/>
          <p:cNvSpPr/>
          <p:nvPr/>
        </p:nvSpPr>
        <p:spPr>
          <a:xfrm>
            <a:off x="9418320" y="3840480"/>
            <a:ext cx="1051560" cy="10515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1" name="motif-ztilde__label"/>
          <p:cNvSpPr/>
          <p:nvPr/>
        </p:nvSpPr>
        <p:spPr>
          <a:xfrm>
            <a:off x="9418320" y="3840480"/>
            <a:ext cx="10515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Z~</a:t>
            </a:r>
            <a:endParaRPr lang="en-US" sz="1400" dirty="0"/>
          </a:p>
        </p:txBody>
      </p:sp>
      <p:sp>
        <p:nvSpPr>
          <p:cNvPr id="12" name="motif-zd"/>
          <p:cNvSpPr/>
          <p:nvPr/>
        </p:nvSpPr>
        <p:spPr>
          <a:xfrm>
            <a:off x="8439912" y="2286000"/>
            <a:ext cx="1051560" cy="10515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3" name="motif-zd__label"/>
          <p:cNvSpPr/>
          <p:nvPr/>
        </p:nvSpPr>
        <p:spPr>
          <a:xfrm>
            <a:off x="8439912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Z_d</a:t>
            </a:r>
            <a:endParaRPr lang="en-US" sz="1400" dirty="0"/>
          </a:p>
        </p:txBody>
      </p:sp>
      <p:sp>
        <p:nvSpPr>
          <p:cNvPr id="14" name="motif-delta"/>
          <p:cNvSpPr/>
          <p:nvPr/>
        </p:nvSpPr>
        <p:spPr>
          <a:xfrm>
            <a:off x="8503920" y="4370832"/>
            <a:ext cx="914400" cy="0"/>
          </a:xfrm>
          <a:prstGeom prst="line">
            <a:avLst/>
          </a:prstGeom>
          <a:noFill/>
          <a:ln w="2540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15" name="motif-desired"/>
          <p:cNvSpPr/>
          <p:nvPr/>
        </p:nvSpPr>
        <p:spPr>
          <a:xfrm flipV="1">
            <a:off x="8272577" y="3337560"/>
            <a:ext cx="642823" cy="521208"/>
          </a:xfrm>
          <a:prstGeom prst="line">
            <a:avLst/>
          </a:prstGeom>
          <a:noFill/>
          <a:ln w="11430">
            <a:solidFill>
              <a:srgbClr val="9B9B9B"/>
            </a:solidFill>
            <a:prstDash val="dash"/>
            <a:headEnd type="none"/>
            <a:tailEnd type="none"/>
          </a:ln>
        </p:spPr>
      </p:sp>
      <p:sp>
        <p:nvSpPr>
          <p:cNvPr id="16" name="motif-residual"/>
          <p:cNvSpPr/>
          <p:nvPr/>
        </p:nvSpPr>
        <p:spPr>
          <a:xfrm flipH="1" flipV="1">
            <a:off x="9646920" y="3390138"/>
            <a:ext cx="822960" cy="523494"/>
          </a:xfrm>
          <a:prstGeom prst="line">
            <a:avLst/>
          </a:prstGeom>
          <a:noFill/>
          <a:ln w="11430">
            <a:solidFill>
              <a:srgbClr val="9B9B9B"/>
            </a:solidFill>
            <a:prstDash val="dash"/>
            <a:headEnd type="none"/>
            <a:tailEnd type="none"/>
          </a:ln>
        </p:spPr>
      </p:sp>
      <p:sp>
        <p:nvSpPr>
          <p:cNvPr id="17" name="motif-caption"/>
          <p:cNvSpPr/>
          <p:nvPr/>
        </p:nvSpPr>
        <p:spPr>
          <a:xfrm>
            <a:off x="7269480" y="5166360"/>
            <a:ext cx="35661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features drift; correction moves them</a:t>
            </a:r>
            <a:endParaRPr lang="en-US" sz="95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are, and what changed this week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50" dirty="0"/>
          </a:p>
        </p:txBody>
      </p:sp>
      <p:sp>
        <p:nvSpPr>
          <p:cNvPr id="7" name="recap-known"/>
          <p:cNvSpPr/>
          <p:nvPr/>
        </p:nvSpPr>
        <p:spPr>
          <a:xfrm>
            <a:off x="658368" y="1572768"/>
            <a:ext cx="5219980" cy="4297680"/>
          </a:xfrm>
          <a:prstGeom prst="roundRect">
            <a:avLst>
              <a:gd name="adj" fmla="val 63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8" name="recap-known__title"/>
          <p:cNvSpPr/>
          <p:nvPr/>
        </p:nvSpPr>
        <p:spPr>
          <a:xfrm>
            <a:off x="859536" y="1719072"/>
            <a:ext cx="4817644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(unchanged)</a:t>
            </a:r>
            <a:endParaRPr lang="en-US" sz="1300" dirty="0"/>
          </a:p>
        </p:txBody>
      </p:sp>
      <p:sp>
        <p:nvSpPr>
          <p:cNvPr id="9" name="recap-0-label"/>
          <p:cNvSpPr/>
          <p:nvPr/>
        </p:nvSpPr>
        <p:spPr>
          <a:xfrm>
            <a:off x="877824" y="2212848"/>
            <a:ext cx="47627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0" name="recap-0"/>
          <p:cNvSpPr/>
          <p:nvPr/>
        </p:nvSpPr>
        <p:spPr>
          <a:xfrm>
            <a:off x="877824" y="2468880"/>
            <a:ext cx="47627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hidden features go stale; reusing them as future features drifts.</a:t>
            </a:r>
            <a:endParaRPr lang="en-US" sz="1350" dirty="0"/>
          </a:p>
        </p:txBody>
      </p:sp>
      <p:sp>
        <p:nvSpPr>
          <p:cNvPr id="11" name="recap-1-label"/>
          <p:cNvSpPr/>
          <p:nvPr/>
        </p:nvSpPr>
        <p:spPr>
          <a:xfrm>
            <a:off x="877824" y="3172968"/>
            <a:ext cx="47627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12" name="recap-1"/>
          <p:cNvSpPr/>
          <p:nvPr/>
        </p:nvSpPr>
        <p:spPr>
          <a:xfrm>
            <a:off x="877824" y="3429000"/>
            <a:ext cx="47627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reuse followed by a learned correction toward the future feature.</a:t>
            </a:r>
            <a:endParaRPr lang="en-US" sz="1350" dirty="0"/>
          </a:p>
        </p:txBody>
      </p:sp>
      <p:sp>
        <p:nvSpPr>
          <p:cNvPr id="13" name="recap-2-label"/>
          <p:cNvSpPr/>
          <p:nvPr/>
        </p:nvSpPr>
        <p:spPr>
          <a:xfrm>
            <a:off x="877824" y="4133088"/>
            <a:ext cx="47627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4" name="recap-2"/>
          <p:cNvSpPr/>
          <p:nvPr/>
        </p:nvSpPr>
        <p:spPr>
          <a:xfrm>
            <a:off x="877824" y="4389120"/>
            <a:ext cx="47627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only scores rollout cosine 0.42.</a:t>
            </a:r>
            <a:endParaRPr lang="en-US" sz="1350" dirty="0"/>
          </a:p>
        </p:txBody>
      </p:sp>
      <p:sp>
        <p:nvSpPr>
          <p:cNvPr id="15" name="recap-now"/>
          <p:cNvSpPr/>
          <p:nvPr/>
        </p:nvSpPr>
        <p:spPr>
          <a:xfrm>
            <a:off x="6204597" y="1572768"/>
            <a:ext cx="5328730" cy="4297680"/>
          </a:xfrm>
          <a:prstGeom prst="roundRect">
            <a:avLst>
              <a:gd name="adj" fmla="val 638"/>
            </a:avLst>
          </a:prstGeom>
          <a:solidFill>
            <a:srgbClr val="F2F2F0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16" name="recap-now-k"/>
          <p:cNvSpPr/>
          <p:nvPr/>
        </p:nvSpPr>
        <p:spPr>
          <a:xfrm>
            <a:off x="6460629" y="1783080"/>
            <a:ext cx="481666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NOW</a:t>
            </a:r>
            <a:endParaRPr lang="en-US" sz="950" dirty="0"/>
          </a:p>
        </p:txBody>
      </p:sp>
      <p:sp>
        <p:nvSpPr>
          <p:cNvPr id="17" name="recap-now-t"/>
          <p:cNvSpPr/>
          <p:nvPr/>
        </p:nvSpPr>
        <p:spPr>
          <a:xfrm>
            <a:off x="6460629" y="2240280"/>
            <a:ext cx="4816666" cy="3383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v4 adds a correction objective and an oracle diagnostic. The question this week is whether the correction moves toward the future feature, or whether a different downstream-valid direction is enough.</a:t>
            </a:r>
            <a:endParaRPr lang="en-US" sz="1600" dirty="0"/>
          </a:p>
        </p:txBody>
      </p:sp>
      <p:sp>
        <p:nvSpPr>
          <p:cNvPr id="18" name="recap-week-chip"/>
          <p:cNvSpPr/>
          <p:nvPr/>
        </p:nvSpPr>
        <p:spPr>
          <a:xfrm>
            <a:off x="6460629" y="53949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  <a:headEnd type="none"/>
            <a:tailEnd type="none"/>
          </a:ln>
        </p:spPr>
      </p:sp>
      <p:sp>
        <p:nvSpPr>
          <p:cNvPr id="19" name="recap-week-chip__label"/>
          <p:cNvSpPr/>
          <p:nvPr/>
        </p:nvSpPr>
        <p:spPr>
          <a:xfrm>
            <a:off x="6460629" y="5394960"/>
            <a:ext cx="14630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week: v3</a:t>
            </a:r>
            <a:endParaRPr lang="en-US" sz="95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6" grpId="0"/>
      <p:bldP spid="17" grpId="0"/>
      <p:bldP spid="18" grpId="0"/>
      <p:bldP spid="1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in the method: v3 to v4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50" dirty="0"/>
          </a:p>
        </p:txBody>
      </p:sp>
      <p:sp>
        <p:nvSpPr>
          <p:cNvPr id="7" name="method-from"/>
          <p:cNvSpPr/>
          <p:nvPr/>
        </p:nvSpPr>
        <p:spPr>
          <a:xfrm>
            <a:off x="658368" y="1627632"/>
            <a:ext cx="1554480" cy="566928"/>
          </a:xfrm>
          <a:prstGeom prst="roundRect">
            <a:avLst>
              <a:gd name="adj" fmla="val 20968"/>
            </a:avLst>
          </a:prstGeom>
          <a:solidFill>
            <a:srgbClr val="F2F2F0"/>
          </a:solidFill>
          <a:ln w="12700">
            <a:solidFill>
              <a:srgbClr val="6B6B6B"/>
            </a:solidFill>
            <a:prstDash val="solid"/>
            <a:headEnd type="none"/>
            <a:tailEnd type="none"/>
          </a:ln>
        </p:spPr>
      </p:sp>
      <p:sp>
        <p:nvSpPr>
          <p:cNvPr id="8" name="method-from__label"/>
          <p:cNvSpPr/>
          <p:nvPr/>
        </p:nvSpPr>
        <p:spPr>
          <a:xfrm>
            <a:off x="658368" y="1627632"/>
            <a:ext cx="15544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700" dirty="0"/>
          </a:p>
        </p:txBody>
      </p:sp>
      <p:sp>
        <p:nvSpPr>
          <p:cNvPr id="9" name="method-delta-arrow"/>
          <p:cNvSpPr/>
          <p:nvPr/>
        </p:nvSpPr>
        <p:spPr>
          <a:xfrm>
            <a:off x="2322576" y="1911096"/>
            <a:ext cx="1033272" cy="0"/>
          </a:xfrm>
          <a:prstGeom prst="line">
            <a:avLst/>
          </a:prstGeom>
          <a:noFill/>
          <a:ln w="19050">
            <a:solidFill>
              <a:srgbClr val="245B78"/>
            </a:solidFill>
            <a:prstDash val="solid"/>
            <a:headEnd type="none"/>
            <a:tailEnd type="triangle"/>
          </a:ln>
        </p:spPr>
      </p:sp>
      <p:sp>
        <p:nvSpPr>
          <p:cNvPr id="10" name="method-to"/>
          <p:cNvSpPr/>
          <p:nvPr/>
        </p:nvSpPr>
        <p:spPr>
          <a:xfrm>
            <a:off x="3465576" y="1627632"/>
            <a:ext cx="1737360" cy="566928"/>
          </a:xfrm>
          <a:prstGeom prst="roundRect">
            <a:avLst>
              <a:gd name="adj" fmla="val 20968"/>
            </a:avLst>
          </a:prstGeom>
          <a:solidFill>
            <a:srgbClr val="EAF1F4"/>
          </a:solidFill>
          <a:ln w="12700">
            <a:solidFill>
              <a:srgbClr val="245B78"/>
            </a:solidFill>
            <a:prstDash val="solid"/>
            <a:headEnd type="none"/>
            <a:tailEnd type="none"/>
          </a:ln>
        </p:spPr>
      </p:sp>
      <p:sp>
        <p:nvSpPr>
          <p:cNvPr id="11" name="method-to__label"/>
          <p:cNvSpPr/>
          <p:nvPr/>
        </p:nvSpPr>
        <p:spPr>
          <a:xfrm>
            <a:off x="3465576" y="1627632"/>
            <a:ext cx="173736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1700" dirty="0"/>
          </a:p>
        </p:txBody>
      </p:sp>
      <p:sp>
        <p:nvSpPr>
          <p:cNvPr id="12" name="method-delta-summary"/>
          <p:cNvSpPr/>
          <p:nvPr/>
        </p:nvSpPr>
        <p:spPr>
          <a:xfrm>
            <a:off x="5504688" y="1627632"/>
            <a:ext cx="6028639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adds a correction objective and an oracle diagnostic, and scales down the correction.</a:t>
            </a:r>
            <a:endParaRPr lang="en-US" sz="1350" dirty="0"/>
          </a:p>
        </p:txBody>
      </p:sp>
      <p:sp>
        <p:nvSpPr>
          <p:cNvPr id="13" name="method-delta-k"/>
          <p:cNvSpPr/>
          <p:nvPr/>
        </p:nvSpPr>
        <p:spPr>
          <a:xfrm>
            <a:off x="658368" y="2487168"/>
            <a:ext cx="54374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THIS WEEK</a:t>
            </a:r>
            <a:endParaRPr lang="en-US" sz="950" dirty="0"/>
          </a:p>
        </p:txBody>
      </p:sp>
      <p:sp>
        <p:nvSpPr>
          <p:cNvPr id="14" name="method-change-0-bar"/>
          <p:cNvSpPr/>
          <p:nvPr/>
        </p:nvSpPr>
        <p:spPr>
          <a:xfrm>
            <a:off x="658368" y="2843784"/>
            <a:ext cx="45720" cy="70104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15" name="method-change-0"/>
          <p:cNvSpPr/>
          <p:nvPr/>
        </p:nvSpPr>
        <p:spPr>
          <a:xfrm>
            <a:off x="859536" y="2788920"/>
            <a:ext cx="5002481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correction objective</a:t>
            </a:r>
            <a:endParaRPr lang="en-US" sz="1500" dirty="0"/>
          </a:p>
        </p:txBody>
      </p:sp>
      <p:sp>
        <p:nvSpPr>
          <p:cNvPr id="16" name="method-change-0-why"/>
          <p:cNvSpPr/>
          <p:nvPr/>
        </p:nvSpPr>
        <p:spPr>
          <a:xfrm>
            <a:off x="859536" y="3154680"/>
            <a:ext cx="5002481" cy="426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 deviation from the future feature so the correction is supervised directly.</a:t>
            </a:r>
            <a:endParaRPr lang="en-US" sz="1100" dirty="0"/>
          </a:p>
        </p:txBody>
      </p:sp>
      <p:sp>
        <p:nvSpPr>
          <p:cNvPr id="17" name="method-change-1-bar"/>
          <p:cNvSpPr/>
          <p:nvPr/>
        </p:nvSpPr>
        <p:spPr>
          <a:xfrm>
            <a:off x="658368" y="3727704"/>
            <a:ext cx="45720" cy="70104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18" name="method-change-1"/>
          <p:cNvSpPr/>
          <p:nvPr/>
        </p:nvSpPr>
        <p:spPr>
          <a:xfrm>
            <a:off x="859536" y="3672840"/>
            <a:ext cx="5002481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an oracle diagnostic</a:t>
            </a:r>
            <a:endParaRPr lang="en-US" sz="1500" dirty="0"/>
          </a:p>
        </p:txBody>
      </p:sp>
      <p:sp>
        <p:nvSpPr>
          <p:cNvPr id="19" name="method-change-1-why"/>
          <p:cNvSpPr/>
          <p:nvPr/>
        </p:nvSpPr>
        <p:spPr>
          <a:xfrm>
            <a:off x="859536" y="4038600"/>
            <a:ext cx="5002481" cy="426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feature recovery from output recovery to test C1 and C2.</a:t>
            </a:r>
            <a:endParaRPr lang="en-US" sz="1100" dirty="0"/>
          </a:p>
        </p:txBody>
      </p:sp>
      <p:sp>
        <p:nvSpPr>
          <p:cNvPr id="20" name="method-change-2-bar"/>
          <p:cNvSpPr/>
          <p:nvPr/>
        </p:nvSpPr>
        <p:spPr>
          <a:xfrm>
            <a:off x="658368" y="4611624"/>
            <a:ext cx="45720" cy="70104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21" name="method-change-2"/>
          <p:cNvSpPr/>
          <p:nvPr/>
        </p:nvSpPr>
        <p:spPr>
          <a:xfrm>
            <a:off x="859536" y="4556760"/>
            <a:ext cx="5002481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down the correction magnitude</a:t>
            </a:r>
            <a:endParaRPr lang="en-US" sz="1500" dirty="0"/>
          </a:p>
        </p:txBody>
      </p:sp>
      <p:sp>
        <p:nvSpPr>
          <p:cNvPr id="22" name="method-change-2-why"/>
          <p:cNvSpPr/>
          <p:nvPr/>
        </p:nvSpPr>
        <p:spPr>
          <a:xfrm>
            <a:off x="859536" y="4922520"/>
            <a:ext cx="5002481" cy="426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drift when the correction is applied over long rollouts.</a:t>
            </a:r>
            <a:endParaRPr lang="en-US" sz="1100" dirty="0"/>
          </a:p>
        </p:txBody>
      </p:sp>
      <p:sp>
        <p:nvSpPr>
          <p:cNvPr id="23" name="method-unchanged"/>
          <p:cNvSpPr/>
          <p:nvPr/>
        </p:nvSpPr>
        <p:spPr>
          <a:xfrm>
            <a:off x="6422096" y="2697480"/>
            <a:ext cx="5111231" cy="2926080"/>
          </a:xfrm>
          <a:prstGeom prst="roundRect">
            <a:avLst>
              <a:gd name="adj" fmla="val 93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24" name="method-unchanged-k"/>
          <p:cNvSpPr/>
          <p:nvPr/>
        </p:nvSpPr>
        <p:spPr>
          <a:xfrm>
            <a:off x="6641552" y="2852928"/>
            <a:ext cx="4672319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950" dirty="0"/>
          </a:p>
        </p:txBody>
      </p:sp>
      <p:sp>
        <p:nvSpPr>
          <p:cNvPr id="25" name="method-unchanged-0"/>
          <p:cNvSpPr/>
          <p:nvPr/>
        </p:nvSpPr>
        <p:spPr>
          <a:xfrm>
            <a:off x="6641552" y="3246120"/>
            <a:ext cx="4672319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layout and update schedule</a:t>
            </a:r>
            <a:endParaRPr lang="en-US" sz="1250" dirty="0"/>
          </a:p>
        </p:txBody>
      </p:sp>
      <p:sp>
        <p:nvSpPr>
          <p:cNvPr id="26" name="method-unchanged-1"/>
          <p:cNvSpPr/>
          <p:nvPr/>
        </p:nvSpPr>
        <p:spPr>
          <a:xfrm>
            <a:off x="6641552" y="3931920"/>
            <a:ext cx="4672319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and dataset split</a:t>
            </a:r>
            <a:endParaRPr lang="en-US" sz="1250" dirty="0"/>
          </a:p>
        </p:txBody>
      </p:sp>
      <p:sp>
        <p:nvSpPr>
          <p:cNvPr id="27" name="method-unchanged-2"/>
          <p:cNvSpPr/>
          <p:nvPr/>
        </p:nvSpPr>
        <p:spPr>
          <a:xfrm>
            <a:off x="6641552" y="4617720"/>
            <a:ext cx="4672319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evaluation protocol</a:t>
            </a:r>
            <a:endParaRPr lang="en-US" sz="125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4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0"/>
                      </p:stCondLst>
                      <p:childTnLst>
                        <p:par>
                          <p:cTn id="7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4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4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stories for what the correction does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50" dirty="0"/>
          </a:p>
        </p:txBody>
      </p:sp>
      <p:sp>
        <p:nvSpPr>
          <p:cNvPr id="7" name="concept-zs"/>
          <p:cNvSpPr/>
          <p:nvPr/>
        </p:nvSpPr>
        <p:spPr>
          <a:xfrm>
            <a:off x="2057400" y="352044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8" name="concept-zs__label"/>
          <p:cNvSpPr/>
          <p:nvPr/>
        </p:nvSpPr>
        <p:spPr>
          <a:xfrm>
            <a:off x="2057400" y="352044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Z_s</a:t>
            </a:r>
            <a:endParaRPr lang="en-US" sz="1500" dirty="0"/>
          </a:p>
        </p:txBody>
      </p:sp>
      <p:sp>
        <p:nvSpPr>
          <p:cNvPr id="9" name="concept-zs__sublabel"/>
          <p:cNvSpPr/>
          <p:nvPr/>
        </p:nvSpPr>
        <p:spPr>
          <a:xfrm>
            <a:off x="2057400" y="474573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source</a:t>
            </a:r>
            <a:endParaRPr lang="en-US" sz="950" dirty="0"/>
          </a:p>
        </p:txBody>
      </p:sp>
      <p:sp>
        <p:nvSpPr>
          <p:cNvPr id="10" name="concept-ztilde"/>
          <p:cNvSpPr/>
          <p:nvPr/>
        </p:nvSpPr>
        <p:spPr>
          <a:xfrm>
            <a:off x="7360920" y="352044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1" name="concept-ztilde__label"/>
          <p:cNvSpPr/>
          <p:nvPr/>
        </p:nvSpPr>
        <p:spPr>
          <a:xfrm>
            <a:off x="7360920" y="352044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Z~</a:t>
            </a:r>
            <a:endParaRPr lang="en-US" sz="1500" dirty="0"/>
          </a:p>
        </p:txBody>
      </p:sp>
      <p:sp>
        <p:nvSpPr>
          <p:cNvPr id="12" name="concept-ztilde__sublabel"/>
          <p:cNvSpPr/>
          <p:nvPr/>
        </p:nvSpPr>
        <p:spPr>
          <a:xfrm>
            <a:off x="7360920" y="474573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estimate</a:t>
            </a:r>
            <a:endParaRPr lang="en-US" sz="950" dirty="0"/>
          </a:p>
        </p:txBody>
      </p:sp>
      <p:sp>
        <p:nvSpPr>
          <p:cNvPr id="13" name="concept-zd"/>
          <p:cNvSpPr/>
          <p:nvPr/>
        </p:nvSpPr>
        <p:spPr>
          <a:xfrm>
            <a:off x="2057400" y="132588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4" name="concept-zd__label"/>
          <p:cNvSpPr/>
          <p:nvPr/>
        </p:nvSpPr>
        <p:spPr>
          <a:xfrm>
            <a:off x="2057400" y="132588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Z_d</a:t>
            </a:r>
            <a:endParaRPr lang="en-US" sz="1500" dirty="0"/>
          </a:p>
        </p:txBody>
      </p:sp>
      <p:sp>
        <p:nvSpPr>
          <p:cNvPr id="15" name="concept-zd__sublabel"/>
          <p:cNvSpPr/>
          <p:nvPr/>
        </p:nvSpPr>
        <p:spPr>
          <a:xfrm>
            <a:off x="2057400" y="255117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future</a:t>
            </a:r>
            <a:endParaRPr lang="en-US" sz="950" dirty="0"/>
          </a:p>
        </p:txBody>
      </p:sp>
      <p:sp>
        <p:nvSpPr>
          <p:cNvPr id="16" name="vec-delta"/>
          <p:cNvSpPr/>
          <p:nvPr/>
        </p:nvSpPr>
        <p:spPr>
          <a:xfrm>
            <a:off x="3264408" y="4114800"/>
            <a:ext cx="4078224" cy="0"/>
          </a:xfrm>
          <a:prstGeom prst="line">
            <a:avLst/>
          </a:prstGeom>
          <a:noFill/>
          <a:ln w="2540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17" name="vec-delta-label"/>
          <p:cNvSpPr/>
          <p:nvPr/>
        </p:nvSpPr>
        <p:spPr>
          <a:xfrm>
            <a:off x="4069080" y="373075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 correction</a:t>
            </a:r>
            <a:endParaRPr lang="en-US" sz="1100" dirty="0"/>
          </a:p>
        </p:txBody>
      </p:sp>
      <p:sp>
        <p:nvSpPr>
          <p:cNvPr id="18" name="vec-desired"/>
          <p:cNvSpPr/>
          <p:nvPr/>
        </p:nvSpPr>
        <p:spPr>
          <a:xfrm flipV="1">
            <a:off x="2651760" y="2532888"/>
            <a:ext cx="0" cy="969264"/>
          </a:xfrm>
          <a:prstGeom prst="line">
            <a:avLst/>
          </a:prstGeom>
          <a:noFill/>
          <a:ln w="9525">
            <a:solidFill>
              <a:srgbClr val="9B9B9B"/>
            </a:solidFill>
            <a:prstDash val="solid"/>
            <a:headEnd type="none"/>
            <a:tailEnd type="none"/>
          </a:ln>
        </p:spPr>
      </p:sp>
      <p:sp>
        <p:nvSpPr>
          <p:cNvPr id="19" name="vec-desired-label"/>
          <p:cNvSpPr/>
          <p:nvPr/>
        </p:nvSpPr>
        <p:spPr>
          <a:xfrm>
            <a:off x="1417320" y="263347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</a:t>
            </a:r>
            <a:endParaRPr lang="en-US" sz="1100" dirty="0"/>
          </a:p>
        </p:txBody>
      </p:sp>
      <p:sp>
        <p:nvSpPr>
          <p:cNvPr id="20" name="vec-residual"/>
          <p:cNvSpPr/>
          <p:nvPr/>
        </p:nvSpPr>
        <p:spPr>
          <a:xfrm flipH="1" flipV="1">
            <a:off x="3217857" y="2154487"/>
            <a:ext cx="4171326" cy="1726066"/>
          </a:xfrm>
          <a:prstGeom prst="line">
            <a:avLst/>
          </a:prstGeom>
          <a:noFill/>
          <a:ln w="9525">
            <a:solidFill>
              <a:srgbClr val="9B9B9B"/>
            </a:solidFill>
            <a:prstDash val="solid"/>
            <a:headEnd type="none"/>
            <a:tailEnd type="none"/>
          </a:ln>
        </p:spPr>
      </p:sp>
      <p:sp>
        <p:nvSpPr>
          <p:cNvPr id="21" name="vec-residual-label"/>
          <p:cNvSpPr/>
          <p:nvPr/>
        </p:nvSpPr>
        <p:spPr>
          <a:xfrm>
            <a:off x="4069080" y="263347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100" dirty="0"/>
          </a:p>
        </p:txBody>
      </p:sp>
      <p:sp>
        <p:nvSpPr>
          <p:cNvPr id="22" name="fs-legend-0-line"/>
          <p:cNvSpPr/>
          <p:nvPr/>
        </p:nvSpPr>
        <p:spPr>
          <a:xfrm>
            <a:off x="658368" y="5897880"/>
            <a:ext cx="457200" cy="0"/>
          </a:xfrm>
          <a:prstGeom prst="line">
            <a:avLst/>
          </a:prstGeom>
          <a:noFill/>
          <a:ln w="2667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23" name="fs-legend-0"/>
          <p:cNvSpPr/>
          <p:nvPr/>
        </p:nvSpPr>
        <p:spPr>
          <a:xfrm>
            <a:off x="1225296" y="5742432"/>
            <a:ext cx="3291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ΔZ (what moved)</a:t>
            </a:r>
            <a:endParaRPr lang="en-US" sz="950" dirty="0"/>
          </a:p>
        </p:txBody>
      </p:sp>
      <p:sp>
        <p:nvSpPr>
          <p:cNvPr id="24" name="fs-legend-1-line"/>
          <p:cNvSpPr/>
          <p:nvPr/>
        </p:nvSpPr>
        <p:spPr>
          <a:xfrm>
            <a:off x="4681728" y="5897880"/>
            <a:ext cx="457200" cy="0"/>
          </a:xfrm>
          <a:prstGeom prst="line">
            <a:avLst/>
          </a:prstGeom>
          <a:noFill/>
          <a:ln w="11430">
            <a:solidFill>
              <a:srgbClr val="9B9B9B"/>
            </a:solidFill>
            <a:prstDash val="dash"/>
            <a:headEnd type="none"/>
            <a:tailEnd type="none"/>
          </a:ln>
        </p:spPr>
      </p:sp>
      <p:sp>
        <p:nvSpPr>
          <p:cNvPr id="25" name="fs-legend-1"/>
          <p:cNvSpPr/>
          <p:nvPr/>
        </p:nvSpPr>
        <p:spPr>
          <a:xfrm>
            <a:off x="5248656" y="5742432"/>
            <a:ext cx="3291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direction Z_d − Z_s</a:t>
            </a:r>
            <a:endParaRPr lang="en-US" sz="950" dirty="0"/>
          </a:p>
        </p:txBody>
      </p:sp>
      <p:sp>
        <p:nvSpPr>
          <p:cNvPr id="26" name="fs-note"/>
          <p:cNvSpPr/>
          <p:nvPr/>
        </p:nvSpPr>
        <p:spPr>
          <a:xfrm>
            <a:off x="658368" y="6199632"/>
            <a:ext cx="10874959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says dZ follows the desired direction; C2 says dZ can be orthogonal and still be useful.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4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4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8" grpId="0"/>
      <p:bldP spid="19" grpId="0"/>
      <p:bldP spid="16" grpId="0"/>
      <p:bldP spid="17" grpId="0"/>
      <p:bldP spid="20" grpId="0"/>
      <p:bldP spid="21" grpId="0"/>
      <p:bldP spid="2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is nearly orthogonal to the desired direction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50" dirty="0"/>
          </a:p>
        </p:txBody>
      </p:sp>
      <p:sp>
        <p:nvSpPr>
          <p:cNvPr id="7" name="concept-zs"/>
          <p:cNvSpPr/>
          <p:nvPr/>
        </p:nvSpPr>
        <p:spPr>
          <a:xfrm>
            <a:off x="2057400" y="352044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8" name="concept-zs__label"/>
          <p:cNvSpPr/>
          <p:nvPr/>
        </p:nvSpPr>
        <p:spPr>
          <a:xfrm>
            <a:off x="2057400" y="352044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Z_s</a:t>
            </a:r>
            <a:endParaRPr lang="en-US" sz="1500" dirty="0"/>
          </a:p>
        </p:txBody>
      </p:sp>
      <p:sp>
        <p:nvSpPr>
          <p:cNvPr id="9" name="concept-zs__sublabel"/>
          <p:cNvSpPr/>
          <p:nvPr/>
        </p:nvSpPr>
        <p:spPr>
          <a:xfrm>
            <a:off x="2057400" y="474573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source</a:t>
            </a:r>
            <a:endParaRPr lang="en-US" sz="950" dirty="0"/>
          </a:p>
        </p:txBody>
      </p:sp>
      <p:sp>
        <p:nvSpPr>
          <p:cNvPr id="10" name="concept-ztilde"/>
          <p:cNvSpPr/>
          <p:nvPr/>
        </p:nvSpPr>
        <p:spPr>
          <a:xfrm>
            <a:off x="7360920" y="352044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1" name="concept-ztilde__label"/>
          <p:cNvSpPr/>
          <p:nvPr/>
        </p:nvSpPr>
        <p:spPr>
          <a:xfrm>
            <a:off x="7360920" y="352044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Z~</a:t>
            </a:r>
            <a:endParaRPr lang="en-US" sz="1500" dirty="0"/>
          </a:p>
        </p:txBody>
      </p:sp>
      <p:sp>
        <p:nvSpPr>
          <p:cNvPr id="12" name="concept-ztilde__sublabel"/>
          <p:cNvSpPr/>
          <p:nvPr/>
        </p:nvSpPr>
        <p:spPr>
          <a:xfrm>
            <a:off x="7360920" y="474573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estimate</a:t>
            </a:r>
            <a:endParaRPr lang="en-US" sz="950" dirty="0"/>
          </a:p>
        </p:txBody>
      </p:sp>
      <p:sp>
        <p:nvSpPr>
          <p:cNvPr id="13" name="concept-zd"/>
          <p:cNvSpPr/>
          <p:nvPr/>
        </p:nvSpPr>
        <p:spPr>
          <a:xfrm>
            <a:off x="2057400" y="132588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4" name="concept-zd__label"/>
          <p:cNvSpPr/>
          <p:nvPr/>
        </p:nvSpPr>
        <p:spPr>
          <a:xfrm>
            <a:off x="2057400" y="132588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Z_d</a:t>
            </a:r>
            <a:endParaRPr lang="en-US" sz="1500" dirty="0"/>
          </a:p>
        </p:txBody>
      </p:sp>
      <p:sp>
        <p:nvSpPr>
          <p:cNvPr id="15" name="concept-zd__sublabel"/>
          <p:cNvSpPr/>
          <p:nvPr/>
        </p:nvSpPr>
        <p:spPr>
          <a:xfrm>
            <a:off x="2057400" y="255117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future</a:t>
            </a:r>
            <a:endParaRPr lang="en-US" sz="950" dirty="0"/>
          </a:p>
        </p:txBody>
      </p:sp>
      <p:sp>
        <p:nvSpPr>
          <p:cNvPr id="16" name="vec-delta"/>
          <p:cNvSpPr/>
          <p:nvPr/>
        </p:nvSpPr>
        <p:spPr>
          <a:xfrm>
            <a:off x="3264408" y="4114800"/>
            <a:ext cx="4078224" cy="0"/>
          </a:xfrm>
          <a:prstGeom prst="line">
            <a:avLst/>
          </a:prstGeom>
          <a:noFill/>
          <a:ln w="2540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17" name="vec-delta-label"/>
          <p:cNvSpPr/>
          <p:nvPr/>
        </p:nvSpPr>
        <p:spPr>
          <a:xfrm>
            <a:off x="4069080" y="373075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 (cos 0.117 vs desired)</a:t>
            </a:r>
            <a:endParaRPr lang="en-US" sz="1100" dirty="0"/>
          </a:p>
        </p:txBody>
      </p:sp>
      <p:sp>
        <p:nvSpPr>
          <p:cNvPr id="18" name="vec-desired"/>
          <p:cNvSpPr/>
          <p:nvPr/>
        </p:nvSpPr>
        <p:spPr>
          <a:xfrm flipV="1">
            <a:off x="2651760" y="2532888"/>
            <a:ext cx="0" cy="969264"/>
          </a:xfrm>
          <a:prstGeom prst="line">
            <a:avLst/>
          </a:prstGeom>
          <a:noFill/>
          <a:ln w="9525">
            <a:solidFill>
              <a:srgbClr val="9B9B9B"/>
            </a:solidFill>
            <a:prstDash val="solid"/>
            <a:headEnd type="none"/>
            <a:tailEnd type="none"/>
          </a:ln>
        </p:spPr>
      </p:sp>
      <p:sp>
        <p:nvSpPr>
          <p:cNvPr id="19" name="vec-desired-label"/>
          <p:cNvSpPr/>
          <p:nvPr/>
        </p:nvSpPr>
        <p:spPr>
          <a:xfrm>
            <a:off x="1417320" y="263347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</a:t>
            </a:r>
            <a:endParaRPr lang="en-US" sz="1100" dirty="0"/>
          </a:p>
        </p:txBody>
      </p:sp>
      <p:sp>
        <p:nvSpPr>
          <p:cNvPr id="20" name="fs-legend-0-line"/>
          <p:cNvSpPr/>
          <p:nvPr/>
        </p:nvSpPr>
        <p:spPr>
          <a:xfrm>
            <a:off x="658368" y="5897880"/>
            <a:ext cx="457200" cy="0"/>
          </a:xfrm>
          <a:prstGeom prst="line">
            <a:avLst/>
          </a:prstGeom>
          <a:noFill/>
          <a:ln w="2667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21" name="fs-legend-0"/>
          <p:cNvSpPr/>
          <p:nvPr/>
        </p:nvSpPr>
        <p:spPr>
          <a:xfrm>
            <a:off x="1225296" y="5742432"/>
            <a:ext cx="3291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ΔZ (what moved)</a:t>
            </a:r>
            <a:endParaRPr lang="en-US" sz="950" dirty="0"/>
          </a:p>
        </p:txBody>
      </p:sp>
      <p:sp>
        <p:nvSpPr>
          <p:cNvPr id="22" name="fs-legend-1-line"/>
          <p:cNvSpPr/>
          <p:nvPr/>
        </p:nvSpPr>
        <p:spPr>
          <a:xfrm>
            <a:off x="4681728" y="5897880"/>
            <a:ext cx="457200" cy="0"/>
          </a:xfrm>
          <a:prstGeom prst="line">
            <a:avLst/>
          </a:prstGeom>
          <a:noFill/>
          <a:ln w="11430">
            <a:solidFill>
              <a:srgbClr val="9B9B9B"/>
            </a:solidFill>
            <a:prstDash val="dash"/>
            <a:headEnd type="none"/>
            <a:tailEnd type="none"/>
          </a:ln>
        </p:spPr>
      </p:sp>
      <p:sp>
        <p:nvSpPr>
          <p:cNvPr id="23" name="fs-legend-1"/>
          <p:cNvSpPr/>
          <p:nvPr/>
        </p:nvSpPr>
        <p:spPr>
          <a:xfrm>
            <a:off x="5248656" y="5742432"/>
            <a:ext cx="3291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direction Z_d − Z_s</a:t>
            </a:r>
            <a:endParaRPr lang="en-US" sz="950" dirty="0"/>
          </a:p>
        </p:txBody>
      </p:sp>
      <p:sp>
        <p:nvSpPr>
          <p:cNvPr id="24" name="fs-note"/>
          <p:cNvSpPr/>
          <p:nvPr/>
        </p:nvSpPr>
        <p:spPr>
          <a:xfrm>
            <a:off x="658368" y="6199632"/>
            <a:ext cx="10874959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objects and positions as the previous slide; the measured dZ is ~90 degrees from desired.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16" grpId="0"/>
      <p:bldP spid="17" grpId="0"/>
      <p:bldP spid="2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D1: does the correction aim at the future feature?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50" dirty="0"/>
          </a:p>
        </p:txBody>
      </p:sp>
      <p:sp>
        <p:nvSpPr>
          <p:cNvPr id="7" name="diag-D1-q-k"/>
          <p:cNvSpPr/>
          <p:nvPr/>
        </p:nvSpPr>
        <p:spPr>
          <a:xfrm>
            <a:off x="658368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100" dirty="0"/>
          </a:p>
        </p:txBody>
      </p:sp>
      <p:sp>
        <p:nvSpPr>
          <p:cNvPr id="8" name="diag-D1-q-t"/>
          <p:cNvSpPr/>
          <p:nvPr/>
        </p:nvSpPr>
        <p:spPr>
          <a:xfrm>
            <a:off x="1481328" y="1481328"/>
            <a:ext cx="8497519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correction direction point toward the future feature?</a:t>
            </a:r>
            <a:endParaRPr lang="en-US" sz="1550" dirty="0"/>
          </a:p>
        </p:txBody>
      </p:sp>
      <p:sp>
        <p:nvSpPr>
          <p:cNvPr id="9" name="diag-D1-link-0"/>
          <p:cNvSpPr/>
          <p:nvPr/>
        </p:nvSpPr>
        <p:spPr>
          <a:xfrm>
            <a:off x="10253167" y="1517904"/>
            <a:ext cx="685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C1</a:t>
            </a:r>
            <a:endParaRPr lang="en-US" sz="950" dirty="0"/>
          </a:p>
        </p:txBody>
      </p:sp>
      <p:sp>
        <p:nvSpPr>
          <p:cNvPr id="10" name="diag-D1-measurement"/>
          <p:cNvSpPr/>
          <p:nvPr/>
        </p:nvSpPr>
        <p:spPr>
          <a:xfrm>
            <a:off x="658368" y="2148840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1" name="diag-D1-measurement__rule"/>
          <p:cNvSpPr/>
          <p:nvPr/>
        </p:nvSpPr>
        <p:spPr>
          <a:xfrm>
            <a:off x="658368" y="2148840"/>
            <a:ext cx="32004" cy="1188720"/>
          </a:xfrm>
          <a:prstGeom prst="rect">
            <a:avLst/>
          </a:prstGeom>
          <a:solidFill>
            <a:srgbClr val="3A3A3A"/>
          </a:solidFill>
          <a:ln/>
        </p:spPr>
      </p:sp>
      <p:sp>
        <p:nvSpPr>
          <p:cNvPr id="12" name="diag-D1-measurement__label"/>
          <p:cNvSpPr/>
          <p:nvPr/>
        </p:nvSpPr>
        <p:spPr>
          <a:xfrm>
            <a:off x="822960" y="2258568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950" dirty="0"/>
          </a:p>
        </p:txBody>
      </p:sp>
      <p:sp>
        <p:nvSpPr>
          <p:cNvPr id="13" name="diag-D1-measurement__text"/>
          <p:cNvSpPr/>
          <p:nvPr/>
        </p:nvSpPr>
        <p:spPr>
          <a:xfrm>
            <a:off x="822960" y="2514600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cos(deltaZ, Z_d - Z_s) = 0.1168</a:t>
            </a:r>
            <a:endParaRPr lang="en-US" sz="1800" dirty="0"/>
          </a:p>
        </p:txBody>
      </p:sp>
      <p:sp>
        <p:nvSpPr>
          <p:cNvPr id="14" name="diag-D1-observation"/>
          <p:cNvSpPr/>
          <p:nvPr/>
        </p:nvSpPr>
        <p:spPr>
          <a:xfrm>
            <a:off x="658368" y="3447288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5" name="diag-D1-observation__rule"/>
          <p:cNvSpPr/>
          <p:nvPr/>
        </p:nvSpPr>
        <p:spPr>
          <a:xfrm>
            <a:off x="658368" y="3447288"/>
            <a:ext cx="32004" cy="118872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16" name="diag-D1-observation__label"/>
          <p:cNvSpPr/>
          <p:nvPr/>
        </p:nvSpPr>
        <p:spPr>
          <a:xfrm>
            <a:off x="822960" y="3557016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50" dirty="0"/>
          </a:p>
        </p:txBody>
      </p:sp>
      <p:sp>
        <p:nvSpPr>
          <p:cNvPr id="17" name="diag-D1-observation__text"/>
          <p:cNvSpPr/>
          <p:nvPr/>
        </p:nvSpPr>
        <p:spPr>
          <a:xfrm>
            <a:off x="822960" y="3813048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direction is nearly orthogonal to the direction from the cached feature to the future feature.</a:t>
            </a:r>
            <a:endParaRPr lang="en-US" sz="1350" dirty="0"/>
          </a:p>
        </p:txBody>
      </p:sp>
      <p:sp>
        <p:nvSpPr>
          <p:cNvPr id="18" name="diag-D1-interpretation"/>
          <p:cNvSpPr/>
          <p:nvPr/>
        </p:nvSpPr>
        <p:spPr>
          <a:xfrm>
            <a:off x="658368" y="4745736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9" name="diag-D1-interpretation__rule"/>
          <p:cNvSpPr/>
          <p:nvPr/>
        </p:nvSpPr>
        <p:spPr>
          <a:xfrm>
            <a:off x="658368" y="4745736"/>
            <a:ext cx="32004" cy="118872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20" name="diag-D1-interpretation__label"/>
          <p:cNvSpPr/>
          <p:nvPr/>
        </p:nvSpPr>
        <p:spPr>
          <a:xfrm>
            <a:off x="822960" y="4855464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950" dirty="0"/>
          </a:p>
        </p:txBody>
      </p:sp>
      <p:sp>
        <p:nvSpPr>
          <p:cNvPr id="21" name="diag-D1-interpretation__text"/>
          <p:cNvSpPr/>
          <p:nvPr/>
        </p:nvSpPr>
        <p:spPr>
          <a:xfrm>
            <a:off x="822960" y="5111496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recovery may not require moving toward the exact future hidden state.</a:t>
            </a:r>
            <a:endParaRPr lang="en-US" sz="1350" dirty="0"/>
          </a:p>
        </p:txBody>
      </p:sp>
      <p:sp>
        <p:nvSpPr>
          <p:cNvPr id="22" name="diag-D1-can_conclude"/>
          <p:cNvSpPr/>
          <p:nvPr/>
        </p:nvSpPr>
        <p:spPr>
          <a:xfrm>
            <a:off x="7183344" y="2148840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23" name="diag-D1-can_conclude__rule"/>
          <p:cNvSpPr/>
          <p:nvPr/>
        </p:nvSpPr>
        <p:spPr>
          <a:xfrm>
            <a:off x="7183344" y="2148840"/>
            <a:ext cx="32004" cy="118872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4" name="diag-D1-can_conclude__label"/>
          <p:cNvSpPr/>
          <p:nvPr/>
        </p:nvSpPr>
        <p:spPr>
          <a:xfrm>
            <a:off x="7347936" y="2258568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conclude</a:t>
            </a:r>
            <a:endParaRPr lang="en-US" sz="950" dirty="0"/>
          </a:p>
        </p:txBody>
      </p:sp>
      <p:sp>
        <p:nvSpPr>
          <p:cNvPr id="25" name="diag-D1-can_conclude__text"/>
          <p:cNvSpPr/>
          <p:nvPr/>
        </p:nvSpPr>
        <p:spPr>
          <a:xfrm>
            <a:off x="7347936" y="2514600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as stated is not supported; the correction is not simply moving toward Z_d.</a:t>
            </a:r>
            <a:endParaRPr lang="en-US" sz="1150" dirty="0"/>
          </a:p>
        </p:txBody>
      </p:sp>
      <p:sp>
        <p:nvSpPr>
          <p:cNvPr id="26" name="diag-D1-cannot_conclude"/>
          <p:cNvSpPr/>
          <p:nvPr/>
        </p:nvSpPr>
        <p:spPr>
          <a:xfrm>
            <a:off x="7183344" y="3447288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27" name="diag-D1-cannot_conclude__rule"/>
          <p:cNvSpPr/>
          <p:nvPr/>
        </p:nvSpPr>
        <p:spPr>
          <a:xfrm>
            <a:off x="7183344" y="3447288"/>
            <a:ext cx="32004" cy="1188720"/>
          </a:xfrm>
          <a:prstGeom prst="rect">
            <a:avLst/>
          </a:prstGeom>
          <a:solidFill>
            <a:srgbClr val="9E3B32"/>
          </a:solidFill>
          <a:ln/>
        </p:spPr>
      </p:sp>
      <p:sp>
        <p:nvSpPr>
          <p:cNvPr id="28" name="diag-D1-cannot_conclude__label"/>
          <p:cNvSpPr/>
          <p:nvPr/>
        </p:nvSpPr>
        <p:spPr>
          <a:xfrm>
            <a:off x="7347936" y="3557016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conclude</a:t>
            </a:r>
            <a:endParaRPr lang="en-US" sz="950" dirty="0"/>
          </a:p>
        </p:txBody>
      </p:sp>
      <p:sp>
        <p:nvSpPr>
          <p:cNvPr id="29" name="diag-D1-cannot_conclude__text"/>
          <p:cNvSpPr/>
          <p:nvPr/>
        </p:nvSpPr>
        <p:spPr>
          <a:xfrm>
            <a:off x="7347936" y="3813048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correction is uninformative, or that the method fails.</a:t>
            </a:r>
            <a:endParaRPr lang="en-US" sz="1150" dirty="0"/>
          </a:p>
        </p:txBody>
      </p:sp>
      <p:sp>
        <p:nvSpPr>
          <p:cNvPr id="30" name="diag-D1-alternative_explanation"/>
          <p:cNvSpPr/>
          <p:nvPr/>
        </p:nvSpPr>
        <p:spPr>
          <a:xfrm>
            <a:off x="7183344" y="4745736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31" name="diag-D1-alternative_explanation__rule"/>
          <p:cNvSpPr/>
          <p:nvPr/>
        </p:nvSpPr>
        <p:spPr>
          <a:xfrm>
            <a:off x="7183344" y="4745736"/>
            <a:ext cx="32004" cy="118872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2" name="diag-D1-alternative_explanation__label"/>
          <p:cNvSpPr/>
          <p:nvPr/>
        </p:nvSpPr>
        <p:spPr>
          <a:xfrm>
            <a:off x="7347936" y="4855464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targeted</a:t>
            </a:r>
            <a:endParaRPr lang="en-US" sz="950" dirty="0"/>
          </a:p>
        </p:txBody>
      </p:sp>
      <p:sp>
        <p:nvSpPr>
          <p:cNvPr id="33" name="diag-D1-alternative_explanation__text"/>
          <p:cNvSpPr/>
          <p:nvPr/>
        </p:nvSpPr>
        <p:spPr>
          <a:xfrm>
            <a:off x="7347936" y="5111496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may exploit a downstream-valid direction that is not the future-feature direction.</a:t>
            </a:r>
            <a:endParaRPr lang="en-US" sz="115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4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0"/>
                      </p:stCondLst>
                      <p:childTnLst>
                        <p:par>
                          <p:cTn id="7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4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4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4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4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0"/>
                      </p:stCondLst>
                      <p:childTnLst>
                        <p:par>
                          <p:cTn id="9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4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0"/>
                      </p:stCondLst>
                      <p:childTnLst>
                        <p:par>
                          <p:cTn id="9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4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4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4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0" dur="4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competitor, last week, this week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50" dirty="0"/>
          </a:p>
        </p:txBody>
      </p:sp>
      <p:sp>
        <p:nvSpPr>
          <p:cNvPr id="7" name="bench-corner"/>
          <p:cNvSpPr/>
          <p:nvPr/>
        </p:nvSpPr>
        <p:spPr>
          <a:xfrm>
            <a:off x="658368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8" name="bench-metric-0"/>
          <p:cNvSpPr/>
          <p:nvPr/>
        </p:nvSpPr>
        <p:spPr>
          <a:xfrm>
            <a:off x="3401568" y="1965960"/>
            <a:ext cx="257342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cosine</a:t>
            </a:r>
            <a:endParaRPr lang="en-US" sz="1100" dirty="0"/>
          </a:p>
        </p:txBody>
      </p:sp>
      <p:sp>
        <p:nvSpPr>
          <p:cNvPr id="9" name="bench-metric-0-unit"/>
          <p:cNvSpPr/>
          <p:nvPr/>
        </p:nvSpPr>
        <p:spPr>
          <a:xfrm>
            <a:off x="3401568" y="2331720"/>
            <a:ext cx="2573426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is better</a:t>
            </a:r>
            <a:endParaRPr lang="en-US" sz="950" dirty="0"/>
          </a:p>
        </p:txBody>
      </p:sp>
      <p:sp>
        <p:nvSpPr>
          <p:cNvPr id="10" name="bench-metric-1"/>
          <p:cNvSpPr/>
          <p:nvPr/>
        </p:nvSpPr>
        <p:spPr>
          <a:xfrm>
            <a:off x="6112154" y="1965960"/>
            <a:ext cx="257342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acc.</a:t>
            </a:r>
            <a:endParaRPr lang="en-US" sz="1100" dirty="0"/>
          </a:p>
        </p:txBody>
      </p:sp>
      <p:sp>
        <p:nvSpPr>
          <p:cNvPr id="11" name="bench-metric-1-unit"/>
          <p:cNvSpPr/>
          <p:nvPr/>
        </p:nvSpPr>
        <p:spPr>
          <a:xfrm>
            <a:off x="6112154" y="2331720"/>
            <a:ext cx="2573426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is better</a:t>
            </a:r>
            <a:endParaRPr lang="en-US" sz="950" dirty="0"/>
          </a:p>
        </p:txBody>
      </p:sp>
      <p:sp>
        <p:nvSpPr>
          <p:cNvPr id="12" name="bench-vsep-1"/>
          <p:cNvSpPr/>
          <p:nvPr/>
        </p:nvSpPr>
        <p:spPr>
          <a:xfrm>
            <a:off x="6039002" y="1920240"/>
            <a:ext cx="10973" cy="290779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bench-metric-2"/>
          <p:cNvSpPr/>
          <p:nvPr/>
        </p:nvSpPr>
        <p:spPr>
          <a:xfrm>
            <a:off x="8822741" y="1965960"/>
            <a:ext cx="257342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recovery R2</a:t>
            </a:r>
            <a:endParaRPr lang="en-US" sz="1100" dirty="0"/>
          </a:p>
        </p:txBody>
      </p:sp>
      <p:sp>
        <p:nvSpPr>
          <p:cNvPr id="14" name="bench-metric-2-unit"/>
          <p:cNvSpPr/>
          <p:nvPr/>
        </p:nvSpPr>
        <p:spPr>
          <a:xfrm>
            <a:off x="8822741" y="2331720"/>
            <a:ext cx="2573426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is better</a:t>
            </a:r>
            <a:endParaRPr lang="en-US" sz="950" dirty="0"/>
          </a:p>
        </p:txBody>
      </p:sp>
      <p:sp>
        <p:nvSpPr>
          <p:cNvPr id="15" name="bench-vsep-2"/>
          <p:cNvSpPr/>
          <p:nvPr/>
        </p:nvSpPr>
        <p:spPr>
          <a:xfrm>
            <a:off x="8749589" y="1920240"/>
            <a:ext cx="10973" cy="290779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" name="bench-row-0-name"/>
          <p:cNvSpPr/>
          <p:nvPr/>
        </p:nvSpPr>
        <p:spPr>
          <a:xfrm>
            <a:off x="658368" y="2468880"/>
            <a:ext cx="25603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reuse only</a:t>
            </a:r>
            <a:endParaRPr lang="en-US" sz="1350" dirty="0"/>
          </a:p>
        </p:txBody>
      </p:sp>
      <p:sp>
        <p:nvSpPr>
          <p:cNvPr id="17" name="bench-row-0-role"/>
          <p:cNvSpPr/>
          <p:nvPr/>
        </p:nvSpPr>
        <p:spPr>
          <a:xfrm>
            <a:off x="658368" y="2999232"/>
            <a:ext cx="25603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950" dirty="0"/>
          </a:p>
        </p:txBody>
      </p:sp>
      <p:sp>
        <p:nvSpPr>
          <p:cNvPr id="18" name="bench-row-0-m0"/>
          <p:cNvSpPr/>
          <p:nvPr/>
        </p:nvSpPr>
        <p:spPr>
          <a:xfrm>
            <a:off x="3401568" y="2468880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0.42</a:t>
            </a:r>
            <a:endParaRPr lang="en-US" sz="1800" dirty="0"/>
          </a:p>
        </p:txBody>
      </p:sp>
      <p:sp>
        <p:nvSpPr>
          <p:cNvPr id="19" name="bench-row-0-m1"/>
          <p:cNvSpPr/>
          <p:nvPr/>
        </p:nvSpPr>
        <p:spPr>
          <a:xfrm>
            <a:off x="6112154" y="2468880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0.74</a:t>
            </a:r>
            <a:endParaRPr lang="en-US" sz="1800" dirty="0"/>
          </a:p>
        </p:txBody>
      </p:sp>
      <p:sp>
        <p:nvSpPr>
          <p:cNvPr id="20" name="bench-row-0-m2"/>
          <p:cNvSpPr/>
          <p:nvPr/>
        </p:nvSpPr>
        <p:spPr>
          <a:xfrm>
            <a:off x="8822741" y="2468880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</a:t>
            </a:r>
            <a:endParaRPr lang="en-US" sz="1800" dirty="0"/>
          </a:p>
        </p:txBody>
      </p:sp>
      <p:sp>
        <p:nvSpPr>
          <p:cNvPr id="21" name="bench-row-1-name"/>
          <p:cNvSpPr/>
          <p:nvPr/>
        </p:nvSpPr>
        <p:spPr>
          <a:xfrm>
            <a:off x="658368" y="3255264"/>
            <a:ext cx="25603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(v3, last week)</a:t>
            </a:r>
            <a:endParaRPr lang="en-US" sz="1350" dirty="0"/>
          </a:p>
        </p:txBody>
      </p:sp>
      <p:sp>
        <p:nvSpPr>
          <p:cNvPr id="22" name="bench-row-1-role"/>
          <p:cNvSpPr/>
          <p:nvPr/>
        </p:nvSpPr>
        <p:spPr>
          <a:xfrm>
            <a:off x="658368" y="3785616"/>
            <a:ext cx="25603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· LAST WEEK</a:t>
            </a:r>
            <a:endParaRPr lang="en-US" sz="950" dirty="0"/>
          </a:p>
        </p:txBody>
      </p:sp>
      <p:sp>
        <p:nvSpPr>
          <p:cNvPr id="23" name="bench-row-1-m0"/>
          <p:cNvSpPr/>
          <p:nvPr/>
        </p:nvSpPr>
        <p:spPr>
          <a:xfrm>
            <a:off x="3401568" y="3255264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0.51</a:t>
            </a:r>
            <a:endParaRPr lang="en-US" sz="1800" dirty="0"/>
          </a:p>
        </p:txBody>
      </p:sp>
      <p:sp>
        <p:nvSpPr>
          <p:cNvPr id="24" name="bench-row-1-m1"/>
          <p:cNvSpPr/>
          <p:nvPr/>
        </p:nvSpPr>
        <p:spPr>
          <a:xfrm>
            <a:off x="6112154" y="3255264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</a:t>
            </a:r>
            <a:endParaRPr lang="en-US" sz="1800" dirty="0"/>
          </a:p>
        </p:txBody>
      </p:sp>
      <p:sp>
        <p:nvSpPr>
          <p:cNvPr id="25" name="bench-row-1-m2"/>
          <p:cNvSpPr/>
          <p:nvPr/>
        </p:nvSpPr>
        <p:spPr>
          <a:xfrm>
            <a:off x="8822741" y="3255264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0.30</a:t>
            </a:r>
            <a:endParaRPr lang="en-US" sz="1800" dirty="0"/>
          </a:p>
        </p:txBody>
      </p:sp>
      <p:sp>
        <p:nvSpPr>
          <p:cNvPr id="26" name="bench-row-current"/>
          <p:cNvSpPr/>
          <p:nvPr/>
        </p:nvSpPr>
        <p:spPr>
          <a:xfrm>
            <a:off x="548640" y="3986784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EAF1F4"/>
          </a:solidFill>
          <a:ln w="12700">
            <a:solidFill>
              <a:srgbClr val="245B78"/>
            </a:solidFill>
            <a:prstDash val="solid"/>
            <a:headEnd type="none"/>
            <a:tailEnd type="none"/>
          </a:ln>
        </p:spPr>
      </p:sp>
      <p:sp>
        <p:nvSpPr>
          <p:cNvPr id="27" name="bench-row-2-name"/>
          <p:cNvSpPr/>
          <p:nvPr/>
        </p:nvSpPr>
        <p:spPr>
          <a:xfrm>
            <a:off x="658368" y="4041648"/>
            <a:ext cx="25603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(v4, this week)</a:t>
            </a:r>
            <a:endParaRPr lang="en-US" sz="1350" dirty="0"/>
          </a:p>
        </p:txBody>
      </p:sp>
      <p:sp>
        <p:nvSpPr>
          <p:cNvPr id="28" name="bench-row-2-role"/>
          <p:cNvSpPr/>
          <p:nvPr/>
        </p:nvSpPr>
        <p:spPr>
          <a:xfrm>
            <a:off x="658368" y="4572000"/>
            <a:ext cx="25603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· THIS WEEK</a:t>
            </a:r>
            <a:endParaRPr lang="en-US" sz="950" dirty="0"/>
          </a:p>
        </p:txBody>
      </p:sp>
      <p:sp>
        <p:nvSpPr>
          <p:cNvPr id="29" name="bench-row-2-m0"/>
          <p:cNvSpPr/>
          <p:nvPr/>
        </p:nvSpPr>
        <p:spPr>
          <a:xfrm>
            <a:off x="3401568" y="4041648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45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0.58</a:t>
            </a:r>
            <a:endParaRPr lang="en-US" sz="2100" dirty="0"/>
          </a:p>
        </p:txBody>
      </p:sp>
      <p:sp>
        <p:nvSpPr>
          <p:cNvPr id="30" name="bench-row-2-m0-delta"/>
          <p:cNvSpPr/>
          <p:nvPr/>
        </p:nvSpPr>
        <p:spPr>
          <a:xfrm>
            <a:off x="3401568" y="4535424"/>
            <a:ext cx="257342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+0.07</a:t>
            </a:r>
            <a:endParaRPr lang="en-US" sz="950" dirty="0"/>
          </a:p>
        </p:txBody>
      </p:sp>
      <p:sp>
        <p:nvSpPr>
          <p:cNvPr id="31" name="bench-row-2-m1"/>
          <p:cNvSpPr/>
          <p:nvPr/>
        </p:nvSpPr>
        <p:spPr>
          <a:xfrm>
            <a:off x="6112154" y="4041648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45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2100" dirty="0"/>
          </a:p>
        </p:txBody>
      </p:sp>
      <p:sp>
        <p:nvSpPr>
          <p:cNvPr id="32" name="bench-row-2-m1-delta"/>
          <p:cNvSpPr/>
          <p:nvPr/>
        </p:nvSpPr>
        <p:spPr>
          <a:xfrm>
            <a:off x="6112154" y="4535424"/>
            <a:ext cx="257342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</a:t>
            </a:r>
            <a:endParaRPr lang="en-US" sz="950" dirty="0"/>
          </a:p>
        </p:txBody>
      </p:sp>
      <p:sp>
        <p:nvSpPr>
          <p:cNvPr id="33" name="bench-row-2-m2"/>
          <p:cNvSpPr/>
          <p:nvPr/>
        </p:nvSpPr>
        <p:spPr>
          <a:xfrm>
            <a:off x="8822741" y="4041648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45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0.34</a:t>
            </a:r>
            <a:endParaRPr lang="en-US" sz="2100" dirty="0"/>
          </a:p>
        </p:txBody>
      </p:sp>
      <p:sp>
        <p:nvSpPr>
          <p:cNvPr id="34" name="bench-row-2-m2-delta"/>
          <p:cNvSpPr/>
          <p:nvPr/>
        </p:nvSpPr>
        <p:spPr>
          <a:xfrm>
            <a:off x="8822741" y="4535424"/>
            <a:ext cx="257342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+0.04</a:t>
            </a:r>
            <a:endParaRPr lang="en-US" sz="950" dirty="0"/>
          </a:p>
        </p:txBody>
      </p:sp>
      <p:sp>
        <p:nvSpPr>
          <p:cNvPr id="35" name="bench-caption"/>
          <p:cNvSpPr/>
          <p:nvPr/>
        </p:nvSpPr>
        <p:spPr>
          <a:xfrm>
            <a:off x="658368" y="5084064"/>
            <a:ext cx="10874959" cy="868680"/>
          </a:xfrm>
          <a:prstGeom prst="roundRect">
            <a:avLst>
              <a:gd name="adj" fmla="val 315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36" name="bench-caption-t"/>
          <p:cNvSpPr/>
          <p:nvPr/>
        </p:nvSpPr>
        <p:spPr>
          <a:xfrm>
            <a:off x="914400" y="5212080"/>
            <a:ext cx="10362895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improves both downstream metrics over v3. Feature recovery stays low; that is the evidence behind the weakened C1 and the emerging C2, not a hidden weakness.</a:t>
            </a:r>
            <a:endParaRPr lang="en-US" sz="135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4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4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4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4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4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4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0"/>
                      </p:stCondLst>
                      <p:childTnLst>
                        <p:par>
                          <p:cTn id="9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4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0"/>
                      </p:stCondLst>
                      <p:childTnLst>
                        <p:par>
                          <p:cTn id="9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4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4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4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0" dur="40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4" dur="4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3" grpId="0"/>
      <p:bldP spid="14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26" grpId="0"/>
      <p:bldP spid="35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week does to our claims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50" dirty="0"/>
          </a:p>
        </p:txBody>
      </p:sp>
      <p:sp>
        <p:nvSpPr>
          <p:cNvPr id="7" name="claimdelta-C1"/>
          <p:cNvSpPr/>
          <p:nvPr/>
        </p:nvSpPr>
        <p:spPr>
          <a:xfrm>
            <a:off x="658368" y="1627632"/>
            <a:ext cx="10874959" cy="1417320"/>
          </a:xfrm>
          <a:prstGeom prst="roundRect">
            <a:avLst>
              <a:gd name="adj" fmla="val 1935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8" name="claimdelta-C1-id"/>
          <p:cNvSpPr/>
          <p:nvPr/>
        </p:nvSpPr>
        <p:spPr>
          <a:xfrm>
            <a:off x="877824" y="1755648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600" dirty="0"/>
          </a:p>
        </p:txBody>
      </p:sp>
      <p:sp>
        <p:nvSpPr>
          <p:cNvPr id="9" name="claimdelta-C1-stmt"/>
          <p:cNvSpPr/>
          <p:nvPr/>
        </p:nvSpPr>
        <p:spPr>
          <a:xfrm>
            <a:off x="877824" y="2084832"/>
            <a:ext cx="6742475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learned correction approximates the true future feature.</a:t>
            </a:r>
            <a:endParaRPr lang="en-US" sz="1350" dirty="0"/>
          </a:p>
        </p:txBody>
      </p:sp>
      <p:sp>
        <p:nvSpPr>
          <p:cNvPr id="10" name="claimdelta-C1-prev"/>
          <p:cNvSpPr/>
          <p:nvPr/>
        </p:nvSpPr>
        <p:spPr>
          <a:xfrm>
            <a:off x="7830007" y="2180844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45B78"/>
            </a:solidFill>
            <a:prstDash val="solid"/>
            <a:headEnd type="none"/>
            <a:tailEnd type="none"/>
          </a:ln>
        </p:spPr>
      </p:sp>
      <p:sp>
        <p:nvSpPr>
          <p:cNvPr id="11" name="claimdelta-C1-prev__label"/>
          <p:cNvSpPr/>
          <p:nvPr/>
        </p:nvSpPr>
        <p:spPr>
          <a:xfrm>
            <a:off x="7830007" y="2180844"/>
            <a:ext cx="1508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</a:t>
            </a:r>
            <a:endParaRPr lang="en-US" sz="950" dirty="0"/>
          </a:p>
        </p:txBody>
      </p:sp>
      <p:sp>
        <p:nvSpPr>
          <p:cNvPr id="12" name="claimdelta-C1-arr"/>
          <p:cNvSpPr/>
          <p:nvPr/>
        </p:nvSpPr>
        <p:spPr>
          <a:xfrm>
            <a:off x="9384487" y="2336292"/>
            <a:ext cx="50292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13" name="claimdelta-C1-curr"/>
          <p:cNvSpPr/>
          <p:nvPr/>
        </p:nvSpPr>
        <p:spPr>
          <a:xfrm>
            <a:off x="9997135" y="2180844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E3B32"/>
            </a:solidFill>
            <a:prstDash val="solid"/>
            <a:headEnd type="none"/>
            <a:tailEnd type="none"/>
          </a:ln>
        </p:spPr>
      </p:sp>
      <p:sp>
        <p:nvSpPr>
          <p:cNvPr id="14" name="claimdelta-C1-curr__label"/>
          <p:cNvSpPr/>
          <p:nvPr/>
        </p:nvSpPr>
        <p:spPr>
          <a:xfrm>
            <a:off x="9997135" y="2180844"/>
            <a:ext cx="1508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weakened</a:t>
            </a:r>
            <a:endParaRPr lang="en-US" sz="950" dirty="0"/>
          </a:p>
        </p:txBody>
      </p:sp>
      <p:sp>
        <p:nvSpPr>
          <p:cNvPr id="15" name="claimdelta-C1-note"/>
          <p:cNvSpPr/>
          <p:nvPr/>
        </p:nvSpPr>
        <p:spPr>
          <a:xfrm>
            <a:off x="7618342" y="2642616"/>
            <a:ext cx="326248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D1: cos 0.117</a:t>
            </a:r>
            <a:endParaRPr lang="en-US" sz="950" dirty="0"/>
          </a:p>
        </p:txBody>
      </p:sp>
      <p:sp>
        <p:nvSpPr>
          <p:cNvPr id="16" name="claimdelta-C2"/>
          <p:cNvSpPr/>
          <p:nvPr/>
        </p:nvSpPr>
        <p:spPr>
          <a:xfrm>
            <a:off x="658368" y="3154680"/>
            <a:ext cx="10874959" cy="1417320"/>
          </a:xfrm>
          <a:prstGeom prst="roundRect">
            <a:avLst>
              <a:gd name="adj" fmla="val 1935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17" name="claimdelta-C2-id"/>
          <p:cNvSpPr/>
          <p:nvPr/>
        </p:nvSpPr>
        <p:spPr>
          <a:xfrm>
            <a:off x="877824" y="3282696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600" dirty="0"/>
          </a:p>
        </p:txBody>
      </p:sp>
      <p:sp>
        <p:nvSpPr>
          <p:cNvPr id="18" name="claimdelta-C2-stmt"/>
          <p:cNvSpPr/>
          <p:nvPr/>
        </p:nvSpPr>
        <p:spPr>
          <a:xfrm>
            <a:off x="877824" y="3611880"/>
            <a:ext cx="6742475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alternative downstream-valid pre-image may be sufficient; output recovery does not require feature recovery.</a:t>
            </a:r>
            <a:endParaRPr lang="en-US" sz="1350" dirty="0"/>
          </a:p>
        </p:txBody>
      </p:sp>
      <p:sp>
        <p:nvSpPr>
          <p:cNvPr id="19" name="claimdelta-C2-prev"/>
          <p:cNvSpPr/>
          <p:nvPr/>
        </p:nvSpPr>
        <p:spPr>
          <a:xfrm>
            <a:off x="7830007" y="3707892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B9B9B"/>
            </a:solidFill>
            <a:prstDash val="solid"/>
            <a:headEnd type="none"/>
            <a:tailEnd type="none"/>
          </a:ln>
        </p:spPr>
      </p:sp>
      <p:sp>
        <p:nvSpPr>
          <p:cNvPr id="20" name="claimdelta-C2-prev__label"/>
          <p:cNvSpPr/>
          <p:nvPr/>
        </p:nvSpPr>
        <p:spPr>
          <a:xfrm>
            <a:off x="7830007" y="3707892"/>
            <a:ext cx="1508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950" dirty="0"/>
          </a:p>
        </p:txBody>
      </p:sp>
      <p:sp>
        <p:nvSpPr>
          <p:cNvPr id="21" name="claimdelta-C2-arr"/>
          <p:cNvSpPr/>
          <p:nvPr/>
        </p:nvSpPr>
        <p:spPr>
          <a:xfrm>
            <a:off x="9384487" y="3863340"/>
            <a:ext cx="50292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22" name="claimdelta-C2-curr"/>
          <p:cNvSpPr/>
          <p:nvPr/>
        </p:nvSpPr>
        <p:spPr>
          <a:xfrm>
            <a:off x="9997135" y="3707892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1602A"/>
            </a:solidFill>
            <a:prstDash val="solid"/>
            <a:headEnd type="none"/>
            <a:tailEnd type="none"/>
          </a:ln>
        </p:spPr>
      </p:sp>
      <p:sp>
        <p:nvSpPr>
          <p:cNvPr id="23" name="claimdelta-C2-curr__label"/>
          <p:cNvSpPr/>
          <p:nvPr/>
        </p:nvSpPr>
        <p:spPr>
          <a:xfrm>
            <a:off x="9997135" y="3707892"/>
            <a:ext cx="1508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A16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</a:t>
            </a:r>
            <a:endParaRPr lang="en-US" sz="950" dirty="0"/>
          </a:p>
        </p:txBody>
      </p:sp>
      <p:sp>
        <p:nvSpPr>
          <p:cNvPr id="24" name="claimdelta-C2-note"/>
          <p:cNvSpPr/>
          <p:nvPr/>
        </p:nvSpPr>
        <p:spPr>
          <a:xfrm>
            <a:off x="7618342" y="4169664"/>
            <a:ext cx="326248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D2: high output, low feature recovery</a:t>
            </a:r>
            <a:endParaRPr lang="en-US" sz="950" dirty="0"/>
          </a:p>
        </p:txBody>
      </p:sp>
      <p:sp>
        <p:nvSpPr>
          <p:cNvPr id="25" name="claimdelta-note"/>
          <p:cNvSpPr/>
          <p:nvPr/>
        </p:nvSpPr>
        <p:spPr>
          <a:xfrm>
            <a:off x="658368" y="4727448"/>
            <a:ext cx="10874959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claim is refuted or confirmed; both remain under test.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4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0"/>
                      </p:stCondLst>
                      <p:childTnLst>
                        <p:par>
                          <p:cTn id="7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4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4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D2: does output recovery require feature recovery?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50" dirty="0"/>
          </a:p>
        </p:txBody>
      </p:sp>
      <p:sp>
        <p:nvSpPr>
          <p:cNvPr id="7" name="diag-D2-q-k"/>
          <p:cNvSpPr/>
          <p:nvPr/>
        </p:nvSpPr>
        <p:spPr>
          <a:xfrm>
            <a:off x="658368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100" dirty="0"/>
          </a:p>
        </p:txBody>
      </p:sp>
      <p:sp>
        <p:nvSpPr>
          <p:cNvPr id="8" name="diag-D2-q-t"/>
          <p:cNvSpPr/>
          <p:nvPr/>
        </p:nvSpPr>
        <p:spPr>
          <a:xfrm>
            <a:off x="1481328" y="1481328"/>
            <a:ext cx="8497519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output recovery require feature recovery?</a:t>
            </a:r>
            <a:endParaRPr lang="en-US" sz="1550" dirty="0"/>
          </a:p>
        </p:txBody>
      </p:sp>
      <p:sp>
        <p:nvSpPr>
          <p:cNvPr id="9" name="diag-D2-link-0"/>
          <p:cNvSpPr/>
          <p:nvPr/>
        </p:nvSpPr>
        <p:spPr>
          <a:xfrm>
            <a:off x="10253167" y="1517904"/>
            <a:ext cx="685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C2</a:t>
            </a:r>
            <a:endParaRPr lang="en-US" sz="950" dirty="0"/>
          </a:p>
        </p:txBody>
      </p:sp>
      <p:sp>
        <p:nvSpPr>
          <p:cNvPr id="10" name="diag-D2-measurement"/>
          <p:cNvSpPr/>
          <p:nvPr/>
        </p:nvSpPr>
        <p:spPr>
          <a:xfrm>
            <a:off x="658368" y="2148840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1" name="diag-D2-measurement__rule"/>
          <p:cNvSpPr/>
          <p:nvPr/>
        </p:nvSpPr>
        <p:spPr>
          <a:xfrm>
            <a:off x="658368" y="2148840"/>
            <a:ext cx="32004" cy="1188720"/>
          </a:xfrm>
          <a:prstGeom prst="rect">
            <a:avLst/>
          </a:prstGeom>
          <a:solidFill>
            <a:srgbClr val="3A3A3A"/>
          </a:solidFill>
          <a:ln/>
        </p:spPr>
      </p:sp>
      <p:sp>
        <p:nvSpPr>
          <p:cNvPr id="12" name="diag-D2-measurement__label"/>
          <p:cNvSpPr/>
          <p:nvPr/>
        </p:nvSpPr>
        <p:spPr>
          <a:xfrm>
            <a:off x="822960" y="2258568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950" dirty="0"/>
          </a:p>
        </p:txBody>
      </p:sp>
      <p:sp>
        <p:nvSpPr>
          <p:cNvPr id="13" name="diag-D2-measurement__text"/>
          <p:cNvSpPr/>
          <p:nvPr/>
        </p:nvSpPr>
        <p:spPr>
          <a:xfrm>
            <a:off x="822960" y="2514600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 probe R^2 for recovering Z_d from the corrected feature = 0.34; downstream accuracy = 0.91</a:t>
            </a:r>
            <a:endParaRPr lang="en-US" sz="1350" dirty="0"/>
          </a:p>
        </p:txBody>
      </p:sp>
      <p:sp>
        <p:nvSpPr>
          <p:cNvPr id="14" name="diag-D2-observation"/>
          <p:cNvSpPr/>
          <p:nvPr/>
        </p:nvSpPr>
        <p:spPr>
          <a:xfrm>
            <a:off x="658368" y="3447288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5" name="diag-D2-observation__rule"/>
          <p:cNvSpPr/>
          <p:nvPr/>
        </p:nvSpPr>
        <p:spPr>
          <a:xfrm>
            <a:off x="658368" y="3447288"/>
            <a:ext cx="32004" cy="118872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16" name="diag-D2-observation__label"/>
          <p:cNvSpPr/>
          <p:nvPr/>
        </p:nvSpPr>
        <p:spPr>
          <a:xfrm>
            <a:off x="822960" y="3557016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50" dirty="0"/>
          </a:p>
        </p:txBody>
      </p:sp>
      <p:sp>
        <p:nvSpPr>
          <p:cNvPr id="17" name="diag-D2-observation__text"/>
          <p:cNvSpPr/>
          <p:nvPr/>
        </p:nvSpPr>
        <p:spPr>
          <a:xfrm>
            <a:off x="822960" y="3813048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accuracy is high while feature recovery remains low.</a:t>
            </a:r>
            <a:endParaRPr lang="en-US" sz="1350" dirty="0"/>
          </a:p>
        </p:txBody>
      </p:sp>
      <p:sp>
        <p:nvSpPr>
          <p:cNvPr id="18" name="diag-D2-interpretation"/>
          <p:cNvSpPr/>
          <p:nvPr/>
        </p:nvSpPr>
        <p:spPr>
          <a:xfrm>
            <a:off x="658368" y="4745736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9" name="diag-D2-interpretation__rule"/>
          <p:cNvSpPr/>
          <p:nvPr/>
        </p:nvSpPr>
        <p:spPr>
          <a:xfrm>
            <a:off x="658368" y="4745736"/>
            <a:ext cx="32004" cy="118872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20" name="diag-D2-interpretation__label"/>
          <p:cNvSpPr/>
          <p:nvPr/>
        </p:nvSpPr>
        <p:spPr>
          <a:xfrm>
            <a:off x="822960" y="4855464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950" dirty="0"/>
          </a:p>
        </p:txBody>
      </p:sp>
      <p:sp>
        <p:nvSpPr>
          <p:cNvPr id="21" name="diag-D2-interpretation__text"/>
          <p:cNvSpPr/>
          <p:nvPr/>
        </p:nvSpPr>
        <p:spPr>
          <a:xfrm>
            <a:off x="822960" y="5111496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downstream-valid pre-image that is not the true future feature may be sufficient.</a:t>
            </a:r>
            <a:endParaRPr lang="en-US" sz="1350" dirty="0"/>
          </a:p>
        </p:txBody>
      </p:sp>
      <p:sp>
        <p:nvSpPr>
          <p:cNvPr id="22" name="diag-D2-can_conclude"/>
          <p:cNvSpPr/>
          <p:nvPr/>
        </p:nvSpPr>
        <p:spPr>
          <a:xfrm>
            <a:off x="7183344" y="2148840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23" name="diag-D2-can_conclude__rule"/>
          <p:cNvSpPr/>
          <p:nvPr/>
        </p:nvSpPr>
        <p:spPr>
          <a:xfrm>
            <a:off x="7183344" y="2148840"/>
            <a:ext cx="32004" cy="118872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4" name="diag-D2-can_conclude__label"/>
          <p:cNvSpPr/>
          <p:nvPr/>
        </p:nvSpPr>
        <p:spPr>
          <a:xfrm>
            <a:off x="7347936" y="2258568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conclude</a:t>
            </a:r>
            <a:endParaRPr lang="en-US" sz="950" dirty="0"/>
          </a:p>
        </p:txBody>
      </p:sp>
      <p:sp>
        <p:nvSpPr>
          <p:cNvPr id="25" name="diag-D2-can_conclude__text"/>
          <p:cNvSpPr/>
          <p:nvPr/>
        </p:nvSpPr>
        <p:spPr>
          <a:xfrm>
            <a:off x="7347936" y="2514600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recovery can occur without strong feature recovery in this setup.</a:t>
            </a:r>
            <a:endParaRPr lang="en-US" sz="1150" dirty="0"/>
          </a:p>
        </p:txBody>
      </p:sp>
      <p:sp>
        <p:nvSpPr>
          <p:cNvPr id="26" name="diag-D2-cannot_conclude"/>
          <p:cNvSpPr/>
          <p:nvPr/>
        </p:nvSpPr>
        <p:spPr>
          <a:xfrm>
            <a:off x="7183344" y="3447288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27" name="diag-D2-cannot_conclude__rule"/>
          <p:cNvSpPr/>
          <p:nvPr/>
        </p:nvSpPr>
        <p:spPr>
          <a:xfrm>
            <a:off x="7183344" y="3447288"/>
            <a:ext cx="32004" cy="1188720"/>
          </a:xfrm>
          <a:prstGeom prst="rect">
            <a:avLst/>
          </a:prstGeom>
          <a:solidFill>
            <a:srgbClr val="9E3B32"/>
          </a:solidFill>
          <a:ln/>
        </p:spPr>
      </p:sp>
      <p:sp>
        <p:nvSpPr>
          <p:cNvPr id="28" name="diag-D2-cannot_conclude__label"/>
          <p:cNvSpPr/>
          <p:nvPr/>
        </p:nvSpPr>
        <p:spPr>
          <a:xfrm>
            <a:off x="7347936" y="3557016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conclude</a:t>
            </a:r>
            <a:endParaRPr lang="en-US" sz="950" dirty="0"/>
          </a:p>
        </p:txBody>
      </p:sp>
      <p:sp>
        <p:nvSpPr>
          <p:cNvPr id="29" name="diag-D2-cannot_conclude__text"/>
          <p:cNvSpPr/>
          <p:nvPr/>
        </p:nvSpPr>
        <p:spPr>
          <a:xfrm>
            <a:off x="7347936" y="3813048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no valid feature recovery exists, or that the probe is a complete measurement.</a:t>
            </a:r>
            <a:endParaRPr lang="en-US" sz="1150" dirty="0"/>
          </a:p>
        </p:txBody>
      </p:sp>
      <p:sp>
        <p:nvSpPr>
          <p:cNvPr id="30" name="diag-D2-alternative_explanation"/>
          <p:cNvSpPr/>
          <p:nvPr/>
        </p:nvSpPr>
        <p:spPr>
          <a:xfrm>
            <a:off x="7183344" y="4745736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31" name="diag-D2-alternative_explanation__rule"/>
          <p:cNvSpPr/>
          <p:nvPr/>
        </p:nvSpPr>
        <p:spPr>
          <a:xfrm>
            <a:off x="7183344" y="4745736"/>
            <a:ext cx="32004" cy="118872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2" name="diag-D2-alternative_explanation__label"/>
          <p:cNvSpPr/>
          <p:nvPr/>
        </p:nvSpPr>
        <p:spPr>
          <a:xfrm>
            <a:off x="7347936" y="4855464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targeted</a:t>
            </a:r>
            <a:endParaRPr lang="en-US" sz="950" dirty="0"/>
          </a:p>
        </p:txBody>
      </p:sp>
      <p:sp>
        <p:nvSpPr>
          <p:cNvPr id="33" name="diag-D2-alternative_explanation__text"/>
          <p:cNvSpPr/>
          <p:nvPr/>
        </p:nvSpPr>
        <p:spPr>
          <a:xfrm>
            <a:off x="7347936" y="5111496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probe may fail to decode information that is present in the feature.</a:t>
            </a:r>
            <a:endParaRPr lang="en-US" sz="115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4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0"/>
                      </p:stCondLst>
                      <p:childTnLst>
                        <p:par>
                          <p:cTn id="7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4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4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4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4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0"/>
                      </p:stCondLst>
                      <p:childTnLst>
                        <p:par>
                          <p:cTn id="9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4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0"/>
                      </p:stCondLst>
                      <p:childTnLst>
                        <p:par>
                          <p:cTn id="9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4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4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4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0" dur="4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open questions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50" dirty="0"/>
          </a:p>
        </p:txBody>
      </p:sp>
      <p:sp>
        <p:nvSpPr>
          <p:cNvPr id="7" name="lim-panel"/>
          <p:cNvSpPr/>
          <p:nvPr/>
        </p:nvSpPr>
        <p:spPr>
          <a:xfrm>
            <a:off x="658368" y="1572768"/>
            <a:ext cx="5654979" cy="4297680"/>
          </a:xfrm>
          <a:prstGeom prst="roundRect">
            <a:avLst>
              <a:gd name="adj" fmla="val 63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8" name="lim-panel__title"/>
          <p:cNvSpPr/>
          <p:nvPr/>
        </p:nvSpPr>
        <p:spPr>
          <a:xfrm>
            <a:off x="859536" y="1719072"/>
            <a:ext cx="5252643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300" dirty="0"/>
          </a:p>
        </p:txBody>
      </p:sp>
      <p:sp>
        <p:nvSpPr>
          <p:cNvPr id="9" name="lim-0-n"/>
          <p:cNvSpPr/>
          <p:nvPr/>
        </p:nvSpPr>
        <p:spPr>
          <a:xfrm>
            <a:off x="896112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lim-0"/>
          <p:cNvSpPr/>
          <p:nvPr/>
        </p:nvSpPr>
        <p:spPr>
          <a:xfrm>
            <a:off x="1280160" y="2231136"/>
            <a:ext cx="477715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valid pre-images have not been directly characterized.</a:t>
            </a:r>
            <a:endParaRPr lang="en-US" sz="1350" dirty="0"/>
          </a:p>
        </p:txBody>
      </p:sp>
      <p:sp>
        <p:nvSpPr>
          <p:cNvPr id="11" name="lim-1-n"/>
          <p:cNvSpPr/>
          <p:nvPr/>
        </p:nvSpPr>
        <p:spPr>
          <a:xfrm>
            <a:off x="896112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lim-1"/>
          <p:cNvSpPr/>
          <p:nvPr/>
        </p:nvSpPr>
        <p:spPr>
          <a:xfrm>
            <a:off x="1280160" y="3127248"/>
            <a:ext cx="477715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oracle diagnostic uses the future feature as an upper bound and is unavailable at inference.</a:t>
            </a:r>
            <a:endParaRPr lang="en-US" sz="1350" dirty="0"/>
          </a:p>
        </p:txBody>
      </p:sp>
      <p:sp>
        <p:nvSpPr>
          <p:cNvPr id="13" name="lim-2-n"/>
          <p:cNvSpPr/>
          <p:nvPr/>
        </p:nvSpPr>
        <p:spPr>
          <a:xfrm>
            <a:off x="896112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lim-2"/>
          <p:cNvSpPr/>
          <p:nvPr/>
        </p:nvSpPr>
        <p:spPr>
          <a:xfrm>
            <a:off x="1280160" y="4023360"/>
            <a:ext cx="477715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recovery is measured with a single linear probe.</a:t>
            </a:r>
            <a:endParaRPr lang="en-US" sz="1350" dirty="0"/>
          </a:p>
        </p:txBody>
      </p:sp>
      <p:sp>
        <p:nvSpPr>
          <p:cNvPr id="15" name="lim-open"/>
          <p:cNvSpPr/>
          <p:nvPr/>
        </p:nvSpPr>
        <p:spPr>
          <a:xfrm>
            <a:off x="6639596" y="1572768"/>
            <a:ext cx="4893732" cy="4297680"/>
          </a:xfrm>
          <a:prstGeom prst="roundRect">
            <a:avLst>
              <a:gd name="adj" fmla="val 63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16" name="lim-open__title"/>
          <p:cNvSpPr/>
          <p:nvPr/>
        </p:nvSpPr>
        <p:spPr>
          <a:xfrm>
            <a:off x="6840764" y="1719072"/>
            <a:ext cx="449139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300" dirty="0"/>
          </a:p>
        </p:txBody>
      </p:sp>
      <p:sp>
        <p:nvSpPr>
          <p:cNvPr id="17" name="lim-open-0-q"/>
          <p:cNvSpPr/>
          <p:nvPr/>
        </p:nvSpPr>
        <p:spPr>
          <a:xfrm>
            <a:off x="6877340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8" name="lim-open-0"/>
          <p:cNvSpPr/>
          <p:nvPr/>
        </p:nvSpPr>
        <p:spPr>
          <a:xfrm>
            <a:off x="7261388" y="2231136"/>
            <a:ext cx="4015908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characterize downstream-valid pre-images without the oracle?</a:t>
            </a:r>
            <a:endParaRPr lang="en-US" sz="1350" dirty="0"/>
          </a:p>
        </p:txBody>
      </p:sp>
      <p:sp>
        <p:nvSpPr>
          <p:cNvPr id="19" name="lim-open-1-q"/>
          <p:cNvSpPr/>
          <p:nvPr/>
        </p:nvSpPr>
        <p:spPr>
          <a:xfrm>
            <a:off x="687734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20" name="lim-open-1"/>
          <p:cNvSpPr/>
          <p:nvPr/>
        </p:nvSpPr>
        <p:spPr>
          <a:xfrm>
            <a:off x="7261388" y="3127248"/>
            <a:ext cx="4015908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correction generalize to horizons beyond the training horizon?</a:t>
            </a:r>
            <a:endParaRPr lang="en-US" sz="1350" dirty="0"/>
          </a:p>
        </p:txBody>
      </p:sp>
      <p:sp>
        <p:nvSpPr>
          <p:cNvPr id="21" name="lim-open-2-q"/>
          <p:cNvSpPr/>
          <p:nvPr/>
        </p:nvSpPr>
        <p:spPr>
          <a:xfrm>
            <a:off x="687734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22" name="lim-open-2"/>
          <p:cNvSpPr/>
          <p:nvPr/>
        </p:nvSpPr>
        <p:spPr>
          <a:xfrm>
            <a:off x="7261388" y="4023360"/>
            <a:ext cx="4015908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the same orthogonality appear for other cached-feature tasks?</a:t>
            </a:r>
            <a:endParaRPr lang="en-US" sz="1350" dirty="0"/>
          </a:p>
        </p:txBody>
      </p:sp>
    </p:spTree>
  </p:cSld>
  <p:clrMapOvr>
    <a:masterClrMapping/>
  </p:clrMapOvr>
  <p:transition xmlns:p14="http://schemas.microsoft.com/office/powerpoint/2010/main" p14:dur="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4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0"/>
                      </p:stCondLst>
                      <p:childTnLst>
                        <p:par>
                          <p:cTn id="7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4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weekly-research-slides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Cached Future-Feature Prediction</dc:title>
  <dc:subject/>
  <dc:creator>Cached Future-Feature Prediction</dc:creator>
  <cp:lastModifiedBy>Cached Future-Feature Prediction</cp:lastModifiedBy>
  <cp:revision>1</cp:revision>
  <dcterms:created xsi:type="dcterms:W3CDTF">2026-09-20T03:32:27Z</dcterms:created>
  <dcterms:modified xsi:type="dcterms:W3CDTF">2026-09-20T03:32:27Z</dcterms:modified>
</cp:coreProperties>
</file>