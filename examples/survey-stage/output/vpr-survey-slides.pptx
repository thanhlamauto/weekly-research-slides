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 only. Do not propose a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all three in the same visual language. The output of this slide is the shared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Intuition, then mechanism, then the failing assumption. Never start from a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endpoint of a survey. The gap is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Discussion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4" name="title-accent"/>
          <p:cNvSpPr/>
          <p:nvPr/>
        </p:nvSpPr>
        <p:spPr>
          <a:xfrm>
            <a:off x="566928" y="2148840"/>
            <a:ext cx="822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itle-project"/>
          <p:cNvSpPr/>
          <p:nvPr/>
        </p:nvSpPr>
        <p:spPr>
          <a:xfrm>
            <a:off x="566928" y="2286000"/>
            <a:ext cx="66347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</a:t>
            </a:r>
            <a:endParaRPr lang="en-US" sz="1500" dirty="0"/>
          </a:p>
        </p:txBody>
      </p:sp>
      <p:sp>
        <p:nvSpPr>
          <p:cNvPr id="6" name="title-main"/>
          <p:cNvSpPr/>
          <p:nvPr/>
        </p:nvSpPr>
        <p:spPr>
          <a:xfrm>
            <a:off x="566928" y="2697480"/>
            <a:ext cx="6413547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recognize a place under change?</a:t>
            </a:r>
            <a:endParaRPr lang="en-US" sz="3800" dirty="0"/>
          </a:p>
        </p:txBody>
      </p:sp>
      <p:sp>
        <p:nvSpPr>
          <p:cNvPr id="7" name="title-question"/>
          <p:cNvSpPr/>
          <p:nvPr/>
        </p:nvSpPr>
        <p:spPr>
          <a:xfrm>
            <a:off x="566928" y="4343400"/>
            <a:ext cx="60818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survey of three families of approaches and the gap they share.</a:t>
            </a:r>
            <a:endParaRPr lang="en-US" sz="1800" dirty="0"/>
          </a:p>
        </p:txBody>
      </p:sp>
      <p:sp>
        <p:nvSpPr>
          <p:cNvPr id="8" name="title-byline"/>
          <p:cNvSpPr/>
          <p:nvPr/>
        </p:nvSpPr>
        <p:spPr>
          <a:xfrm>
            <a:off x="566928" y="5440680"/>
            <a:ext cx="60818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research update · synthetic survey · version 0.1</a:t>
            </a:r>
            <a:endParaRPr lang="en-US" sz="1150" dirty="0"/>
          </a:p>
        </p:txBody>
      </p:sp>
      <p:sp>
        <p:nvSpPr>
          <p:cNvPr id="9" name="motif-zs"/>
          <p:cNvSpPr/>
          <p:nvPr/>
        </p:nvSpPr>
        <p:spPr>
          <a:xfrm>
            <a:off x="7452360" y="384048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0" name="motif-zs__label"/>
          <p:cNvSpPr/>
          <p:nvPr/>
        </p:nvSpPr>
        <p:spPr>
          <a:xfrm>
            <a:off x="7452360" y="384048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Z_s</a:t>
            </a:r>
            <a:endParaRPr lang="en-US" sz="1500" dirty="0"/>
          </a:p>
        </p:txBody>
      </p:sp>
      <p:sp>
        <p:nvSpPr>
          <p:cNvPr id="11" name="motif-ztilde"/>
          <p:cNvSpPr/>
          <p:nvPr/>
        </p:nvSpPr>
        <p:spPr>
          <a:xfrm>
            <a:off x="9418320" y="384048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2" name="motif-ztilde__label"/>
          <p:cNvSpPr/>
          <p:nvPr/>
        </p:nvSpPr>
        <p:spPr>
          <a:xfrm>
            <a:off x="9418320" y="384048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</a:t>
            </a:r>
            <a:endParaRPr lang="en-US" sz="1500" dirty="0"/>
          </a:p>
        </p:txBody>
      </p:sp>
      <p:sp>
        <p:nvSpPr>
          <p:cNvPr id="13" name="motif-zd"/>
          <p:cNvSpPr/>
          <p:nvPr/>
        </p:nvSpPr>
        <p:spPr>
          <a:xfrm>
            <a:off x="8439912" y="2286000"/>
            <a:ext cx="1051560" cy="10515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14" name="motif-zd__label"/>
          <p:cNvSpPr/>
          <p:nvPr/>
        </p:nvSpPr>
        <p:spPr>
          <a:xfrm>
            <a:off x="8439912" y="2286000"/>
            <a:ext cx="1051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Z_d</a:t>
            </a:r>
            <a:endParaRPr lang="en-US" sz="1500" dirty="0"/>
          </a:p>
        </p:txBody>
      </p:sp>
      <p:sp>
        <p:nvSpPr>
          <p:cNvPr id="15" name="motif-delta"/>
          <p:cNvSpPr/>
          <p:nvPr/>
        </p:nvSpPr>
        <p:spPr>
          <a:xfrm>
            <a:off x="8503920" y="4370832"/>
            <a:ext cx="914400" cy="0"/>
          </a:xfrm>
          <a:prstGeom prst="line">
            <a:avLst/>
          </a:prstGeom>
          <a:noFill/>
          <a:ln w="26670">
            <a:solidFill>
              <a:srgbClr val="B91C1C"/>
            </a:solidFill>
            <a:prstDash val="solid"/>
            <a:headEnd type="none"/>
            <a:tailEnd type="triangle"/>
          </a:ln>
        </p:spPr>
      </p:sp>
      <p:sp>
        <p:nvSpPr>
          <p:cNvPr id="16" name="motif-desired"/>
          <p:cNvSpPr/>
          <p:nvPr/>
        </p:nvSpPr>
        <p:spPr>
          <a:xfrm flipV="1">
            <a:off x="8272577" y="3337560"/>
            <a:ext cx="642823" cy="521208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17" name="motif-residual"/>
          <p:cNvSpPr/>
          <p:nvPr/>
        </p:nvSpPr>
        <p:spPr>
          <a:xfrm flipH="1" flipV="1">
            <a:off x="9646920" y="3390138"/>
            <a:ext cx="822960" cy="523494"/>
          </a:xfrm>
          <a:prstGeom prst="line">
            <a:avLst/>
          </a:prstGeom>
          <a:noFill/>
          <a:ln w="11430">
            <a:solidFill>
              <a:srgbClr val="9CA3AF"/>
            </a:solidFill>
            <a:prstDash val="dash"/>
            <a:headEnd type="none"/>
            <a:tailEnd type="none"/>
          </a:ln>
        </p:spPr>
      </p:sp>
      <p:sp>
        <p:nvSpPr>
          <p:cNvPr id="18" name="motif-caption"/>
          <p:cNvSpPr/>
          <p:nvPr/>
        </p:nvSpPr>
        <p:spPr>
          <a:xfrm>
            <a:off x="7269480" y="5166360"/>
            <a:ext cx="3566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features drift; correction moves them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LANDSCAPE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  ·  Week 2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families, one visual language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 · synthetic survey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10" name="land-0"/>
          <p:cNvSpPr/>
          <p:nvPr/>
        </p:nvSpPr>
        <p:spPr>
          <a:xfrm>
            <a:off x="566928" y="1965960"/>
            <a:ext cx="3503066" cy="2788920"/>
          </a:xfrm>
          <a:prstGeom prst="roundRect">
            <a:avLst>
              <a:gd name="adj" fmla="val 360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land-0-tag"/>
          <p:cNvSpPr/>
          <p:nvPr/>
        </p:nvSpPr>
        <p:spPr>
          <a:xfrm>
            <a:off x="768096" y="2112264"/>
            <a:ext cx="310073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land-0-name"/>
          <p:cNvSpPr/>
          <p:nvPr/>
        </p:nvSpPr>
        <p:spPr>
          <a:xfrm>
            <a:off x="768096" y="2404872"/>
            <a:ext cx="310073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aggregation (VLAD-style)</a:t>
            </a:r>
            <a:endParaRPr lang="en-US" sz="1550" dirty="0"/>
          </a:p>
        </p:txBody>
      </p:sp>
      <p:sp>
        <p:nvSpPr>
          <p:cNvPr id="13" name="land-0-sep"/>
          <p:cNvSpPr/>
          <p:nvPr/>
        </p:nvSpPr>
        <p:spPr>
          <a:xfrm>
            <a:off x="768096" y="3026664"/>
            <a:ext cx="3100730" cy="128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land-0-mech"/>
          <p:cNvSpPr/>
          <p:nvPr/>
        </p:nvSpPr>
        <p:spPr>
          <a:xfrm>
            <a:off x="768096" y="3154680"/>
            <a:ext cx="310073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or VLAD pooling compresses a feature map into a single global descriptor per place.</a:t>
            </a:r>
            <a:endParaRPr lang="en-US" sz="1150" dirty="0"/>
          </a:p>
        </p:txBody>
      </p:sp>
      <p:sp>
        <p:nvSpPr>
          <p:cNvPr id="15" name="land-0-arrow"/>
          <p:cNvSpPr/>
          <p:nvPr/>
        </p:nvSpPr>
        <p:spPr>
          <a:xfrm>
            <a:off x="4097426" y="3360420"/>
            <a:ext cx="219456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16" name="land-1"/>
          <p:cNvSpPr/>
          <p:nvPr/>
        </p:nvSpPr>
        <p:spPr>
          <a:xfrm>
            <a:off x="4344314" y="1965960"/>
            <a:ext cx="3503066" cy="2788920"/>
          </a:xfrm>
          <a:prstGeom prst="roundRect">
            <a:avLst>
              <a:gd name="adj" fmla="val 360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7" name="land-1-tag"/>
          <p:cNvSpPr/>
          <p:nvPr/>
        </p:nvSpPr>
        <p:spPr>
          <a:xfrm>
            <a:off x="4545482" y="2112264"/>
            <a:ext cx="310073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8" name="land-1-name"/>
          <p:cNvSpPr/>
          <p:nvPr/>
        </p:nvSpPr>
        <p:spPr>
          <a:xfrm>
            <a:off x="4545482" y="2404872"/>
            <a:ext cx="310073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matching</a:t>
            </a:r>
            <a:endParaRPr lang="en-US" sz="1550" dirty="0"/>
          </a:p>
        </p:txBody>
      </p:sp>
      <p:sp>
        <p:nvSpPr>
          <p:cNvPr id="19" name="land-1-sep"/>
          <p:cNvSpPr/>
          <p:nvPr/>
        </p:nvSpPr>
        <p:spPr>
          <a:xfrm>
            <a:off x="4545482" y="3026664"/>
            <a:ext cx="3100730" cy="128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land-1-mech"/>
          <p:cNvSpPr/>
          <p:nvPr/>
        </p:nvSpPr>
        <p:spPr>
          <a:xfrm>
            <a:off x="4545482" y="3154680"/>
            <a:ext cx="310073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descriptor sequence and align it against a database sequence.</a:t>
            </a:r>
            <a:endParaRPr lang="en-US" sz="1150" dirty="0"/>
          </a:p>
        </p:txBody>
      </p:sp>
      <p:sp>
        <p:nvSpPr>
          <p:cNvPr id="21" name="land-1-arrow"/>
          <p:cNvSpPr/>
          <p:nvPr/>
        </p:nvSpPr>
        <p:spPr>
          <a:xfrm>
            <a:off x="7874813" y="3360420"/>
            <a:ext cx="219456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  <a:headEnd type="none"/>
            <a:tailEnd type="none"/>
          </a:ln>
        </p:spPr>
      </p:sp>
      <p:sp>
        <p:nvSpPr>
          <p:cNvPr id="22" name="land-2"/>
          <p:cNvSpPr/>
          <p:nvPr/>
        </p:nvSpPr>
        <p:spPr>
          <a:xfrm>
            <a:off x="8121701" y="1965960"/>
            <a:ext cx="3503066" cy="2788920"/>
          </a:xfrm>
          <a:prstGeom prst="roundRect">
            <a:avLst>
              <a:gd name="adj" fmla="val 360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3" name="land-2-tag"/>
          <p:cNvSpPr/>
          <p:nvPr/>
        </p:nvSpPr>
        <p:spPr>
          <a:xfrm>
            <a:off x="8322869" y="2112264"/>
            <a:ext cx="310073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land-2-name"/>
          <p:cNvSpPr/>
          <p:nvPr/>
        </p:nvSpPr>
        <p:spPr>
          <a:xfrm>
            <a:off x="8322869" y="2404872"/>
            <a:ext cx="310073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Foundation-model features</a:t>
            </a:r>
            <a:endParaRPr lang="en-US" sz="1550" dirty="0"/>
          </a:p>
        </p:txBody>
      </p:sp>
      <p:sp>
        <p:nvSpPr>
          <p:cNvPr id="25" name="land-2-sep"/>
          <p:cNvSpPr/>
          <p:nvPr/>
        </p:nvSpPr>
        <p:spPr>
          <a:xfrm>
            <a:off x="8322869" y="3026664"/>
            <a:ext cx="3100730" cy="128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land-2-mech"/>
          <p:cNvSpPr/>
          <p:nvPr/>
        </p:nvSpPr>
        <p:spPr>
          <a:xfrm>
            <a:off x="8322869" y="3154680"/>
            <a:ext cx="310073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generic pretrained features and retrieve by cosine similarity.</a:t>
            </a:r>
            <a:endParaRPr lang="en-US" sz="1150" dirty="0"/>
          </a:p>
        </p:txBody>
      </p:sp>
      <p:sp>
        <p:nvSpPr>
          <p:cNvPr id="27" name="land-gap"/>
          <p:cNvSpPr/>
          <p:nvPr/>
        </p:nvSpPr>
        <p:spPr>
          <a:xfrm>
            <a:off x="566928" y="5047488"/>
            <a:ext cx="11057839" cy="841248"/>
          </a:xfrm>
          <a:prstGeom prst="roundRect">
            <a:avLst>
              <a:gd name="adj" fmla="val 11957"/>
            </a:avLst>
          </a:prstGeom>
          <a:solidFill>
            <a:srgbClr val="FEF3C7"/>
          </a:solidFill>
          <a:ln w="1397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28" name="land-gap-k"/>
          <p:cNvSpPr/>
          <p:nvPr/>
        </p:nvSpPr>
        <p:spPr>
          <a:xfrm>
            <a:off x="804672" y="5138928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</a:t>
            </a:r>
            <a:endParaRPr lang="en-US" sz="1000" dirty="0"/>
          </a:p>
        </p:txBody>
      </p:sp>
      <p:sp>
        <p:nvSpPr>
          <p:cNvPr id="29" name="land-gap-t"/>
          <p:cNvSpPr/>
          <p:nvPr/>
        </p:nvSpPr>
        <p:spPr>
          <a:xfrm>
            <a:off x="2212848" y="5120640"/>
            <a:ext cx="9174175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handles appearance change and out-of-order revisits together.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MECHANISM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  ·  Week 2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matching, and where its assumption breaks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 · synthetic survey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10" name="cm-a"/>
          <p:cNvSpPr/>
          <p:nvPr/>
        </p:nvSpPr>
        <p:spPr>
          <a:xfrm>
            <a:off x="566928" y="1572768"/>
            <a:ext cx="3515258" cy="4297680"/>
          </a:xfrm>
          <a:prstGeom prst="roundRect">
            <a:avLst>
              <a:gd name="adj" fmla="val 2861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cm-a__title"/>
          <p:cNvSpPr/>
          <p:nvPr/>
        </p:nvSpPr>
        <p:spPr>
          <a:xfrm>
            <a:off x="768096" y="1719072"/>
            <a:ext cx="31129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Intuition</a:t>
            </a:r>
            <a:endParaRPr lang="en-US" sz="1400" dirty="0"/>
          </a:p>
        </p:txBody>
      </p:sp>
      <p:sp>
        <p:nvSpPr>
          <p:cNvPr id="12" name="cm-a-t"/>
          <p:cNvSpPr/>
          <p:nvPr/>
        </p:nvSpPr>
        <p:spPr>
          <a:xfrm>
            <a:off x="786384" y="2231136"/>
            <a:ext cx="3076346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frames contain more information than any single frame, so match a short sequence.</a:t>
            </a:r>
            <a:endParaRPr lang="en-US" sz="1350" dirty="0"/>
          </a:p>
        </p:txBody>
      </p:sp>
      <p:sp>
        <p:nvSpPr>
          <p:cNvPr id="13" name="cm-b"/>
          <p:cNvSpPr/>
          <p:nvPr/>
        </p:nvSpPr>
        <p:spPr>
          <a:xfrm>
            <a:off x="4338218" y="1572768"/>
            <a:ext cx="3515258" cy="4297680"/>
          </a:xfrm>
          <a:prstGeom prst="roundRect">
            <a:avLst>
              <a:gd name="adj" fmla="val 2861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4" name="cm-b__title"/>
          <p:cNvSpPr/>
          <p:nvPr/>
        </p:nvSpPr>
        <p:spPr>
          <a:xfrm>
            <a:off x="4539386" y="1719072"/>
            <a:ext cx="31129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Mechanism</a:t>
            </a:r>
            <a:endParaRPr lang="en-US" sz="1400" dirty="0"/>
          </a:p>
        </p:txBody>
      </p:sp>
      <p:sp>
        <p:nvSpPr>
          <p:cNvPr id="15" name="cm-in"/>
          <p:cNvSpPr/>
          <p:nvPr/>
        </p:nvSpPr>
        <p:spPr>
          <a:xfrm>
            <a:off x="4741215" y="2624328"/>
            <a:ext cx="731520" cy="713232"/>
          </a:xfrm>
          <a:prstGeom prst="rect">
            <a:avLst/>
          </a:prstGeom>
          <a:solidFill>
            <a:srgbClr val="F1F5F9"/>
          </a:solidFill>
          <a:ln w="1397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16" name="cm-in__label"/>
          <p:cNvSpPr/>
          <p:nvPr/>
        </p:nvSpPr>
        <p:spPr>
          <a:xfrm>
            <a:off x="4741215" y="2624328"/>
            <a:ext cx="7315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17" name="cm-mod"/>
          <p:cNvSpPr/>
          <p:nvPr/>
        </p:nvSpPr>
        <p:spPr>
          <a:xfrm>
            <a:off x="5570068" y="2624328"/>
            <a:ext cx="1051560" cy="71323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397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8" name="cm-mod__label"/>
          <p:cNvSpPr/>
          <p:nvPr/>
        </p:nvSpPr>
        <p:spPr>
          <a:xfrm>
            <a:off x="5570068" y="2624328"/>
            <a:ext cx="10515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050" dirty="0"/>
          </a:p>
        </p:txBody>
      </p:sp>
      <p:sp>
        <p:nvSpPr>
          <p:cNvPr id="19" name="cm-out"/>
          <p:cNvSpPr/>
          <p:nvPr/>
        </p:nvSpPr>
        <p:spPr>
          <a:xfrm>
            <a:off x="6718960" y="2624328"/>
            <a:ext cx="731520" cy="71323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11827"/>
            </a:solidFill>
            <a:prstDash val="solid"/>
            <a:headEnd type="none"/>
            <a:tailEnd type="none"/>
          </a:ln>
        </p:spPr>
      </p:sp>
      <p:sp>
        <p:nvSpPr>
          <p:cNvPr id="20" name="cm-out__label"/>
          <p:cNvSpPr/>
          <p:nvPr/>
        </p:nvSpPr>
        <p:spPr>
          <a:xfrm>
            <a:off x="6718960" y="2624328"/>
            <a:ext cx="7315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1" name="cm-arr1"/>
          <p:cNvSpPr/>
          <p:nvPr/>
        </p:nvSpPr>
        <p:spPr>
          <a:xfrm>
            <a:off x="5692851" y="2980944"/>
            <a:ext cx="805993" cy="0"/>
          </a:xfrm>
          <a:prstGeom prst="line">
            <a:avLst/>
          </a:prstGeom>
          <a:noFill/>
          <a:ln w="1397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2" name="cm-arr2"/>
          <p:cNvSpPr/>
          <p:nvPr/>
        </p:nvSpPr>
        <p:spPr>
          <a:xfrm>
            <a:off x="6681724" y="2980944"/>
            <a:ext cx="805993" cy="0"/>
          </a:xfrm>
          <a:prstGeom prst="line">
            <a:avLst/>
          </a:prstGeom>
          <a:noFill/>
          <a:ln w="1397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3" name="cm-b-t"/>
          <p:cNvSpPr/>
          <p:nvPr/>
        </p:nvSpPr>
        <p:spPr>
          <a:xfrm>
            <a:off x="4557674" y="3630168"/>
            <a:ext cx="3076346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are embedded into a descriptor sequence, and the sequence is aligned against the database before retrieval.</a:t>
            </a:r>
            <a:endParaRPr lang="en-US" sz="1150" dirty="0"/>
          </a:p>
        </p:txBody>
      </p:sp>
      <p:sp>
        <p:nvSpPr>
          <p:cNvPr id="24" name="cm-c"/>
          <p:cNvSpPr/>
          <p:nvPr/>
        </p:nvSpPr>
        <p:spPr>
          <a:xfrm>
            <a:off x="8109509" y="1572768"/>
            <a:ext cx="3515258" cy="4297680"/>
          </a:xfrm>
          <a:prstGeom prst="roundRect">
            <a:avLst>
              <a:gd name="adj" fmla="val 2861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5" name="cm-c__title"/>
          <p:cNvSpPr/>
          <p:nvPr/>
        </p:nvSpPr>
        <p:spPr>
          <a:xfrm>
            <a:off x="8310677" y="1719072"/>
            <a:ext cx="311292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Where it fails</a:t>
            </a:r>
            <a:endParaRPr lang="en-US" sz="1400" dirty="0"/>
          </a:p>
        </p:txBody>
      </p:sp>
      <p:sp>
        <p:nvSpPr>
          <p:cNvPr id="26" name="cm-c-0-dot"/>
          <p:cNvSpPr/>
          <p:nvPr/>
        </p:nvSpPr>
        <p:spPr>
          <a:xfrm>
            <a:off x="8328965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cm-c-0"/>
          <p:cNvSpPr/>
          <p:nvPr/>
        </p:nvSpPr>
        <p:spPr>
          <a:xfrm>
            <a:off x="8511845" y="2249424"/>
            <a:ext cx="287517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the camera moves along a traversable temporal order.</a:t>
            </a:r>
            <a:endParaRPr lang="en-US" sz="1150" dirty="0"/>
          </a:p>
        </p:txBody>
      </p:sp>
      <p:sp>
        <p:nvSpPr>
          <p:cNvPr id="28" name="cm-c-1-dot"/>
          <p:cNvSpPr/>
          <p:nvPr/>
        </p:nvSpPr>
        <p:spPr>
          <a:xfrm>
            <a:off x="8328965" y="2944368"/>
            <a:ext cx="1463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cm-c-1"/>
          <p:cNvSpPr/>
          <p:nvPr/>
        </p:nvSpPr>
        <p:spPr>
          <a:xfrm>
            <a:off x="8511845" y="2907792"/>
            <a:ext cx="287517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 the same place is revisited from a different direction.</a:t>
            </a:r>
            <a:endParaRPr lang="en-US" sz="1150" dirty="0"/>
          </a:p>
        </p:txBody>
      </p:sp>
      <p:sp>
        <p:nvSpPr>
          <p:cNvPr id="30" name="cm-c-2-dot"/>
          <p:cNvSpPr/>
          <p:nvPr/>
        </p:nvSpPr>
        <p:spPr>
          <a:xfrm>
            <a:off x="8328965" y="3602736"/>
            <a:ext cx="1463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cm-c-2"/>
          <p:cNvSpPr/>
          <p:nvPr/>
        </p:nvSpPr>
        <p:spPr>
          <a:xfrm>
            <a:off x="8511845" y="3566160"/>
            <a:ext cx="287517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cost grows with sequence length.</a:t>
            </a:r>
            <a:endParaRPr lang="en-US" sz="1150" dirty="0"/>
          </a:p>
        </p:txBody>
      </p:sp>
      <p:sp>
        <p:nvSpPr>
          <p:cNvPr id="32" name="cm-rel"/>
          <p:cNvSpPr/>
          <p:nvPr/>
        </p:nvSpPr>
        <p:spPr>
          <a:xfrm>
            <a:off x="8328965" y="4636008"/>
            <a:ext cx="3076346" cy="100584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397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3" name="cm-rel-t"/>
          <p:cNvSpPr/>
          <p:nvPr/>
        </p:nvSpPr>
        <p:spPr>
          <a:xfrm>
            <a:off x="8493557" y="4727448"/>
            <a:ext cx="274716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 method yet. The question is whether ordering assumptions hold in our target data.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  ·  Week 2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shared by all three families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 · synthetic survey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10" name="gap-card"/>
          <p:cNvSpPr/>
          <p:nvPr/>
        </p:nvSpPr>
        <p:spPr>
          <a:xfrm>
            <a:off x="566928" y="1572768"/>
            <a:ext cx="11057839" cy="1371600"/>
          </a:xfrm>
          <a:prstGeom prst="roundRect">
            <a:avLst>
              <a:gd name="adj" fmla="val 7333"/>
            </a:avLst>
          </a:prstGeom>
          <a:solidFill>
            <a:srgbClr val="FEF3C7"/>
          </a:solidFill>
          <a:ln w="1397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1" name="gap-text"/>
          <p:cNvSpPr/>
          <p:nvPr/>
        </p:nvSpPr>
        <p:spPr>
          <a:xfrm>
            <a:off x="859536" y="1737360"/>
            <a:ext cx="10472623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family addresses appearance change and out-of-order revisits with a single representation.</a:t>
            </a:r>
            <a:endParaRPr lang="en-US" sz="1800" dirty="0"/>
          </a:p>
        </p:txBody>
      </p:sp>
      <p:sp>
        <p:nvSpPr>
          <p:cNvPr id="12" name="gap-evidence"/>
          <p:cNvSpPr/>
          <p:nvPr/>
        </p:nvSpPr>
        <p:spPr>
          <a:xfrm>
            <a:off x="566928" y="3127248"/>
            <a:ext cx="6192390" cy="2743200"/>
          </a:xfrm>
          <a:prstGeom prst="roundRect">
            <a:avLst>
              <a:gd name="adj" fmla="val 366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3" name="gap-evidence__title"/>
          <p:cNvSpPr/>
          <p:nvPr/>
        </p:nvSpPr>
        <p:spPr>
          <a:xfrm>
            <a:off x="768096" y="3273552"/>
            <a:ext cx="579005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4" name="gap-evidence-b0"/>
          <p:cNvSpPr/>
          <p:nvPr/>
        </p:nvSpPr>
        <p:spPr>
          <a:xfrm>
            <a:off x="786384" y="3694176"/>
            <a:ext cx="146304" cy="664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gap-evidence-b0-t"/>
          <p:cNvSpPr/>
          <p:nvPr/>
        </p:nvSpPr>
        <p:spPr>
          <a:xfrm>
            <a:off x="969264" y="3694176"/>
            <a:ext cx="5570598" cy="664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aggregation loses multi-appearance places.</a:t>
            </a:r>
            <a:endParaRPr lang="en-US" sz="1400" dirty="0"/>
          </a:p>
        </p:txBody>
      </p:sp>
      <p:sp>
        <p:nvSpPr>
          <p:cNvPr id="16" name="gap-evidence-b1"/>
          <p:cNvSpPr/>
          <p:nvPr/>
        </p:nvSpPr>
        <p:spPr>
          <a:xfrm>
            <a:off x="786384" y="4358640"/>
            <a:ext cx="146304" cy="664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gap-evidence-b1-t"/>
          <p:cNvSpPr/>
          <p:nvPr/>
        </p:nvSpPr>
        <p:spPr>
          <a:xfrm>
            <a:off x="969264" y="4358640"/>
            <a:ext cx="5570598" cy="664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matching depends on temporal order.</a:t>
            </a:r>
            <a:endParaRPr lang="en-US" sz="1400" dirty="0"/>
          </a:p>
        </p:txBody>
      </p:sp>
      <p:sp>
        <p:nvSpPr>
          <p:cNvPr id="18" name="gap-evidence-b2"/>
          <p:cNvSpPr/>
          <p:nvPr/>
        </p:nvSpPr>
        <p:spPr>
          <a:xfrm>
            <a:off x="786384" y="5023104"/>
            <a:ext cx="146304" cy="664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gap-evidence-b2-t"/>
          <p:cNvSpPr/>
          <p:nvPr/>
        </p:nvSpPr>
        <p:spPr>
          <a:xfrm>
            <a:off x="969264" y="5023104"/>
            <a:ext cx="5570598" cy="664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features are not place-specific under domain shift.</a:t>
            </a:r>
            <a:endParaRPr lang="en-US" sz="1400" dirty="0"/>
          </a:p>
        </p:txBody>
      </p:sp>
      <p:sp>
        <p:nvSpPr>
          <p:cNvPr id="20" name="gap-impl"/>
          <p:cNvSpPr/>
          <p:nvPr/>
        </p:nvSpPr>
        <p:spPr>
          <a:xfrm>
            <a:off x="7201632" y="3127248"/>
            <a:ext cx="4423136" cy="2743200"/>
          </a:xfrm>
          <a:prstGeom prst="roundRect">
            <a:avLst>
              <a:gd name="adj" fmla="val 3667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1" name="gap-impl__title"/>
          <p:cNvSpPr/>
          <p:nvPr/>
        </p:nvSpPr>
        <p:spPr>
          <a:xfrm>
            <a:off x="7402800" y="3273552"/>
            <a:ext cx="4020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22" name="gap-impl-t"/>
          <p:cNvSpPr/>
          <p:nvPr/>
        </p:nvSpPr>
        <p:spPr>
          <a:xfrm>
            <a:off x="7439376" y="3703320"/>
            <a:ext cx="3947648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worth building would keep a place representation that does not assume order and does not collapse appearances.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kicker"/>
          <p:cNvSpPr/>
          <p:nvPr/>
        </p:nvSpPr>
        <p:spPr>
          <a:xfrm>
            <a:off x="566928" y="365760"/>
            <a:ext cx="68558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" name="header-meta"/>
          <p:cNvSpPr/>
          <p:nvPr/>
        </p:nvSpPr>
        <p:spPr>
          <a:xfrm>
            <a:off x="6648740" y="365760"/>
            <a:ext cx="49760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  ·  Week 2</a:t>
            </a:r>
            <a:endParaRPr lang="en-US" sz="1000" dirty="0"/>
          </a:p>
        </p:txBody>
      </p:sp>
      <p:sp>
        <p:nvSpPr>
          <p:cNvPr id="5" name="title-main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still do not know</a:t>
            </a:r>
            <a:endParaRPr lang="en-US" sz="2700" dirty="0"/>
          </a:p>
        </p:txBody>
      </p:sp>
      <p:sp>
        <p:nvSpPr>
          <p:cNvPr id="6" name="chrome-rule"/>
          <p:cNvSpPr/>
          <p:nvPr/>
        </p:nvSpPr>
        <p:spPr>
          <a:xfrm>
            <a:off x="566928" y="1243584"/>
            <a:ext cx="11057839" cy="2011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chrome-rule-accent"/>
          <p:cNvSpPr/>
          <p:nvPr/>
        </p:nvSpPr>
        <p:spPr>
          <a:xfrm>
            <a:off x="566928" y="1243584"/>
            <a:ext cx="105156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footer-text"/>
          <p:cNvSpPr/>
          <p:nvPr/>
        </p:nvSpPr>
        <p:spPr>
          <a:xfrm>
            <a:off x="566928" y="6419088"/>
            <a:ext cx="8293379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Visual Place Recognition · synthetic survey demo</a:t>
            </a:r>
            <a:endParaRPr lang="en-US" sz="1000" dirty="0"/>
          </a:p>
        </p:txBody>
      </p:sp>
      <p:sp>
        <p:nvSpPr>
          <p:cNvPr id="9" name="footer-slide-number"/>
          <p:cNvSpPr/>
          <p:nvPr/>
        </p:nvSpPr>
        <p:spPr>
          <a:xfrm>
            <a:off x="10076670" y="6419088"/>
            <a:ext cx="1548097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10" name="lim-panel"/>
          <p:cNvSpPr/>
          <p:nvPr/>
        </p:nvSpPr>
        <p:spPr>
          <a:xfrm>
            <a:off x="566928" y="1572768"/>
            <a:ext cx="5750076" cy="4297680"/>
          </a:xfrm>
          <a:prstGeom prst="roundRect">
            <a:avLst>
              <a:gd name="adj" fmla="val 2340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" name="lim-panel__title"/>
          <p:cNvSpPr/>
          <p:nvPr/>
        </p:nvSpPr>
        <p:spPr>
          <a:xfrm>
            <a:off x="768096" y="1719072"/>
            <a:ext cx="53477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12" name="lim-0-n"/>
          <p:cNvSpPr/>
          <p:nvPr/>
        </p:nvSpPr>
        <p:spPr>
          <a:xfrm>
            <a:off x="804672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lim-0"/>
          <p:cNvSpPr/>
          <p:nvPr/>
        </p:nvSpPr>
        <p:spPr>
          <a:xfrm>
            <a:off x="1188720" y="2231136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dataset-level benchmark has been run yet.</a:t>
            </a:r>
            <a:endParaRPr lang="en-US" sz="1400" dirty="0"/>
          </a:p>
        </p:txBody>
      </p:sp>
      <p:sp>
        <p:nvSpPr>
          <p:cNvPr id="14" name="lim-1-n"/>
          <p:cNvSpPr/>
          <p:nvPr/>
        </p:nvSpPr>
        <p:spPr>
          <a:xfrm>
            <a:off x="80467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lim-1"/>
          <p:cNvSpPr/>
          <p:nvPr/>
        </p:nvSpPr>
        <p:spPr>
          <a:xfrm>
            <a:off x="1188720" y="3127248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statements are taken from paper-reported numbers only.</a:t>
            </a:r>
            <a:endParaRPr lang="en-US" sz="1400" dirty="0"/>
          </a:p>
        </p:txBody>
      </p:sp>
      <p:sp>
        <p:nvSpPr>
          <p:cNvPr id="16" name="lim-2-n"/>
          <p:cNvSpPr/>
          <p:nvPr/>
        </p:nvSpPr>
        <p:spPr>
          <a:xfrm>
            <a:off x="804672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lim-2"/>
          <p:cNvSpPr/>
          <p:nvPr/>
        </p:nvSpPr>
        <p:spPr>
          <a:xfrm>
            <a:off x="1188720" y="4023360"/>
            <a:ext cx="48722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deployment domain is not fixed.</a:t>
            </a:r>
            <a:endParaRPr lang="en-US" sz="1400" dirty="0"/>
          </a:p>
        </p:txBody>
      </p:sp>
      <p:sp>
        <p:nvSpPr>
          <p:cNvPr id="18" name="lim-open"/>
          <p:cNvSpPr/>
          <p:nvPr/>
        </p:nvSpPr>
        <p:spPr>
          <a:xfrm>
            <a:off x="6648740" y="1572768"/>
            <a:ext cx="4976028" cy="4297680"/>
          </a:xfrm>
          <a:prstGeom prst="roundRect">
            <a:avLst>
              <a:gd name="adj" fmla="val 2340"/>
            </a:avLst>
          </a:prstGeom>
          <a:solidFill>
            <a:srgbClr val="F9FAFB"/>
          </a:solidFill>
          <a:ln w="1397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9" name="lim-open__title"/>
          <p:cNvSpPr/>
          <p:nvPr/>
        </p:nvSpPr>
        <p:spPr>
          <a:xfrm>
            <a:off x="6849908" y="1719072"/>
            <a:ext cx="45736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20" name="lim-open-0-q"/>
          <p:cNvSpPr/>
          <p:nvPr/>
        </p:nvSpPr>
        <p:spPr>
          <a:xfrm>
            <a:off x="6886484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1" name="lim-open-0"/>
          <p:cNvSpPr/>
          <p:nvPr/>
        </p:nvSpPr>
        <p:spPr>
          <a:xfrm>
            <a:off x="7270532" y="2231136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failure mode dominates, appearance change or viewpoint change?</a:t>
            </a:r>
            <a:endParaRPr lang="en-US" sz="1400" dirty="0"/>
          </a:p>
        </p:txBody>
      </p:sp>
      <p:sp>
        <p:nvSpPr>
          <p:cNvPr id="22" name="lim-open-1-q"/>
          <p:cNvSpPr/>
          <p:nvPr/>
        </p:nvSpPr>
        <p:spPr>
          <a:xfrm>
            <a:off x="6886484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3" name="lim-open-1"/>
          <p:cNvSpPr/>
          <p:nvPr/>
        </p:nvSpPr>
        <p:spPr>
          <a:xfrm>
            <a:off x="7270532" y="3127248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sequence matching and foundation features be combined?</a:t>
            </a:r>
            <a:endParaRPr lang="en-US" sz="1400" dirty="0"/>
          </a:p>
        </p:txBody>
      </p:sp>
      <p:sp>
        <p:nvSpPr>
          <p:cNvPr id="24" name="lim-open-2-q"/>
          <p:cNvSpPr/>
          <p:nvPr/>
        </p:nvSpPr>
        <p:spPr>
          <a:xfrm>
            <a:off x="6886484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5" name="lim-open-2"/>
          <p:cNvSpPr/>
          <p:nvPr/>
        </p:nvSpPr>
        <p:spPr>
          <a:xfrm>
            <a:off x="7270532" y="4023360"/>
            <a:ext cx="409820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fair benchmark for out-of-order revisits?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weekly-research-slides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Visual Place Recognition</dc:title>
  <dc:subject/>
  <dc:creator>Robust Visual Place Recognition</dc:creator>
  <cp:lastModifiedBy>Robust Visual Place Recognition</cp:lastModifiedBy>
  <cp:revision>1</cp:revision>
  <dcterms:created xsi:type="dcterms:W3CDTF">2026-09-19T17:18:43Z</dcterms:created>
  <dcterms:modified xsi:type="dcterms:W3CDTF">2026-09-19T17:18:43Z</dcterms:modified>
</cp:coreProperties>
</file>