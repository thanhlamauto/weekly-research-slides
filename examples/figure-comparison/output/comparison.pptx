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573000" cy="6096000"/>
  <p:notesSz cx="6096000" cy="12573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-competitor"/>
          <p:cNvSpPr/>
          <p:nvPr/>
        </p:nvSpPr>
        <p:spPr>
          <a:xfrm>
            <a:off x="247650" y="571500"/>
            <a:ext cx="12077700" cy="2209800"/>
          </a:xfrm>
          <a:prstGeom prst="roundRect">
            <a:avLst>
              <a:gd name="adj" fmla="val 2483"/>
            </a:avLst>
          </a:prstGeom>
          <a:solidFill>
            <a:srgbClr val="FDF7F0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3" name="panel-label-competitor"/>
          <p:cNvSpPr/>
          <p:nvPr/>
        </p:nvSpPr>
        <p:spPr>
          <a:xfrm>
            <a:off x="323850" y="609600"/>
            <a:ext cx="11925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Static Top-K</a:t>
            </a:r>
            <a:endParaRPr lang="en-US" sz="900" dirty="0"/>
          </a:p>
        </p:txBody>
      </p:sp>
      <p:sp>
        <p:nvSpPr>
          <p:cNvPr id="4" name="panel-ours"/>
          <p:cNvSpPr/>
          <p:nvPr/>
        </p:nvSpPr>
        <p:spPr>
          <a:xfrm>
            <a:off x="247650" y="3009900"/>
            <a:ext cx="12077700" cy="2209800"/>
          </a:xfrm>
          <a:prstGeom prst="roundRect">
            <a:avLst>
              <a:gd name="adj" fmla="val 2483"/>
            </a:avLst>
          </a:prstGeom>
          <a:solidFill>
            <a:srgbClr val="F2F6FE"/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5" name="panel-label-ours"/>
          <p:cNvSpPr/>
          <p:nvPr/>
        </p:nvSpPr>
        <p:spPr>
          <a:xfrm>
            <a:off x="323850" y="3048000"/>
            <a:ext cx="11925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BAR (ours)</a:t>
            </a:r>
            <a:endParaRPr lang="en-US" sz="900" dirty="0"/>
          </a:p>
        </p:txBody>
      </p:sp>
      <p:sp>
        <p:nvSpPr>
          <p:cNvPr id="6" name="edge-L_input_1-&gt;backbone-0"/>
          <p:cNvSpPr/>
          <p:nvPr/>
        </p:nvSpPr>
        <p:spPr>
          <a:xfrm>
            <a:off x="3048000" y="145923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7" name="edge-L_input_1-&gt;backbone-1"/>
          <p:cNvSpPr/>
          <p:nvPr/>
        </p:nvSpPr>
        <p:spPr>
          <a:xfrm>
            <a:off x="3124200" y="1459230"/>
            <a:ext cx="0" cy="28575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8" name="edge-L_input_1-&gt;backbone-2"/>
          <p:cNvSpPr/>
          <p:nvPr/>
        </p:nvSpPr>
        <p:spPr>
          <a:xfrm>
            <a:off x="3124200" y="174498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9" name="edge-L_input_2-&gt;backbone-0"/>
          <p:cNvSpPr/>
          <p:nvPr/>
        </p:nvSpPr>
        <p:spPr>
          <a:xfrm>
            <a:off x="3048000" y="203073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10" name="edge-L_input_2-&gt;backbone-1"/>
          <p:cNvSpPr/>
          <p:nvPr/>
        </p:nvSpPr>
        <p:spPr>
          <a:xfrm flipV="1">
            <a:off x="3124200" y="1744980"/>
            <a:ext cx="0" cy="28575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11" name="edge-L_input_2-&gt;backbone-2"/>
          <p:cNvSpPr/>
          <p:nvPr/>
        </p:nvSpPr>
        <p:spPr>
          <a:xfrm>
            <a:off x="3124200" y="174498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2" name="edge-L_backbone-&gt;index-0"/>
          <p:cNvSpPr/>
          <p:nvPr/>
        </p:nvSpPr>
        <p:spPr>
          <a:xfrm>
            <a:off x="4629150" y="17449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3" name="edge-L_index-&gt;topk-0"/>
          <p:cNvSpPr/>
          <p:nvPr/>
        </p:nvSpPr>
        <p:spPr>
          <a:xfrm>
            <a:off x="6210300" y="17449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4" name="edge-L_topk-&gt;decoder-0"/>
          <p:cNvSpPr/>
          <p:nvPr/>
        </p:nvSpPr>
        <p:spPr>
          <a:xfrm>
            <a:off x="7791450" y="17449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5" name="edge-L_decoder-&gt;output_1-0"/>
          <p:cNvSpPr/>
          <p:nvPr/>
        </p:nvSpPr>
        <p:spPr>
          <a:xfrm>
            <a:off x="9372600" y="17449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6" name="edge-R_input_1-&gt;backbone-0"/>
          <p:cNvSpPr/>
          <p:nvPr/>
        </p:nvSpPr>
        <p:spPr>
          <a:xfrm>
            <a:off x="2257425" y="389763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17" name="edge-R_input_1-&gt;backbone-1"/>
          <p:cNvSpPr/>
          <p:nvPr/>
        </p:nvSpPr>
        <p:spPr>
          <a:xfrm>
            <a:off x="2333625" y="3897630"/>
            <a:ext cx="0" cy="28575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18" name="edge-R_input_1-&gt;backbone-2"/>
          <p:cNvSpPr/>
          <p:nvPr/>
        </p:nvSpPr>
        <p:spPr>
          <a:xfrm>
            <a:off x="2333625" y="418338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9" name="edge-R_input_2-&gt;backbone-0"/>
          <p:cNvSpPr/>
          <p:nvPr/>
        </p:nvSpPr>
        <p:spPr>
          <a:xfrm>
            <a:off x="2257425" y="446913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20" name="edge-R_input_2-&gt;backbone-1"/>
          <p:cNvSpPr/>
          <p:nvPr/>
        </p:nvSpPr>
        <p:spPr>
          <a:xfrm flipV="1">
            <a:off x="2333625" y="4183380"/>
            <a:ext cx="0" cy="28575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none"/>
          </a:ln>
        </p:spPr>
      </p:sp>
      <p:sp>
        <p:nvSpPr>
          <p:cNvPr id="21" name="edge-R_input_2-&gt;backbone-2"/>
          <p:cNvSpPr/>
          <p:nvPr/>
        </p:nvSpPr>
        <p:spPr>
          <a:xfrm>
            <a:off x="2333625" y="4183380"/>
            <a:ext cx="762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2" name="edge-R_backbone-&gt;index-0"/>
          <p:cNvSpPr/>
          <p:nvPr/>
        </p:nvSpPr>
        <p:spPr>
          <a:xfrm>
            <a:off x="3838575" y="41833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3" name="edge-R_index-&gt;router-0"/>
          <p:cNvSpPr/>
          <p:nvPr/>
        </p:nvSpPr>
        <p:spPr>
          <a:xfrm>
            <a:off x="5419725" y="41833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4" name="edge-R_router-&gt;budget-0"/>
          <p:cNvSpPr/>
          <p:nvPr/>
        </p:nvSpPr>
        <p:spPr>
          <a:xfrm>
            <a:off x="7000875" y="41833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5" name="edge-R_budget-&gt;decoder-0"/>
          <p:cNvSpPr/>
          <p:nvPr/>
        </p:nvSpPr>
        <p:spPr>
          <a:xfrm>
            <a:off x="8582025" y="41833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6" name="edge-R_decoder-&gt;output_1-0"/>
          <p:cNvSpPr/>
          <p:nvPr/>
        </p:nvSpPr>
        <p:spPr>
          <a:xfrm>
            <a:off x="10163175" y="4183380"/>
            <a:ext cx="152400" cy="0"/>
          </a:xfrm>
          <a:prstGeom prst="line">
            <a:avLst/>
          </a:prstGeom>
          <a:noFill/>
          <a:ln w="1524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7" name="input.1"/>
          <p:cNvSpPr/>
          <p:nvPr/>
        </p:nvSpPr>
        <p:spPr>
          <a:xfrm>
            <a:off x="1828800" y="1249680"/>
            <a:ext cx="1219200" cy="419100"/>
          </a:xfrm>
          <a:prstGeom prst="roundRect">
            <a:avLst>
              <a:gd name="adj" fmla="val 10909"/>
            </a:avLst>
          </a:prstGeom>
          <a:solidFill>
            <a:srgbClr val="F0F1F2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28" name="L_input_1-label"/>
          <p:cNvSpPr/>
          <p:nvPr/>
        </p:nvSpPr>
        <p:spPr>
          <a:xfrm>
            <a:off x="1857375" y="1278255"/>
            <a:ext cx="1162050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tokens</a:t>
            </a:r>
            <a:endParaRPr lang="en-US" sz="950" dirty="0"/>
          </a:p>
        </p:txBody>
      </p:sp>
      <p:sp>
        <p:nvSpPr>
          <p:cNvPr id="29" name="input.2"/>
          <p:cNvSpPr/>
          <p:nvPr/>
        </p:nvSpPr>
        <p:spPr>
          <a:xfrm>
            <a:off x="1828800" y="1821180"/>
            <a:ext cx="1219200" cy="419100"/>
          </a:xfrm>
          <a:prstGeom prst="roundRect">
            <a:avLst>
              <a:gd name="adj" fmla="val 10909"/>
            </a:avLst>
          </a:prstGeom>
          <a:solidFill>
            <a:srgbClr val="F0F1F2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30" name="L_input_2-label"/>
          <p:cNvSpPr/>
          <p:nvPr/>
        </p:nvSpPr>
        <p:spPr>
          <a:xfrm>
            <a:off x="1857375" y="1849755"/>
            <a:ext cx="1162050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context keys</a:t>
            </a:r>
            <a:endParaRPr lang="en-US" sz="950" dirty="0"/>
          </a:p>
        </p:txBody>
      </p:sp>
      <p:sp>
        <p:nvSpPr>
          <p:cNvPr id="31" name="component.backbone"/>
          <p:cNvSpPr/>
          <p:nvPr/>
        </p:nvSpPr>
        <p:spPr>
          <a:xfrm>
            <a:off x="3200400" y="14878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AEBED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32" name="L_backbone-label"/>
          <p:cNvSpPr/>
          <p:nvPr/>
        </p:nvSpPr>
        <p:spPr>
          <a:xfrm>
            <a:off x="3228975" y="15163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encoder</a:t>
            </a:r>
            <a:endParaRPr lang="en-US" sz="950" dirty="0"/>
          </a:p>
        </p:txBody>
      </p:sp>
      <p:sp>
        <p:nvSpPr>
          <p:cNvPr id="33" name="component.index"/>
          <p:cNvSpPr/>
          <p:nvPr/>
        </p:nvSpPr>
        <p:spPr>
          <a:xfrm>
            <a:off x="4781550" y="14878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AEBED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34" name="L_index-label"/>
          <p:cNvSpPr/>
          <p:nvPr/>
        </p:nvSpPr>
        <p:spPr>
          <a:xfrm>
            <a:off x="4810125" y="15163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index</a:t>
            </a:r>
            <a:endParaRPr lang="en-US" sz="950" dirty="0"/>
          </a:p>
        </p:txBody>
      </p:sp>
      <p:sp>
        <p:nvSpPr>
          <p:cNvPr id="35" name="component.topk"/>
          <p:cNvSpPr/>
          <p:nvPr/>
        </p:nvSpPr>
        <p:spPr>
          <a:xfrm>
            <a:off x="6362700" y="14878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FAECDC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36" name="L_topk-label"/>
          <p:cNvSpPr/>
          <p:nvPr/>
        </p:nvSpPr>
        <p:spPr>
          <a:xfrm>
            <a:off x="6391275" y="15163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Top-K selection</a:t>
            </a:r>
            <a:endParaRPr lang="en-US" sz="950" dirty="0"/>
          </a:p>
        </p:txBody>
      </p:sp>
      <p:sp>
        <p:nvSpPr>
          <p:cNvPr id="37" name="component.decoder"/>
          <p:cNvSpPr/>
          <p:nvPr/>
        </p:nvSpPr>
        <p:spPr>
          <a:xfrm>
            <a:off x="7943850" y="14878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AEBED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38" name="L_decoder-label"/>
          <p:cNvSpPr/>
          <p:nvPr/>
        </p:nvSpPr>
        <p:spPr>
          <a:xfrm>
            <a:off x="7972425" y="15163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950" dirty="0"/>
          </a:p>
        </p:txBody>
      </p:sp>
      <p:sp>
        <p:nvSpPr>
          <p:cNvPr id="39" name="output.1"/>
          <p:cNvSpPr/>
          <p:nvPr/>
        </p:nvSpPr>
        <p:spPr>
          <a:xfrm>
            <a:off x="9525000" y="1535430"/>
            <a:ext cx="1219200" cy="419100"/>
          </a:xfrm>
          <a:prstGeom prst="roundRect">
            <a:avLst>
              <a:gd name="adj" fmla="val 10909"/>
            </a:avLst>
          </a:prstGeom>
          <a:solidFill>
            <a:srgbClr val="F0F1F2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40" name="L_output_1-label"/>
          <p:cNvSpPr/>
          <p:nvPr/>
        </p:nvSpPr>
        <p:spPr>
          <a:xfrm>
            <a:off x="9553575" y="1564005"/>
            <a:ext cx="1162050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tokens</a:t>
            </a:r>
            <a:endParaRPr lang="en-US" sz="950" dirty="0"/>
          </a:p>
        </p:txBody>
      </p:sp>
      <p:sp>
        <p:nvSpPr>
          <p:cNvPr id="41" name="input.1"/>
          <p:cNvSpPr/>
          <p:nvPr/>
        </p:nvSpPr>
        <p:spPr>
          <a:xfrm>
            <a:off x="1038225" y="3688080"/>
            <a:ext cx="1219200" cy="419100"/>
          </a:xfrm>
          <a:prstGeom prst="roundRect">
            <a:avLst>
              <a:gd name="adj" fmla="val 10909"/>
            </a:avLst>
          </a:prstGeom>
          <a:solidFill>
            <a:srgbClr val="F0F1F2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42" name="R_input_1-label"/>
          <p:cNvSpPr/>
          <p:nvPr/>
        </p:nvSpPr>
        <p:spPr>
          <a:xfrm>
            <a:off x="1066800" y="3716655"/>
            <a:ext cx="1162050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tokens</a:t>
            </a:r>
            <a:endParaRPr lang="en-US" sz="950" dirty="0"/>
          </a:p>
        </p:txBody>
      </p:sp>
      <p:sp>
        <p:nvSpPr>
          <p:cNvPr id="43" name="input.2"/>
          <p:cNvSpPr/>
          <p:nvPr/>
        </p:nvSpPr>
        <p:spPr>
          <a:xfrm>
            <a:off x="1038225" y="4259580"/>
            <a:ext cx="1219200" cy="419100"/>
          </a:xfrm>
          <a:prstGeom prst="roundRect">
            <a:avLst>
              <a:gd name="adj" fmla="val 10909"/>
            </a:avLst>
          </a:prstGeom>
          <a:solidFill>
            <a:srgbClr val="F0F1F2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44" name="R_input_2-label"/>
          <p:cNvSpPr/>
          <p:nvPr/>
        </p:nvSpPr>
        <p:spPr>
          <a:xfrm>
            <a:off x="1066800" y="4288155"/>
            <a:ext cx="1162050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context keys</a:t>
            </a:r>
            <a:endParaRPr lang="en-US" sz="950" dirty="0"/>
          </a:p>
        </p:txBody>
      </p:sp>
      <p:sp>
        <p:nvSpPr>
          <p:cNvPr id="45" name="component.backbone"/>
          <p:cNvSpPr/>
          <p:nvPr/>
        </p:nvSpPr>
        <p:spPr>
          <a:xfrm>
            <a:off x="2409825" y="39262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AEBED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46" name="R_backbone-label"/>
          <p:cNvSpPr/>
          <p:nvPr/>
        </p:nvSpPr>
        <p:spPr>
          <a:xfrm>
            <a:off x="2438400" y="39547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encoder</a:t>
            </a:r>
            <a:endParaRPr lang="en-US" sz="950" dirty="0"/>
          </a:p>
        </p:txBody>
      </p:sp>
      <p:sp>
        <p:nvSpPr>
          <p:cNvPr id="47" name="component.index"/>
          <p:cNvSpPr/>
          <p:nvPr/>
        </p:nvSpPr>
        <p:spPr>
          <a:xfrm>
            <a:off x="3990975" y="39262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AEBED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48" name="R_index-label"/>
          <p:cNvSpPr/>
          <p:nvPr/>
        </p:nvSpPr>
        <p:spPr>
          <a:xfrm>
            <a:off x="4019550" y="39547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index</a:t>
            </a:r>
            <a:endParaRPr lang="en-US" sz="950" dirty="0"/>
          </a:p>
        </p:txBody>
      </p:sp>
      <p:sp>
        <p:nvSpPr>
          <p:cNvPr id="49" name="component.router"/>
          <p:cNvSpPr/>
          <p:nvPr/>
        </p:nvSpPr>
        <p:spPr>
          <a:xfrm>
            <a:off x="5572125" y="39262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0E9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0" name="R_router-label"/>
          <p:cNvSpPr/>
          <p:nvPr/>
        </p:nvSpPr>
        <p:spPr>
          <a:xfrm>
            <a:off x="5600700" y="39547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router</a:t>
            </a:r>
            <a:endParaRPr lang="en-US" sz="950" dirty="0"/>
          </a:p>
        </p:txBody>
      </p:sp>
      <p:sp>
        <p:nvSpPr>
          <p:cNvPr id="51" name="component.budget"/>
          <p:cNvSpPr/>
          <p:nvPr/>
        </p:nvSpPr>
        <p:spPr>
          <a:xfrm>
            <a:off x="7153275" y="39262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0E9FC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52" name="R_budget-label"/>
          <p:cNvSpPr/>
          <p:nvPr/>
        </p:nvSpPr>
        <p:spPr>
          <a:xfrm>
            <a:off x="7181850" y="39547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controller</a:t>
            </a:r>
            <a:endParaRPr lang="en-US" sz="950" dirty="0"/>
          </a:p>
        </p:txBody>
      </p:sp>
      <p:sp>
        <p:nvSpPr>
          <p:cNvPr id="53" name="component.decoder"/>
          <p:cNvSpPr/>
          <p:nvPr/>
        </p:nvSpPr>
        <p:spPr>
          <a:xfrm>
            <a:off x="8734425" y="3926205"/>
            <a:ext cx="1428750" cy="514350"/>
          </a:xfrm>
          <a:prstGeom prst="roundRect">
            <a:avLst>
              <a:gd name="adj" fmla="val 8889"/>
            </a:avLst>
          </a:prstGeom>
          <a:solidFill>
            <a:srgbClr val="EAEBED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54" name="R_decoder-label"/>
          <p:cNvSpPr/>
          <p:nvPr/>
        </p:nvSpPr>
        <p:spPr>
          <a:xfrm>
            <a:off x="8763000" y="395478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950" dirty="0"/>
          </a:p>
        </p:txBody>
      </p:sp>
      <p:sp>
        <p:nvSpPr>
          <p:cNvPr id="55" name="output.1"/>
          <p:cNvSpPr/>
          <p:nvPr/>
        </p:nvSpPr>
        <p:spPr>
          <a:xfrm>
            <a:off x="10315575" y="3973830"/>
            <a:ext cx="1219200" cy="419100"/>
          </a:xfrm>
          <a:prstGeom prst="roundRect">
            <a:avLst>
              <a:gd name="adj" fmla="val 10909"/>
            </a:avLst>
          </a:prstGeom>
          <a:solidFill>
            <a:srgbClr val="F0F1F2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56" name="R_output_1-label"/>
          <p:cNvSpPr/>
          <p:nvPr/>
        </p:nvSpPr>
        <p:spPr>
          <a:xfrm>
            <a:off x="10344150" y="4002405"/>
            <a:ext cx="1162050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tokens</a:t>
            </a:r>
            <a:endParaRPr lang="en-US" sz="950" dirty="0"/>
          </a:p>
        </p:txBody>
      </p:sp>
      <p:sp>
        <p:nvSpPr>
          <p:cNvPr id="57" name="annotation-L_ann_observation"/>
          <p:cNvSpPr/>
          <p:nvPr/>
        </p:nvSpPr>
        <p:spPr>
          <a:xfrm>
            <a:off x="2581275" y="872490"/>
            <a:ext cx="2667000" cy="281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For a given query, only a few context tokens carry most of the relevant signal.</a:t>
            </a:r>
            <a:endParaRPr lang="en-US" sz="800" dirty="0"/>
          </a:p>
        </p:txBody>
      </p:sp>
      <p:sp>
        <p:nvSpPr>
          <p:cNvPr id="58" name="annotation-R_ann_observation"/>
          <p:cNvSpPr/>
          <p:nvPr/>
        </p:nvSpPr>
        <p:spPr>
          <a:xfrm>
            <a:off x="4953000" y="3310890"/>
            <a:ext cx="2667000" cy="281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Query difficulty is predictable from the query embedding, so the budget can be learned.</a:t>
            </a:r>
            <a:endParaRPr lang="en-US" sz="800" dirty="0"/>
          </a:p>
        </p:txBody>
      </p:sp>
      <p:sp>
        <p:nvSpPr>
          <p:cNvPr id="59" name="legend-box"/>
          <p:cNvSpPr/>
          <p:nvPr/>
        </p:nvSpPr>
        <p:spPr>
          <a:xfrm>
            <a:off x="11163300" y="5295900"/>
            <a:ext cx="1162050" cy="552450"/>
          </a:xfrm>
          <a:prstGeom prst="rect">
            <a:avLst/>
          </a:prstGeom>
          <a:ln w="12700">
            <a:solidFill>
              <a:srgbClr val="D1D5DB"/>
            </a:solidFill>
            <a:prstDash val="dash"/>
          </a:ln>
        </p:spPr>
      </p:sp>
      <p:sp>
        <p:nvSpPr>
          <p:cNvPr id="60" name="legend-swatch-0"/>
          <p:cNvSpPr/>
          <p:nvPr/>
        </p:nvSpPr>
        <p:spPr>
          <a:xfrm>
            <a:off x="11239500" y="5343525"/>
            <a:ext cx="114300" cy="1143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1" name="legend-label-0"/>
          <p:cNvSpPr/>
          <p:nvPr/>
        </p:nvSpPr>
        <p:spPr>
          <a:xfrm>
            <a:off x="11410950" y="5305425"/>
            <a:ext cx="876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shared computation</a:t>
            </a:r>
            <a:endParaRPr lang="en-US" sz="800" dirty="0"/>
          </a:p>
        </p:txBody>
      </p:sp>
      <p:sp>
        <p:nvSpPr>
          <p:cNvPr id="62" name="legend-swatch-1"/>
          <p:cNvSpPr/>
          <p:nvPr/>
        </p:nvSpPr>
        <p:spPr>
          <a:xfrm>
            <a:off x="11239500" y="5495925"/>
            <a:ext cx="114300" cy="1143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3" name="legend-label-1"/>
          <p:cNvSpPr/>
          <p:nvPr/>
        </p:nvSpPr>
        <p:spPr>
          <a:xfrm>
            <a:off x="11410950" y="5457825"/>
            <a:ext cx="876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only in Static Top-K</a:t>
            </a:r>
            <a:endParaRPr lang="en-US" sz="800" dirty="0"/>
          </a:p>
        </p:txBody>
      </p:sp>
      <p:sp>
        <p:nvSpPr>
          <p:cNvPr id="64" name="legend-swatch-2"/>
          <p:cNvSpPr/>
          <p:nvPr/>
        </p:nvSpPr>
        <p:spPr>
          <a:xfrm>
            <a:off x="11239500" y="5648325"/>
            <a:ext cx="114300" cy="1143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5" name="legend-label-2"/>
          <p:cNvSpPr/>
          <p:nvPr/>
        </p:nvSpPr>
        <p:spPr>
          <a:xfrm>
            <a:off x="11410950" y="5610225"/>
            <a:ext cx="8763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only in BAR (ours)</a:t>
            </a:r>
            <a:endParaRPr lang="en-US" sz="800" dirty="0"/>
          </a:p>
        </p:txBody>
      </p:sp>
      <p:sp>
        <p:nvSpPr>
          <p:cNvPr id="66" name="figure-title"/>
          <p:cNvSpPr/>
          <p:nvPr/>
        </p:nvSpPr>
        <p:spPr>
          <a:xfrm>
            <a:off x="247650" y="247650"/>
            <a:ext cx="1207770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Top-K vs BAR (ours)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Top-K vs BAR (ours)</dc:title>
  <dc:subject>PptxGenJS Presentation</dc:subject>
  <dc:creator>weekly-research-slides</dc:creator>
  <cp:lastModifiedBy>weekly-research-slides</cp:lastModifiedBy>
  <cp:revision>1</cp:revision>
  <dcterms:created xsi:type="dcterms:W3CDTF">2026-09-19T18:58:34Z</dcterms:created>
  <dcterms:modified xsi:type="dcterms:W3CDTF">2026-09-19T18:58:34Z</dcterms:modified>
</cp:coreProperties>
</file>